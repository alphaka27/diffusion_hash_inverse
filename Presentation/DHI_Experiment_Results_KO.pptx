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57a60581cf49e2" /><Relationship Type="http://schemas.openxmlformats.org/officeDocument/2006/relationships/extended-properties" Target="/docProps/app.xml" Id="Rac49733f68624ff4" /><Relationship Type="http://schemas.openxmlformats.org/officeDocument/2006/relationships/officeDocument" Target="/ppt/presentation.xml" Id="Rb6a7c836465c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ae14eb34e4dd7"/>
  </p:sldMasterIdLst>
  <p:notesMasterIdLst>
    <p:notesMasterId xmlns:r="http://schemas.openxmlformats.org/officeDocument/2006/relationships" r:id="Rd1c827decca54a04"/>
  </p:notesMasterIdLst>
  <p:sldIdLst>
    <p:sldId xmlns:r="http://schemas.openxmlformats.org/officeDocument/2006/relationships" id="256" r:id="R98a27abe406d4f00"/>
    <p:sldId xmlns:r="http://schemas.openxmlformats.org/officeDocument/2006/relationships" id="257" r:id="R032937e2768a4108"/>
    <p:sldId xmlns:r="http://schemas.openxmlformats.org/officeDocument/2006/relationships" id="258" r:id="Rcfb5f6fc264a465a"/>
    <p:sldId xmlns:r="http://schemas.openxmlformats.org/officeDocument/2006/relationships" id="259" r:id="Rd7e42b4a2d784837"/>
    <p:sldId xmlns:r="http://schemas.openxmlformats.org/officeDocument/2006/relationships" id="260" r:id="Rb0f7f5fc6c8e4810"/>
    <p:sldId xmlns:r="http://schemas.openxmlformats.org/officeDocument/2006/relationships" id="261" r:id="R871114551bcc49f9"/>
    <p:sldId xmlns:r="http://schemas.openxmlformats.org/officeDocument/2006/relationships" id="262" r:id="R7f13d54029484128"/>
    <p:sldId xmlns:r="http://schemas.openxmlformats.org/officeDocument/2006/relationships" id="263" r:id="R18771659564749c2"/>
    <p:sldId xmlns:r="http://schemas.openxmlformats.org/officeDocument/2006/relationships" id="264" r:id="R53dec90f97c547e0"/>
    <p:sldId xmlns:r="http://schemas.openxmlformats.org/officeDocument/2006/relationships" id="265" r:id="R330291621cfe42cb"/>
    <p:sldId xmlns:r="http://schemas.openxmlformats.org/officeDocument/2006/relationships" id="266" r:id="Red6ad516f3454bd3"/>
    <p:sldId xmlns:r="http://schemas.openxmlformats.org/officeDocument/2006/relationships" id="267" r:id="R75b6597165d04253"/>
    <p:sldId xmlns:r="http://schemas.openxmlformats.org/officeDocument/2006/relationships" id="268" r:id="R4adb603f46b34fc6"/>
    <p:sldId xmlns:r="http://schemas.openxmlformats.org/officeDocument/2006/relationships" id="269" r:id="R2a5197d613ae4750"/>
    <p:sldId xmlns:r="http://schemas.openxmlformats.org/officeDocument/2006/relationships" id="270" r:id="R91b105c554564382"/>
    <p:sldId xmlns:r="http://schemas.openxmlformats.org/officeDocument/2006/relationships" id="271" r:id="R12b44b7b47664397"/>
    <p:sldId xmlns:r="http://schemas.openxmlformats.org/officeDocument/2006/relationships" id="272" r:id="R683a487a64154708"/>
    <p:sldId xmlns:r="http://schemas.openxmlformats.org/officeDocument/2006/relationships" id="273" r:id="Refdd92aa9410471e"/>
    <p:sldId xmlns:r="http://schemas.openxmlformats.org/officeDocument/2006/relationships" id="274" r:id="R921e6fcecc6a48ef"/>
    <p:sldId xmlns:r="http://schemas.openxmlformats.org/officeDocument/2006/relationships" id="275" r:id="R3537477c04714c84"/>
    <p:sldId xmlns:r="http://schemas.openxmlformats.org/officeDocument/2006/relationships" id="276" r:id="R4b42246d582e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e91a7b86a4cc5" /><Relationship Type="http://schemas.openxmlformats.org/officeDocument/2006/relationships/slideMaster" Target="/ppt/slideMasters/slideMaster1.xml" Id="R07dae14eb34e4dd7" /><Relationship Type="http://schemas.openxmlformats.org/officeDocument/2006/relationships/notesMaster" Target="/ppt/notesMasters/notesMaster1.xml" Id="Rd1c827decca54a04" /><Relationship Type="http://schemas.openxmlformats.org/officeDocument/2006/relationships/presProps" Target="/ppt/presProps.xml" Id="Rcb83ddf54ef24a25" /><Relationship Type="http://schemas.openxmlformats.org/officeDocument/2006/relationships/tableStyles" Target="/ppt/tableStyles.xml" Id="R7a5469a3336646ef" /><Relationship Type="http://schemas.openxmlformats.org/officeDocument/2006/relationships/slide" Target="/ppt/slides/slide1.xml" Id="R98a27abe406d4f00" /><Relationship Type="http://schemas.openxmlformats.org/officeDocument/2006/relationships/slide" Target="/ppt/slides/slide2.xml" Id="R032937e2768a4108" /><Relationship Type="http://schemas.openxmlformats.org/officeDocument/2006/relationships/slide" Target="/ppt/slides/slide3.xml" Id="Rcfb5f6fc264a465a" /><Relationship Type="http://schemas.openxmlformats.org/officeDocument/2006/relationships/slide" Target="/ppt/slides/slide4.xml" Id="Rd7e42b4a2d784837" /><Relationship Type="http://schemas.openxmlformats.org/officeDocument/2006/relationships/slide" Target="/ppt/slides/slide5.xml" Id="Rb0f7f5fc6c8e4810" /><Relationship Type="http://schemas.openxmlformats.org/officeDocument/2006/relationships/slide" Target="/ppt/slides/slide6.xml" Id="R871114551bcc49f9" /><Relationship Type="http://schemas.openxmlformats.org/officeDocument/2006/relationships/slide" Target="/ppt/slides/slide7.xml" Id="R7f13d54029484128" /><Relationship Type="http://schemas.openxmlformats.org/officeDocument/2006/relationships/slide" Target="/ppt/slides/slide8.xml" Id="R18771659564749c2" /><Relationship Type="http://schemas.openxmlformats.org/officeDocument/2006/relationships/slide" Target="/ppt/slides/slide9.xml" Id="R53dec90f97c547e0" /><Relationship Type="http://schemas.openxmlformats.org/officeDocument/2006/relationships/slide" Target="/ppt/slides/slide10.xml" Id="R330291621cfe42cb" /><Relationship Type="http://schemas.openxmlformats.org/officeDocument/2006/relationships/slide" Target="/ppt/slides/slide11.xml" Id="Red6ad516f3454bd3" /><Relationship Type="http://schemas.openxmlformats.org/officeDocument/2006/relationships/slide" Target="/ppt/slides/slide12.xml" Id="R75b6597165d04253" /><Relationship Type="http://schemas.openxmlformats.org/officeDocument/2006/relationships/slide" Target="/ppt/slides/slide13.xml" Id="R4adb603f46b34fc6" /><Relationship Type="http://schemas.openxmlformats.org/officeDocument/2006/relationships/slide" Target="/ppt/slides/slide14.xml" Id="R2a5197d613ae4750" /><Relationship Type="http://schemas.openxmlformats.org/officeDocument/2006/relationships/slide" Target="/ppt/slides/slide15.xml" Id="R91b105c554564382" /><Relationship Type="http://schemas.openxmlformats.org/officeDocument/2006/relationships/slide" Target="/ppt/slides/slide16.xml" Id="R12b44b7b47664397" /><Relationship Type="http://schemas.openxmlformats.org/officeDocument/2006/relationships/slide" Target="/ppt/slides/slide17.xml" Id="R683a487a64154708" /><Relationship Type="http://schemas.openxmlformats.org/officeDocument/2006/relationships/slide" Target="/ppt/slides/slide18.xml" Id="Refdd92aa9410471e" /><Relationship Type="http://schemas.openxmlformats.org/officeDocument/2006/relationships/slide" Target="/ppt/slides/slide19.xml" Id="R921e6fcecc6a48ef" /><Relationship Type="http://schemas.openxmlformats.org/officeDocument/2006/relationships/slide" Target="/ppt/slides/slide20.xml" Id="R3537477c04714c84" /><Relationship Type="http://schemas.openxmlformats.org/officeDocument/2006/relationships/slide" Target="/ppt/slides/slide21.xml" Id="R4b42246d582e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c8d7971fad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lang="ko-KR" altLang="en-US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af99a1b93d4748" /><Relationship Type="http://schemas.openxmlformats.org/officeDocument/2006/relationships/notesMaster" Target="/ppt/notesMasters/notesMaster1.xml" Id="R8a7b4b65fd524b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bc0aec9a445eb" /><Relationship Type="http://schemas.openxmlformats.org/officeDocument/2006/relationships/notesMaster" Target="/ppt/notesMasters/notesMaster1.xml" Id="R64b31fb89a0344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f42a18f15a438b" /><Relationship Type="http://schemas.openxmlformats.org/officeDocument/2006/relationships/notesMaster" Target="/ppt/notesMasters/notesMaster1.xml" Id="Red967192646948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5a90a9225e460c" /><Relationship Type="http://schemas.openxmlformats.org/officeDocument/2006/relationships/notesMaster" Target="/ppt/notesMasters/notesMaster1.xml" Id="Recf788cacc20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36784a050d424e" /><Relationship Type="http://schemas.openxmlformats.org/officeDocument/2006/relationships/notesMaster" Target="/ppt/notesMasters/notesMaster1.xml" Id="R536ea75891b8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a836e35a64e69" /><Relationship Type="http://schemas.openxmlformats.org/officeDocument/2006/relationships/notesMaster" Target="/ppt/notesMasters/notesMaster1.xml" Id="R83662e5852034e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0c65301f5e43d3" /><Relationship Type="http://schemas.openxmlformats.org/officeDocument/2006/relationships/notesMaster" Target="/ppt/notesMasters/notesMaster1.xml" Id="Rd1e0bfb7506240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d96fe5bf574710" /><Relationship Type="http://schemas.openxmlformats.org/officeDocument/2006/relationships/notesMaster" Target="/ppt/notesMasters/notesMaster1.xml" Id="Ref84ef38963746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ad803968cb4ee0" /><Relationship Type="http://schemas.openxmlformats.org/officeDocument/2006/relationships/notesMaster" Target="/ppt/notesMasters/notesMaster1.xml" Id="Rfb9c60510d5845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778e8f1a7b4551" /><Relationship Type="http://schemas.openxmlformats.org/officeDocument/2006/relationships/notesMaster" Target="/ppt/notesMasters/notesMaster1.xml" Id="Rfff0fe3ae24d4d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dc058438a149eb" /><Relationship Type="http://schemas.openxmlformats.org/officeDocument/2006/relationships/notesMaster" Target="/ppt/notesMasters/notesMaster1.xml" Id="R4b591844b4e94d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0d08a89b8c4687" /><Relationship Type="http://schemas.openxmlformats.org/officeDocument/2006/relationships/notesMaster" Target="/ppt/notesMasters/notesMaster1.xml" Id="Rd2e416d26edc43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4c605036244007" /><Relationship Type="http://schemas.openxmlformats.org/officeDocument/2006/relationships/notesMaster" Target="/ppt/notesMasters/notesMaster1.xml" Id="Rdc5ff0d495a448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401489803d4db4" /><Relationship Type="http://schemas.openxmlformats.org/officeDocument/2006/relationships/notesMaster" Target="/ppt/notesMasters/notesMaster1.xml" Id="R1804d1bea87348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63beef56814610" /><Relationship Type="http://schemas.openxmlformats.org/officeDocument/2006/relationships/notesMaster" Target="/ppt/notesMasters/notesMaster1.xml" Id="R2dfa72684e074e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ec9544c6e449d4" /><Relationship Type="http://schemas.openxmlformats.org/officeDocument/2006/relationships/notesMaster" Target="/ppt/notesMasters/notesMaster1.xml" Id="R990322489b3749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13fdc7947d4241" /><Relationship Type="http://schemas.openxmlformats.org/officeDocument/2006/relationships/notesMaster" Target="/ppt/notesMasters/notesMaster1.xml" Id="Rfb87111d36b446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89a4d70a1c4713" /><Relationship Type="http://schemas.openxmlformats.org/officeDocument/2006/relationships/notesMaster" Target="/ppt/notesMasters/notesMaster1.xml" Id="R389a49f7d49a42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29bc1d684e47ab" /><Relationship Type="http://schemas.openxmlformats.org/officeDocument/2006/relationships/notesMaster" Target="/ppt/notesMasters/notesMaster1.xml" Id="R9da826f54fb947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1444f7bcd84097" /><Relationship Type="http://schemas.openxmlformats.org/officeDocument/2006/relationships/notesMaster" Target="/ppt/notesMasters/notesMaster1.xml" Id="R060faec37aa346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7ddf7c96f94065" /><Relationship Type="http://schemas.openxmlformats.org/officeDocument/2006/relationships/notesMaster" Target="/ppt/notesMasters/notesMaster1.xml" Id="R85d099f4ad37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완료된 실행의 등록 설정과 실측 결과를 정리한다. 실험 결과는 decision.json, 학습 및 생성 설정은 protocol.frozen.json을 기준으로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정규 MD5는 r=64이다. 128-bit digest의 W3 12 bits가 target과 일치하는 임의 입력을 찾는다. 원래 target을 만들었던 입력의 복원을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P는 ASCII 33~126, R은 byte 0~255. 두 source 모두 길이 4~31 균등, 주어진 길이에서 각 byte는 iid uniform이다. W3=(big-endian digest &gt;&gt; 52)&amp;0xFFF. 목표값 단위로 split하므로 train과 test는 서로 다른 해시값을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P=Printable, R=Random Bytes, G=Gaussian. BGV는 바이트 비트를 4×4 블록으로 표현한 2×32×128 이미지, CGGE는 8×8 glyph를 배열한 2×32×64 이미지다. Token은 최대 32개 위치를 사용한다. 표의 파라미터 수는 학습되는 가중치와 편향의 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실험은 5 pipelines × Main/Shuffled × seeds 0,1,2=30 runs. 각 run은 40,000 updates×batch256=10,240,000 새 쌍 추출. 동일 source의 같은 seed는 메시지 stream을 공유한다. Main/Shuffled는 메시지·초기 가중치·corruption 난수를 공유한다. 최종 checkpoint만 평가한다. Adam beta=(0.9,0.999), epsilon=1e-8, bias correction true, weight decay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G3-U는 width32 U-Net, x0 prediction, length CE + 활성 payload pixel 균일 MSE를 쓴다. T=1000, linear beta=0.0001~0.02. lr은 첫1000 updates 선형 warmup 후0.001 고정, gradient norm clip1.0. 선택된 DDIM25는 세 Gaussian 모두 동일하며 eta0이다. NFE26은 길이 결정1회+denoiser25회이다. x0는 [-1,1]로 clip한다. 25/50/100 중 synthetic 개발 조건과 중복 기준을 통과하는 최소 step을 선택했다.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D1-S embedding16, hidden128. P vocabulary97=94+PAD/EOS/MASK, R vocabulary259=256+PAD/EOS/MASK. Sampling payload logits는 허용 source 상태로 제한한다. t uniform(0,1) masking 학습. 길이 CE + masked payload CE. 32intervals, NFE33, temperature1, remask 없음. lr0.001 고정, warmup0, gradient clip없음. P-DISC generation batch2048, R-DISC256.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실험은 Main과 Random, Main과 Shuffled를 비교한다. Shuffled는 각 batch 안에서 조건을 순열로 재배정한다. MC는 동일한 Main 모델에 다른 목표 조건을 넣는 대조로 양성 대조와 규모 탐침에서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Success@100은 후보100개 내 하나 이상의 hit. invalid와 duplicate도 기회 소비. 30 checkpoint 봉인 후 test1024 목표값에서 iid 복원추출한 최대24576 trial 목록을 공유한다. trial별 3seed 차이를 평균하여 paired 통계를 계산한다. alpha.05, 5pipelines×2controls×2sides, looks alpha shares .1/.4/.5. z3.4808,3.0902,3.0233. 양성 판정을 먼저 확인한 뒤 bounded rejection 규칙을 적용한다.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시간은 원장에 기록된 단계별 청구시간의 합계이며 wall-clock 기간과 구분한다. Stage R은 양성인 경우만 수행한다. status TERMINAL, pending[], failures[]. Stage C budget_stop=false.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조건은 P 대문자hex prefix3, R nibble byte prefix3. 각 seed별 정상/반전 512개 조건에서 valid이면서 요청조건 일치인 joint가 모두512. CLP4096쌍 z&gt;3.26도 통과했다. 이는 학습 가능한 조건을 사용한다는 증거이며 정규MD5 성공을 보장하지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pipeline, seed별16384trials. 표시값은 3seed 성공률 평균이다. seed를 서로 독립인 target 표본으로 합산하지 않는다. 이론값1-(1-2^-12)^100=2.412%는 iid uniform hash 가정의 참고값이다. 검정은 실측 Random/Shuffled와 paired 비교한다. 정확한 값:</a:t>
            </a:r>
          </a:p>
          <a:p xmlns:a="http://schemas.openxmlformats.org/drawingml/2006/main">
            <a:r>
              <a:t>P-G-BGV: Main 2.309%, Random 2.494%, Shuffled 2.401%</a:t>
            </a:r>
          </a:p>
          <a:p xmlns:a="http://schemas.openxmlformats.org/drawingml/2006/main">
            <a:r>
              <a:t>P-G-CGGE: Main 2.490%, Random 2.494%, Shuffled 2.431%</a:t>
            </a:r>
          </a:p>
          <a:p xmlns:a="http://schemas.openxmlformats.org/drawingml/2006/main">
            <a:r>
              <a:t>P-DISC: Main 2.551%, Random 2.494%, Shuffled 2.482%</a:t>
            </a:r>
          </a:p>
          <a:p xmlns:a="http://schemas.openxmlformats.org/drawingml/2006/main">
            <a:r>
              <a:t>R-G-BGV: Main 2.407%, Random 2.445%, Shuffled 2.427%</a:t>
            </a:r>
          </a:p>
          <a:p xmlns:a="http://schemas.openxmlformats.org/drawingml/2006/main">
            <a:r>
              <a:t>R-DISC: Main 2.411%, Random 2.445%, Shuffled 2.411%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아래는 2차 분석의 Bonferroni 동시구간으로 z3.090232306. 일반적인 개별95%구간과 다르다. 모든 구간은0을 포함하고 상한은delta .005미만. 효과 정확히0을 증명하는 결과는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첫look: P-G-BGV,R-DISC bounded rejection. 다른3개 미결. 공동 중단이므로 첫look에서 분류된 파이프라인도 두번째block 참여. 두번째look 모두 REJECTED_BOUNDED. trials16384, budget_stopfalse.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r4 W1, trials4096, seed0, K100. Main-Random 및 Main-MC의 one-sided lower&gt;0. CLP INFO4도 모두pass. source 분포가 다르므로 source간 성능차이를 모델의 순수능력 차이로 일반화하지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CLP는 올바른 입력조건 대응과 교환한 대응의 모델점수 차이를 검정한다. Monte Carlo draws8. r4 pairs16384, MD5-64 pairs65536/seed 3seed합산. z&gt;2.878 신호기준. 생성 성공률의 주 판정을 변경하지 않는 보조 지표다. 대비 6쌍×2controls 총12건: 동등성범위±.5%p 내8건, 미결4건, 차이검출0건.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rho=CPU단일core prior sampling+hashlib 처리량1436163/s를 A-prof-1 burst 모델생성 처리량으로 나눈 값. 손익분기 후보당 확률=rho*2^-12. 표는 학습비를 제외한 비교. 모든C3가SUPPORTED아니므로 C4는NO_ADVANTAGE. 특정 구현과 측정장치의 결과이며 모든 하드웨어에 대한 정리는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보조 실험 D1-T-L, Printable, W3 r64. 8layers dim256 heads8 FFN1024 parameters6415308, mainD1S508668의12.61배. batch256 updates160000, lr.00075,warmup1000,clip1.0,seed0. CLP65536pairs criterionz&gt;3.2905267. 생성4096trials K100 기술통계. main결론을 바꾸지 않는 1회 탐침.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최종상태 TERMINAL, 종합판정 FINAL_REJECTED. 모든5개 REJECTED_BOUNDED. 적격성PASS, 양성대조GEN4/INFO4통과, C4 NO_ADVANTAGE. 결론은 등록된 실험범위에 한정한다.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추론은 봉인된 test pool, checkpoint, seeds에 조건부이다. 전체MD5역상, 다른q, 다른모델 및 더많은학습, SHA256과 보안붕괴에 대해 결론내리지않는다. 모든pipeline동등성도 미결4건 때문에 단정불가. W4재현은 양성파이프라인없어미실행.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프로토콜 원문: /Users/choisoonwook/Experiments_local/DHI_AI_gen/examples/v6-protocol.json</a:t>
            </a:r>
          </a:p>
          <a:p xmlns:a="http://schemas.openxmlformats.org/drawingml/2006/main">
            <a:r>
              <a:t>연구계획: /Users/choisoonwook/Experiments_local/DHI_AI_gen/RESEARCH_PLAN_V6.md</a:t>
            </a:r>
          </a:p>
          <a:p xmlns:a="http://schemas.openxmlformats.org/drawingml/2006/main">
            <a:r>
              <a:t>/Users/choisoonwook/Experiments_local/DHI_AI_gen/local_experiment_archive/runs/v6-study-r2/protocol.frozen.json</a:t>
            </a:r>
          </a:p>
          <a:p xmlns:a="http://schemas.openxmlformats.org/drawingml/2006/main">
            <a:r>
              <a:t>/Users/choisoonwook/Experiments_local/DHI_AI_gen/local_experiment_archive/runs/v6-study-r2/decision.json</a:t>
            </a:r>
          </a:p>
          <a:p xmlns:a="http://schemas.openxmlformats.org/drawingml/2006/main">
            <a:r>
              <a:t>/Users/choisoonwook/Experiments_local/DHI_AI_gen/local_experiment_archive/runs/v6-study-r2/A.json</a:t>
            </a:r>
          </a:p>
          <a:p xmlns:a="http://schemas.openxmlformats.org/drawingml/2006/main">
            <a:r>
              <a:t>/Users/choisoonwook/Experiments_local/DHI_AI_gen/local_experiment_archive/runs/v6-study-r2/C.json</a:t>
            </a:r>
          </a:p>
          <a:p xmlns:a="http://schemas.openxmlformats.org/drawingml/2006/main">
            <a:r>
              <a:t>/Users/choisoonwook/Experiments_local/DHI_AI_gen/local_experiment_archive/runs/v6-study-r2/P.json</a:t>
            </a:r>
          </a:p>
          <a:p xmlns:a="http://schemas.openxmlformats.org/drawingml/2006/main">
            <a:r>
              <a:t>/Users/choisoonwook/Experiments_local/DHI_AI_gen/local_experiment_archive/runs/v6-study-r2/S.json</a:t>
            </a:r>
          </a:p>
          <a:p xmlns:a="http://schemas.openxmlformats.org/drawingml/2006/main">
            <a:r>
              <a:t>/Users/choisoonwook/Experiments_local/DHI_AI_gen/local_experiment_archive/runs/v6-study-r2/budget.json</a:t>
            </a:r>
          </a:p>
          <a:p xmlns:a="http://schemas.openxmlformats.org/drawingml/2006/main">
            <a:r>
              <a:t>/Users/choisoonwook/Experiments_local/DHI_AI_gen/local_experiment_archive/runs/v6-study-r2/FINAL_REPORT_KO.md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자료 위치: /Users/choisoonwook/Experiments_local/DHI_AI_gen/local_experiment_archive/runs/v6-study-r2</a:t>
            </a:r>
          </a:p>
          <a:p xmlns:a="http://schemas.openxmlformats.org/drawingml/2006/main">
            <a:r>
              <a:t>기준 문서: /Users/choisoonwook/Experiments_local/DHI_AI_gen/RESEARCH_PLAN_V6.md</a:t>
            </a:r>
          </a:p>
          <a:p xmlns:a="http://schemas.openxmlformats.org/drawingml/2006/main">
            <a:r>
              <a:t>등록값: /Users/choisoonwook/Experiments_local/DHI_AI_gen/examples/v6-protocol.json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c8a828cbe43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f8a7a4b1b2488c" /><Relationship Type="http://schemas.openxmlformats.org/officeDocument/2006/relationships/slideLayout" Target="/ppt/slideLayouts/slideLayout1.xml" Id="R07eb4ace62d44b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b4ace62d44b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lang="ko-KR" altLang="en-US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lang="ko-KR" altLang="en-US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lang="ko-KR" altLang="en-US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lang="ko-KR" altLang="en-US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 lang="ko-KR" altLang="en-US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4506da8d94cf7" /><Relationship Type="http://schemas.openxmlformats.org/officeDocument/2006/relationships/notesSlide" Target="/ppt/notesSlides/notesSlide1.xml" Id="Rea5aae6bbcbd4c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682d80d954080" /><Relationship Type="http://schemas.openxmlformats.org/officeDocument/2006/relationships/notesSlide" Target="/ppt/notesSlides/notesSlide2.xml" Id="Rb8c6c1f88f914c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6efe22b50464c" /><Relationship Type="http://schemas.openxmlformats.org/officeDocument/2006/relationships/notesSlide" Target="/ppt/notesSlides/notesSlide3.xml" Id="Rb56c62f01cc6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fc96e2538476c" /><Relationship Type="http://schemas.openxmlformats.org/officeDocument/2006/relationships/notesSlide" Target="/ppt/notesSlides/notesSlide4.xml" Id="R803ff45b2f3844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d0df4d7e247f9" /><Relationship Type="http://schemas.openxmlformats.org/officeDocument/2006/relationships/notesSlide" Target="/ppt/notesSlides/notesSlide5.xml" Id="R785972c079e848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3779ea1604899" /><Relationship Type="http://schemas.openxmlformats.org/officeDocument/2006/relationships/notesSlide" Target="/ppt/notesSlides/notesSlide6.xml" Id="R40ed3fe8f0ea4d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c75507f124484" /><Relationship Type="http://schemas.openxmlformats.org/officeDocument/2006/relationships/notesSlide" Target="/ppt/notesSlides/notesSlide7.xml" Id="R172e7cb00e04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342229af34744" /><Relationship Type="http://schemas.openxmlformats.org/officeDocument/2006/relationships/notesSlide" Target="/ppt/notesSlides/notesSlide8.xml" Id="R14abbf7b25d244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de549339c4be9" /><Relationship Type="http://schemas.openxmlformats.org/officeDocument/2006/relationships/notesSlide" Target="/ppt/notesSlides/notesSlide9.xml" Id="R742879790b52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76e5186c44752" /><Relationship Type="http://schemas.openxmlformats.org/officeDocument/2006/relationships/notesSlide" Target="/ppt/notesSlides/notesSlide10.xml" Id="R4fd9e563af6d47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81942ec0a43e9" /><Relationship Type="http://schemas.openxmlformats.org/officeDocument/2006/relationships/notesSlide" Target="/ppt/notesSlides/notesSlide11.xml" Id="R9bf8ff6b2ced4b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1ad15951b428c" /><Relationship Type="http://schemas.openxmlformats.org/officeDocument/2006/relationships/chart" Target="/ppt/slides/charts/chart1.xml" Id="R097d79fdcfeb4db5" /><Relationship Type="http://schemas.openxmlformats.org/officeDocument/2006/relationships/notesSlide" Target="/ppt/notesSlides/notesSlide12.xml" Id="R04c1e789b10343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b0abb50c477a" /><Relationship Type="http://schemas.openxmlformats.org/officeDocument/2006/relationships/notesSlide" Target="/ppt/notesSlides/notesSlide13.xml" Id="R8c3003dde01440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824aebc284bb4" /><Relationship Type="http://schemas.openxmlformats.org/officeDocument/2006/relationships/notesSlide" Target="/ppt/notesSlides/notesSlide14.xml" Id="Re96b8251f15948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26c6687004fdd" /><Relationship Type="http://schemas.openxmlformats.org/officeDocument/2006/relationships/notesSlide" Target="/ppt/notesSlides/notesSlide15.xml" Id="R37ebe172aab94e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0de04cf5a4c7d" /><Relationship Type="http://schemas.openxmlformats.org/officeDocument/2006/relationships/notesSlide" Target="/ppt/notesSlides/notesSlide16.xml" Id="Re3424483823741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a1dd1970b4241" /><Relationship Type="http://schemas.openxmlformats.org/officeDocument/2006/relationships/notesSlide" Target="/ppt/notesSlides/notesSlide17.xml" Id="R67746116443348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a48afbab1473a" /><Relationship Type="http://schemas.openxmlformats.org/officeDocument/2006/relationships/notesSlide" Target="/ppt/notesSlides/notesSlide18.xml" Id="R450ded36c19744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8cb7802fa4c03" /><Relationship Type="http://schemas.openxmlformats.org/officeDocument/2006/relationships/notesSlide" Target="/ppt/notesSlides/notesSlide19.xml" Id="R0de421d2456b4b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3b7f11afb4b63" /><Relationship Type="http://schemas.openxmlformats.org/officeDocument/2006/relationships/notesSlide" Target="/ppt/notesSlides/notesSlide20.xml" Id="R2353518e912f4a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91e4311f3446e" /><Relationship Type="http://schemas.openxmlformats.org/officeDocument/2006/relationships/notesSlide" Target="/ppt/notesSlides/notesSlide21.xml" Id="Rdf955d73fb6549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Main</c:v>
          </c:tx>
          <c:spPr>
            <a:solidFill xmlns:a="http://schemas.openxmlformats.org/drawingml/2006/main">
              <a:srgbClr val="142C43"/>
            </a:solidFill>
          </c:spPr>
          <c:cat>
            <c:strRef>
              <c:f>'Chart Data'!$A$2:$A$6</c:f>
              <c:strCache>
                <c:ptCount val="5"/>
                <c:pt idx="0">
                  <c:v>P-G-BGV</c:v>
                </c:pt>
                <c:pt idx="1">
                  <c:v>P-G-CGGE</c:v>
                </c:pt>
                <c:pt idx="2">
                  <c:v>P-DISC</c:v>
                </c:pt>
                <c:pt idx="3">
                  <c:v>R-G-BGV</c:v>
                </c:pt>
                <c:pt idx="4">
                  <c:v>R-DISC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0.0230916341146</c:v>
                </c:pt>
                <c:pt idx="1">
                  <c:v>0.02490234375</c:v>
                </c:pt>
                <c:pt idx="2">
                  <c:v>0.0255126953125</c:v>
                </c:pt>
                <c:pt idx="3">
                  <c:v>0.0240681966146</c:v>
                </c:pt>
                <c:pt idx="4">
                  <c:v>0.0241088867188</c:v>
                </c:pt>
              </c:numCache>
            </c:numRef>
          </c:val>
        </c:ser>
        <c:ser>
          <c:idx val="1"/>
          <c:order val="1"/>
          <c:tx>
            <c:v>Random</c:v>
          </c:tx>
          <c:spPr>
            <a:solidFill xmlns:a="http://schemas.openxmlformats.org/drawingml/2006/main">
              <a:srgbClr val="087F82"/>
            </a:solidFill>
          </c:spPr>
          <c:cat>
            <c:strRef>
              <c:f>'Chart Data'!$C$2:$C$6</c:f>
              <c:strCache>
                <c:ptCount val="5"/>
                <c:pt idx="0">
                  <c:v>P-G-BGV</c:v>
                </c:pt>
                <c:pt idx="1">
                  <c:v>P-G-CGGE</c:v>
                </c:pt>
                <c:pt idx="2">
                  <c:v>P-DISC</c:v>
                </c:pt>
                <c:pt idx="3">
                  <c:v>R-G-BGV</c:v>
                </c:pt>
                <c:pt idx="4">
                  <c:v>R-DISC</c:v>
                </c:pt>
              </c:strCache>
            </c:str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0.0249430338542</c:v>
                </c:pt>
                <c:pt idx="1">
                  <c:v>0.0249430338542</c:v>
                </c:pt>
                <c:pt idx="2">
                  <c:v>0.0249430338542</c:v>
                </c:pt>
                <c:pt idx="3">
                  <c:v>0.0244547526042</c:v>
                </c:pt>
                <c:pt idx="4">
                  <c:v>0.0244547526042</c:v>
                </c:pt>
              </c:numCache>
            </c:numRef>
          </c:val>
        </c:ser>
        <c:ser>
          <c:idx val="2"/>
          <c:order val="2"/>
          <c:tx>
            <c:v>Shuffled</c:v>
          </c:tx>
          <c:spPr>
            <a:solidFill xmlns:a="http://schemas.openxmlformats.org/drawingml/2006/main">
              <a:srgbClr val="A6B3BC"/>
            </a:solidFill>
          </c:spPr>
          <c:cat>
            <c:strRef>
              <c:f>'Chart Data'!$E$2:$E$6</c:f>
              <c:strCache>
                <c:ptCount val="5"/>
                <c:pt idx="0">
                  <c:v>P-G-BGV</c:v>
                </c:pt>
                <c:pt idx="1">
                  <c:v>P-G-CGGE</c:v>
                </c:pt>
                <c:pt idx="2">
                  <c:v>P-DISC</c:v>
                </c:pt>
                <c:pt idx="3">
                  <c:v>R-G-BGV</c:v>
                </c:pt>
                <c:pt idx="4">
                  <c:v>R-DISC</c:v>
                </c:pt>
              </c:strCache>
            </c:strRef>
          </c:cat>
          <c:val>
            <c:numRef>
              <c:f>'Chart Data'!$F$2:$F$6</c:f>
              <c:numCache>
                <c:formatCode>0.0%</c:formatCode>
                <c:ptCount val="5"/>
                <c:pt idx="0">
                  <c:v>0.0240071614583</c:v>
                </c:pt>
                <c:pt idx="1">
                  <c:v>0.0243123372396</c:v>
                </c:pt>
                <c:pt idx="2">
                  <c:v>0.0248209635417</c:v>
                </c:pt>
                <c:pt idx="3">
                  <c:v>0.0242716471354</c:v>
                </c:pt>
                <c:pt idx="4">
                  <c:v>0.0241088867188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lang="ko-KR" altLang="en-US">
                  <a:solidFill>
                    <a:srgbClr val="20364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0.0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7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0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lang="ko-KR" altLang="en-US">
              <a:solidFill>
                <a:srgbClr val="203648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4EDC2-7C36-4D8A-88ED-6C7D9D2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B9CAD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B9CAD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79A89-CA90-4B8B-B67F-B3A3165E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84CFC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84CFCA"/>
                </a:solidFill>
                <a:latin typeface="Malgun Gothic"/>
                <a:ea typeface="Malgun Gothic"/>
                <a:cs typeface="Malgun Gothic"/>
              </a:rPr>
              <a:t>실험 결과 보고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01EEE-4F3B-4947-B545-BAD78E13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lang="ko-KR" altLang="en-US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 lang="ko-KR" altLang="en-US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Diffusion 기반</a:t>
            </a:r>
          </a:p>
          <a:p xmlns:a="http://schemas.openxmlformats.org/drawingml/2006/main">
            <a:pPr algn="l">
              <a:defRPr sz="5100" b="1" lang="ko-KR" altLang="en-US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 lang="ko-KR" altLang="en-US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MD5-12 역상 탐색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E56D4-4C9F-458F-807E-40EA54BA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lang="ko-KR" altLang="en-US">
                <a:solidFill>
                  <a:srgbClr val="D5E1E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lang="ko-KR" altLang="en-US">
                <a:solidFill>
                  <a:srgbClr val="D5E1E7"/>
                </a:solidFill>
                <a:latin typeface="Malgun Gothic"/>
                <a:ea typeface="Malgun Gothic"/>
                <a:cs typeface="Malgun Gothic"/>
              </a:rPr>
              <a:t>실험 설정과 파라미터, 결과 및 결론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5DAFE-C235-4C0B-953D-ADDCC3C1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lang="ko-KR" altLang="en-US">
                <a:solidFill>
                  <a:srgbClr val="B9CAD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lang="ko-KR" altLang="en-US">
                <a:solidFill>
                  <a:srgbClr val="B9CAD4"/>
                </a:solidFill>
                <a:latin typeface="Malgun Gothic"/>
                <a:ea typeface="Malgun Gothic"/>
                <a:cs typeface="Malgun Gothic"/>
              </a:rPr>
              <a:t>실험 완료 2026.10.03</a:t>
            </a:r>
          </a:p>
        </p:txBody>
      </p:sp>
    </p:spTree>
    <p:extLst>
      <p:ext uri="{BB962C8B-B14F-4D97-AF65-F5344CB8AC3E}">
        <p14:creationId xmlns:p14="http://schemas.microsoft.com/office/powerpoint/2010/main" val="668632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85F24-7ACD-46F4-BA20-74D9480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실험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77B4B-F540-4746-A41B-893BDA6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A94DF-A1EF-407C-9D9C-BCA33DAA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연구 계획 §4, §6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8F0B1-7990-4490-B7C2-1A0B6B38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미학습 해시값을 조건으로 주면</a:t>
            </a:r>
          </a:p>
          <a:p xmlns:a="http://schemas.openxmlformats.org/drawingml/2006/main">
            <a:pPr algn="l">
              <a:defRPr sz="300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일치하는 입력을 더 잘 생성할 수 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6EC60-B6A4-4BE6-8A8D-3F71BE6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탐색 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4DDB0-4CE6-4F12-8817-DE4E240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정규 MD5 출력 중 지정한 12 bits가</a:t>
            </a:r>
          </a:p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목표값과 일치하는 입력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D6EF1-CEE7-4581-AB5F-4E4CBB3E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비교 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F733E-6AA0-4991-BF79-F103EBEE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434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이미지 기반 Gaussian diffusion과</a:t>
            </a:r>
          </a:p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토큰 기반 Discrete diffusion의 5개 파이프라인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E6829-AFD1-4343-B1B9-258B471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생성 성공률과 계산 비용을 함께 평가</a:t>
            </a:r>
          </a:p>
        </p:txBody>
      </p:sp>
    </p:spTree>
    <p:extLst>
      <p:ext uri="{BB962C8B-B14F-4D97-AF65-F5344CB8AC3E}">
        <p14:creationId xmlns:p14="http://schemas.microsoft.com/office/powerpoint/2010/main" val="326045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A7AA7-C2E6-432C-8377-59BB139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입력과 해시 파라미터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EA185-D4BB-437B-B8E7-33457FC8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8DD51-EC3B-4859-81F6-91EABA49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등록 설정, 연구 계획 §4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200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28800"/>
                <a:gridCol w="4667250"/>
                <a:gridCol w="4476750"/>
              </a:tblGrid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사용값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분포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Printable 94종 / Random Bytes 256종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허용하는 문자·바이트의 범위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 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4–31 bytes, 균등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모델이 생성하는 입력의 길이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해시 step r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실험 64 / 양성 대조 4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MD5 내부 계산을 수행하는 횟수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크기 q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 bits, 가능한 값 4,096개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후보와 일치시킬 해시 정보량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평가 위치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W3: (digest &gt;&gt; 52) &amp; 0xFFF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128-bit 출력에서 선택한 12 bits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000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목표값 분할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2,816 / 검증 256 / 시험 1,024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학습에 쓰지 않은 해시값으로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13BE8-C790-4B6A-A35B-CC791BD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시험 목표값과 학습 목표값을 분리해 미학습 조건의 생성 능력을 평가</a:t>
            </a:r>
          </a:p>
        </p:txBody>
      </p:sp>
    </p:spTree>
    <p:extLst>
      <p:ext uri="{BB962C8B-B14F-4D97-AF65-F5344CB8AC3E}">
        <p14:creationId xmlns:p14="http://schemas.microsoft.com/office/powerpoint/2010/main" val="757803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D8A4D-DCC0-41B0-A7EA-676673F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비교한 모델과 학습 파라미터 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82085-1D6C-4470-99DD-143B05B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13F0D-885C-4EF5-B847-CB0EB69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등록 설정 models, pipelines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76450"/>
                <a:gridCol w="2286000"/>
                <a:gridCol w="4019550"/>
                <a:gridCol w="2590800"/>
              </a:tblGrid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파이프라인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분포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표현 / 모델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파라미터 수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P-G-BGV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Printable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BGV / G3-U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910,638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P-G-CGGE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CGGE / G3-U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513,326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Printable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Token / D1-S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508,668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R-G-BGV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 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BGV / G3-U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910,638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 Bytes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Token / D1-S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1,252,572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5B3B-CF2B-45C8-9313-3D074891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BGV: 비트 패턴 이미지    CGGE: 문자 모양 이미지    Token: 이산 기호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AE506-1EC2-4F1D-BDFC-2A122AAE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학습 파라미터 수는 모델 규모이며, 학습률·배치 크기 등의 설정과 구분된다</a:t>
            </a:r>
          </a:p>
        </p:txBody>
      </p:sp>
    </p:spTree>
    <p:extLst>
      <p:ext uri="{BB962C8B-B14F-4D97-AF65-F5344CB8AC3E}">
        <p14:creationId xmlns:p14="http://schemas.microsoft.com/office/powerpoint/2010/main" val="2015089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7B364-BD12-4E96-BDC5-3E6C91F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공통 학습 파라미터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63DA6-9EAB-419E-9997-FF42C6B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E34E6-276F-4A3A-AA9E-2D3D651A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protocol.frozen.json, 등록 설정 training·adam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838575"/>
                <a:gridCol w="5133975"/>
              </a:tblGrid>
              <a:tr h="4572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사용값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배치 크기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256쌍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가중치를 한 번 갱신할 때 사용하는 쌍 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40,000 updates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run당 총 1,024만 쌍을 새로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학습률 lr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0.001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가중치를 수정하는 크기를 조절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9144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최적화기 Adam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β₁=0.9, β₂=0.999</a:t>
                      </a:r>
                    </a:p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ε=10⁻⁸, weight decay=0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기울기 평균과 크기를 추적해 갱신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seed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0, 1, 2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초기화·학습·생성 난수를 달리한 3회 반복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715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checkpoint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40,000번째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지정한 마지막 가중치를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B3EC1-14B3-4376-A47D-2D0F853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동일 입력 분포의 파이프라인은 같은 학습 메시지를 같은 순서로 사용</a:t>
            </a:r>
          </a:p>
        </p:txBody>
      </p:sp>
    </p:spTree>
    <p:extLst>
      <p:ext uri="{BB962C8B-B14F-4D97-AF65-F5344CB8AC3E}">
        <p14:creationId xmlns:p14="http://schemas.microsoft.com/office/powerpoint/2010/main" val="203617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E453-42E3-4D0E-B66B-978EC7C3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Gaussian diffusion 파라미터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8D6EC-3AF3-48F6-A57C-6A1A72C8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87F1F-45C4-4081-A358-192A99A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등록 설정 G3-U, protocol.frozen.json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362450"/>
                <a:gridCol w="4514850"/>
              </a:tblGrid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사용값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폭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U-Net 기본 채널 32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 특징을 표현하는 채널 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확산 단계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T=1,000 / 선형 β=0.0001–0.02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중 주입할 잡음의 수준을 정의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대상 / 손실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x₀ / 길이 CE + payload MSE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노이즈가 섞인 이미지에서 원본을 복원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안정화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warmup 1,000 / gradient clip 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학습률을 높이고 큰 기울기를 제한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단계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DDIM 25 steps, η=0 / NFE=26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하나에 필요한 모델 호출 횟수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변환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x₀ 범위 [-1, 1] / 최근접 prototype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 기호 중 출력에 가장 가까운 값을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5FF6D-E736-471F-97EF-2092067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생성 배치 256개. T=1,000은 학습 잡음 단계, 25는 생성 복원 단계</a:t>
            </a:r>
          </a:p>
          <a:p xmlns:a="http://schemas.openxmlformats.org/drawingml/2006/main">
            <a:pPr algn="l">
              <a:defRPr sz="17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CE는 분류 오차, MSE는 픽셀의 평균제곱오차를 뜻함</a:t>
            </a:r>
          </a:p>
        </p:txBody>
      </p:sp>
    </p:spTree>
    <p:extLst>
      <p:ext uri="{BB962C8B-B14F-4D97-AF65-F5344CB8AC3E}">
        <p14:creationId xmlns:p14="http://schemas.microsoft.com/office/powerpoint/2010/main" val="987145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76071-D6F2-4456-AE4B-A597B55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Discrete diffusion 파라미터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92ABA-46F3-4B79-8126-13740A5C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7EC71-D667-41B1-9840-70621EA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등록 설정 D1-S, protocol.frozen.json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000500"/>
                <a:gridCol w="4876800"/>
              </a:tblGrid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사용값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크기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embedding 16 / hidden 128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기호 벡터 차원과 은닉층의 폭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방식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 CE + 가린 토큰의 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가린 기호를 조건에 맞게 예측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학습률 규칙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lr=0.001 / warmup·clip 없음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동안 같은 학습률 유지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구간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 intervals / NFE=33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 결정 1회와 토큰 복원 32회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Temperature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확률의 집중도를 추가로 변경하지 않음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599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배치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 2,048 / R-DISC 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번에 병렬 처리하는 후보 개수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F725F-AFC4-4BB5-8FFA-6E3892B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배치 크기는 처리량 설정이며, target별 평가 예산 K=100과는 다르다</a:t>
            </a:r>
          </a:p>
        </p:txBody>
      </p:sp>
    </p:spTree>
    <p:extLst>
      <p:ext uri="{BB962C8B-B14F-4D97-AF65-F5344CB8AC3E}">
        <p14:creationId xmlns:p14="http://schemas.microsoft.com/office/powerpoint/2010/main" val="877565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CC2A9-5E16-45B4-9F52-91B08907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실험군과 대조군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8E243-8AF7-4138-8D24-266DEB61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95AF0-743E-4252-9388-6E5EDEB7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연구 계획 §6, §8–10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4810125"/>
                <a:gridCol w="4352925"/>
              </a:tblGrid>
              <a:tr h="71247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생성 방법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목적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71247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올바른 해시 조건으로 학습·생성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검증하려는 조건부 생성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71247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분포에서 무작위 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없는 직접 탐색의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Shuffled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 대응을 섞어 학습한 모델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올바른 입력·조건 대응 학습의 효과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71247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Main에 다른 목표 조건 입력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시 입력 조건을 쓰는지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5EA19-A75B-4AFD-92B6-1122E16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주 효과: ΔR = Main - Random,  ΔS = Main - Shuffled</a:t>
            </a:r>
          </a:p>
        </p:txBody>
      </p:sp>
    </p:spTree>
    <p:extLst>
      <p:ext uri="{BB962C8B-B14F-4D97-AF65-F5344CB8AC3E}">
        <p14:creationId xmlns:p14="http://schemas.microsoft.com/office/powerpoint/2010/main" val="1998624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F8363-1CD5-416C-96F0-76BB39B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평가 파라미터와 판정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64D72-78F8-4891-8890-3CAA2445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57676-A4EF-4118-A671-58B0275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등록 설정 stage_c, 연구 계획 §6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76450"/>
                <a:gridCol w="4048125"/>
                <a:gridCol w="4848225"/>
              </a:tblGrid>
              <a:tr h="60769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사용값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0769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예산 K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trial·seed별 100개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100개 안에 한 번 이상 일치하면 성공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0769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 관심 효과 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0.005 = +0.5%p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성공률 2.4%에서 2.9%로 증가하는 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순차 분석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8,192 trials씩 최대 3회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결과에 따라 함께 종료 여부 결정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0769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유의수준 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0.05 / 동시 95% 구간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 모델·2개 대조·중간 분석을 보정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0B470-7A44-472F-9CD8-8DAE42D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양성: ΔR·ΔS의 하한이 모두 0 초과. 이후 별도 W4 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07D3C-6919-4528-8E66-721CAFC0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한계 기각: 양성이 아니고, 두 상한이 모두 +0.5%p 미만</a:t>
            </a:r>
          </a:p>
        </p:txBody>
      </p:sp>
    </p:spTree>
    <p:extLst>
      <p:ext uri="{BB962C8B-B14F-4D97-AF65-F5344CB8AC3E}">
        <p14:creationId xmlns:p14="http://schemas.microsoft.com/office/powerpoint/2010/main" val="333437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276E2-DEF0-4790-9EF6-99E3D2D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실험 수행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09563-7D85-4F87-A44A-09A5556F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AEAA8-1B34-4F81-A878-72E42E81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decision.json, budget.json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686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686300"/>
                <a:gridCol w="1562100"/>
                <a:gridCol w="2724150"/>
              </a:tblGrid>
              <a:tr h="61436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 목적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시간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1436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적격성 검사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가능한 조건의 사용 능력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15.7시간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 모두 통과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1436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실험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정규 MD5 W3에서 생성 효과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41.2시간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분석에서 종료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시험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 결과의 W4 재현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미실행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 파이프라인 없음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1436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 대조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r=4 W1의 약한 해시 구조 이용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5.0시간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 모두 구조 이용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 확대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모델과 더 많은 학습량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5.4시간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신호 없음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34ACB-0A8A-4AD4-B71B-0335C561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총 67.3시간, 모든 필수 단계 완료</a:t>
            </a:r>
          </a:p>
        </p:txBody>
      </p:sp>
    </p:spTree>
    <p:extLst>
      <p:ext uri="{BB962C8B-B14F-4D97-AF65-F5344CB8AC3E}">
        <p14:creationId xmlns:p14="http://schemas.microsoft.com/office/powerpoint/2010/main" val="177780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17907-CA04-437E-BD59-C0480E42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조건 사용 적격성은 5개 모두 통과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9F92C-089D-4BBB-A2BB-C65AF0C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69F9D-E078-4439-9C02-0CF5F4D0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A.json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2343150"/>
                <a:gridCol w="2343150"/>
                <a:gridCol w="3714750"/>
              </a:tblGrid>
              <a:tr h="5873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파이프라인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조건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반전 조건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결과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873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P-G-BGV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3개 모두 통과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873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P-G-CGGE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3개 모두 통과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3개 모두 통과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873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R-G-BGV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3개 모두 통과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512 / 512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3개 모두 통과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4E965-DB28-4573-A601-333CEA15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학습 가능한 접두 기호 조건에서 정상·반전 요청 모두 만족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EBB09-4028-4EDF-8E9C-5C62139C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총 15회 학습이 보완 학습 없이 적격성 검사를 통과</a:t>
            </a:r>
          </a:p>
        </p:txBody>
      </p:sp>
    </p:spTree>
    <p:extLst>
      <p:ext uri="{BB962C8B-B14F-4D97-AF65-F5344CB8AC3E}">
        <p14:creationId xmlns:p14="http://schemas.microsoft.com/office/powerpoint/2010/main" val="967249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130FD-764C-4413-84D1-EC7E6DFD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정규 MD5 성공률은 대조군과 비슷한 수준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29089-2C0C-4F50-AD3A-5CE5C88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C5031-A722-495B-8C8E-B5990431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decision.json의 seed_estimates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7d79fdcfeb4db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9FB15-0E40-4338-9A08-A6780F7A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Success@100, 3개 seed 평균(반올림). 균등 무작위 참고값 2.412%</a:t>
            </a:r>
          </a:p>
        </p:txBody>
      </p:sp>
    </p:spTree>
    <p:extLst>
      <p:ext uri="{BB962C8B-B14F-4D97-AF65-F5344CB8AC3E}">
        <p14:creationId xmlns:p14="http://schemas.microsoft.com/office/powerpoint/2010/main" val="3040149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3C97B-E12C-4730-ACBC-21E16D4E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모든 개선 효과의 상한이 +0.5%p 미만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0C421-0832-4D94-B6D7-DF3BC24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A237-75B4-4F68-A969-29C46DD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decision.json의 intervals, C.json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90800"/>
                <a:gridCol w="4191000"/>
                <a:gridCol w="4191000"/>
              </a:tblGrid>
              <a:tr h="5143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파이프라인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- Random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- Shuffled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P-G-BGV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-0.185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[-0.487, +0.117]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-0.092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[-0.389, +0.206]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P-G-CGGE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-0.004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[-0.313, +0.305]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+0.059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[-0.246, +0.364]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+0.057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[-0.252, +0.366]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+0.069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[-0.239, +0.378]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R-G-BGV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-0.039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[-0.343, +0.265]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-0.020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[-0.325, +0.285]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-0.035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[-0.338, +0.269]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  <a:p>
                      <a:pPr algn="ctr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[-0.305, +0.305]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BAC45-B5E2-42B9-8FC2-1A729122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효과 추정값 [동시 95% 구간], 단위 %p. 최대 상한은 +0.378%p</a:t>
            </a:r>
          </a:p>
        </p:txBody>
      </p:sp>
    </p:spTree>
    <p:extLst>
      <p:ext uri="{BB962C8B-B14F-4D97-AF65-F5344CB8AC3E}">
        <p14:creationId xmlns:p14="http://schemas.microsoft.com/office/powerpoint/2010/main" val="891781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79AB-C679-4DD4-AEE2-B087175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두 번째 분석에서 모든 파이프라인의 판정 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7AAEA-F6CD-4CF8-984C-8A83753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8B650-0E8A-4CE5-9B2D-AD1AFB30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C.json의 looks, decision.json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371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52650"/>
                <a:gridCol w="2686050"/>
                <a:gridCol w="1847850"/>
                <a:gridCol w="1847850"/>
                <a:gridCol w="2438400"/>
              </a:tblGrid>
              <a:tr h="7905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시점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trials / seed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 기각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미결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7905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분석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8,192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/ 5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/ 5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79057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분석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16,384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/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/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공동 종료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C3683-45E6-4F79-B90E-B5EB91C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주 실험 사용 시간 41.2시간 / 상한 80시간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12E5E-0BED-4B1D-B738-33E518FA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등록된 효과 상한 기준을 충족해 종료했으며, 예산 소진 기록은 없다</a:t>
            </a:r>
          </a:p>
        </p:txBody>
      </p:sp>
    </p:spTree>
    <p:extLst>
      <p:ext uri="{BB962C8B-B14F-4D97-AF65-F5344CB8AC3E}">
        <p14:creationId xmlns:p14="http://schemas.microsoft.com/office/powerpoint/2010/main" val="11750542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C14F6-CCF7-4EAF-B122-DF85C9DA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약화한 MD5에서는 5개 모두 생성 이득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2B06E-FC21-49D8-B2AF-F386482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BBD32-6D8C-43E3-B9A2-A5B6464B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P.json, decision.json의 C2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00400"/>
                <a:gridCol w="2590800"/>
                <a:gridCol w="2590800"/>
                <a:gridCol w="2590800"/>
              </a:tblGrid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파이프라인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P-G-BGV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18.042%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2.173%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0.171%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P-G-CGGE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15.137%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2.173%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1.416%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18.042%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2.173%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0.171%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R-G-BGV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99.976%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2.246%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100.000%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2.246%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7B906-EDAC-4123-A2AE-CA3F8419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Success@100. MD5 내부 계산을 4단계로 줄인 별도의 양성 대조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ADD83-44C4-4FE4-9AD0-C7362C9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4,096 trials, K=100, seed 0. 정규 MD5 결과로 일반화하지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7599396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3363D-F825-4653-A00E-C3B37554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정규 MD5에서 조건 정보 신호를 확인하지 못함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D962E-375D-40FA-A299-106D94B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51F5-0FA7-42DF-81B0-AD270946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decision.json의 CLP_64, C2.clp, contrasts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57600"/>
                <a:gridCol w="3657600"/>
                <a:gridCol w="3657600"/>
              </a:tblGrid>
              <a:tr h="5524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파이프라인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r=4 CLP z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정규 MD5 CLP z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524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P-G-BGV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187.34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524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P-G-CGGE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114.31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181.76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0.32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524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R-G-BGV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197.35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183.25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-0.36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247D2-8D11-4414-A665-B9684473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CLP: 올바른 조건과 바꾼 조건의 모델 점수를 비교하는 보조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F2E66-DF3F-40B0-989B-429764D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정규 MD5의 z는 -0.36–0.32로, 신호 기준 z&gt;2.878을 충족하지 못함</a:t>
            </a:r>
          </a:p>
        </p:txBody>
      </p:sp>
    </p:spTree>
    <p:extLst>
      <p:ext uri="{BB962C8B-B14F-4D97-AF65-F5344CB8AC3E}">
        <p14:creationId xmlns:p14="http://schemas.microsoft.com/office/powerpoint/2010/main" val="4863780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B9DF-143C-488F-990E-617A1C72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생성 비용을 상쇄할 성공률 향상이 없었다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2F92E-1A83-4E86-92FA-0910BA08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BDC07-9893-4AE5-8354-24DB1CB9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decision.json의 C4, 최종 실행 보고서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733800"/>
                <a:gridCol w="4381500"/>
              </a:tblGrid>
              <a:tr h="5810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파이프라인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비용 비율 ρ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75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손익분기 후보당 성공확률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5810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P-G-BGV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2,891.3배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70.59%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810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P-G-CGGE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1,545.7배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37.74%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78.4배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1.91%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5810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R-G-BGV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3,024.7배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73.85%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R-DISC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200.6배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950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4.90%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DA07A-DFB5-4159-BFA0-7AB1754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직접 탐색 대비 비용 비율. 후보 1개의 성공확률 기준이며 Success@100과 다름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FE9C-7DEE-48DF-8A4A-7A67E4D9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학습비를 제외해도 등록된 계산 우위 판정은 5개 모두 NO_ADVANTAGE</a:t>
            </a:r>
          </a:p>
        </p:txBody>
      </p:sp>
    </p:spTree>
    <p:extLst>
      <p:ext uri="{BB962C8B-B14F-4D97-AF65-F5344CB8AC3E}">
        <p14:creationId xmlns:p14="http://schemas.microsoft.com/office/powerpoint/2010/main" val="1664035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FC24E-6F13-437B-9D91-8FC8582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모델 규모와 학습량 확대에서도 추가 신호 없음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D1589-D36E-4539-B9D6-BA5926B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9EE6C-5537-49A2-AAD9-725BCE04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S.json, 등록 설정 D1-T-L·stage_s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991100"/>
                <a:gridCol w="3981450"/>
              </a:tblGrid>
              <a:tr h="4572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또는 결과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65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8572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규모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D1-T-L / 6,415,308개</a:t>
                      </a:r>
                    </a:p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8층, 8 heads, 차원 256, FFN 1,024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실험 P-DISC보다 약 12.6배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096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160,000 updates × batch 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4,096만 쌍, 주 실험의 4배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학습률 / 안정화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0.00075 / warmup 1,000 / clip 1.0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 0으로 한 번 확대 실험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667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 정보 진단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CLP z = -0.28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65,536쌍, 기준 z&gt;3.2905 미충족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Success@100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 2.246%</a:t>
                      </a:r>
                    </a:p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 2.319%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4,096 trials의 보조 기술통계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34289-7367-4B24-A3B2-3E0FA815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이 한 번의 확대 실험에서는 추가 신호를 확인하지 못함</a:t>
            </a:r>
          </a:p>
        </p:txBody>
      </p:sp>
    </p:spTree>
    <p:extLst>
      <p:ext uri="{BB962C8B-B14F-4D97-AF65-F5344CB8AC3E}">
        <p14:creationId xmlns:p14="http://schemas.microsoft.com/office/powerpoint/2010/main" val="1299162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4F620-CE78-4DBF-AD4A-8EF52C3A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최종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314FB-8944-4959-A3FD-965C7947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09878-0D77-445C-9FA4-08668F5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decision.json, 연구 계획의 판정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FF71C-B22F-47EA-91BA-AC8AB305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실험한 5개 파이프라인 모두에서</a:t>
            </a:r>
          </a:p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Success@100 이득 +0.5%p 이상을 배제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80EE4-E117-497A-9B84-1A5E3410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조건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3C9E-E7A4-4BB8-B35C-C204BD57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86125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학습 가능한 조건과 약한 해시 구조는 활용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6004F-E7D5-4A96-BB04-6CFCEADE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정규 MD5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DEA0F-4EA5-4945-A2CE-50F39A5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62425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Random·Shuffled 대비 효과 상한은 최대 +0.378%p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514AF-C6AB-446E-A3BE-3F85F088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계산 비용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5F405-0E9E-4AAD-BCFE-09C4A3A7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38725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등록된 계산 우위 기준을 충족한 파이프라인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A1195-804B-4788-BBC8-5AE6432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사전 등록한 종합 판정: FINAL_REJECTED</a:t>
            </a:r>
          </a:p>
        </p:txBody>
      </p:sp>
    </p:spTree>
    <p:extLst>
      <p:ext uri="{BB962C8B-B14F-4D97-AF65-F5344CB8AC3E}">
        <p14:creationId xmlns:p14="http://schemas.microsoft.com/office/powerpoint/2010/main" val="7404308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A3958-396B-47D7-8357-399503C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결론의 적용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05BD5-48AC-4024-ADC3-AAD8B57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8B9ED-E8D2-45AB-8F88-C254D198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연구 계획 §6.2, §15.4, decision.json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DF628-9375-472D-A6D9-6BB53EF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실측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BDF3-E77D-417A-BDED-D5FA20B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2400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정규 MD5의 W3 12 bits, 길이 4–31 bytes</a:t>
            </a:r>
          </a:p>
          <a:p xmlns:a="http://schemas.openxmlformats.org/drawingml/2006/main">
            <a:pPr algn="l">
              <a:def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두 입력 분포, 등록된 모델·학습량·후보 예산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E913E-D198-441B-BE7C-BD17EFD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효과의 의미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F410C-8F11-43C6-A5E8-E8E6F783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9875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+0.5%p 이상의 개선을 배제</a:t>
            </a:r>
          </a:p>
          <a:p xmlns:a="http://schemas.openxmlformats.org/drawingml/2006/main">
            <a:pPr algn="l">
              <a:defRPr sz="2100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효과가 정확히 0이거나 모든 모델이 불가능하다는 증명은 아님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ACF5E-4C8D-45BC-A671-77F26A14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비교와 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0BD97-0B4F-4F08-88A3-E8539E31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95750"/>
            <a:ext cx="857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파이프라인 대비 12건 중 8건은 ±0.5%p 내, 4건은 미확정</a:t>
            </a:r>
          </a:p>
          <a:p xmlns:a="http://schemas.openxmlformats.org/drawingml/2006/main">
            <a:pPr algn="l">
              <a:defRPr sz="202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lang="ko-KR" altLang="en-US">
                <a:solidFill>
                  <a:srgbClr val="203648"/>
                </a:solidFill>
                <a:latin typeface="Malgun Gothic"/>
                <a:ea typeface="Malgun Gothic"/>
                <a:cs typeface="Malgun Gothic"/>
              </a:rPr>
              <a:t>양성 결과가 없어 W4 재현 시험은 수행하지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46CF9-8F9D-4A77-AA0F-61FE2C3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추론은 고정된 시험 목표값 집합·checkpoint·seed에 조건부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FE2D7-DE1B-4E95-8F55-66664CE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전체 128-bit MD5 역상이나 SHA-256의 보안성에 대한 결론은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6506105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3C5D7-D731-4F08-ACD8-273AC406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lang="ko-KR" altLang="en-US">
                <a:solidFill>
                  <a:srgbClr val="142C43"/>
                </a:solidFill>
                <a:latin typeface="Malgun Gothic"/>
                <a:ea typeface="Malgun Gothic"/>
                <a:cs typeface="Malgun Gothic"/>
              </a:rPr>
              <a:t>실험 근거 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696FA-1472-4363-A5B5-BD267F5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18D07-F053-449C-BD71-396125D5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lang="ko-KR" altLang="en-US">
                <a:solidFill>
                  <a:srgbClr val="5A6B78"/>
                </a:solidFill>
                <a:latin typeface="Malgun Gothic"/>
                <a:ea typeface="Malgun Gothic"/>
                <a:cs typeface="Malgun Gothic"/>
              </a:rPr>
              <a:t>근거: 등록 문서와 완료된 실행 기록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610100"/>
                <a:gridCol w="6362700"/>
              </a:tblGrid>
              <a:tr h="6286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91440" marR="91440" marT="45720" marB="45720" anchor="ctr">
                    <a:solidFill>
                      <a:srgbClr val="142C43"/>
                    </a:solidFill>
                  </a:tcPr>
                </a:tc>
              </a:tr>
              <a:tr h="6286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프로토콜 / 연구 계획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모델, 학습 조건, 평가 지표와 판정 규칙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286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protocol.frozen.json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선택된 생성 단계·배치·학습량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decision.json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종합 판정, 성공률, 효과 구간, 계산 비용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  <a:tr h="6286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A.json / C.json / P.json / 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적격성, 주 실험, 양성 대조, 규모 확대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budget.json / 최종 실행 보고서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75" b="0" lang="ko-KR" altLang="en-US">
                          <a:solidFill>
                            <a:srgbClr val="20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단계별 사용 시간과 실측 처리량</a:t>
                      </a:r>
                    </a:p>
                  </a:txBody>
                  <a:tcPr marL="91440" marR="91440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2EF82-1CD1-4BF0-BEAB-52A1B26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lang="ko-KR" altLang="en-US">
                <a:solidFill>
                  <a:srgbClr val="087F82"/>
                </a:solidFill>
                <a:latin typeface="Malgun Gothic"/>
                <a:ea typeface="Malgun Gothic"/>
                <a:cs typeface="Malgun Gothic"/>
              </a:rPr>
              <a:t>설정값은 봉인된 프로토콜, 결과값은 완료된 실행 기록을 기준으로 정리</a:t>
            </a:r>
          </a:p>
        </p:txBody>
      </p:sp>
    </p:spTree>
    <p:extLst>
      <p:ext uri="{BB962C8B-B14F-4D97-AF65-F5344CB8AC3E}">
        <p14:creationId xmlns:p14="http://schemas.microsoft.com/office/powerpoint/2010/main" val="2015318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algun Gothic"/>
        <a:ea typeface="Malgun Gothic"/>
        <a:cs typeface="Malgun Gothic"/>
        <a:font script="Hang" typeface="Malgun Gothic"/>
      </a:majorFont>
      <a:minorFont>
        <a:latin typeface="Malgun Gothic"/>
        <a:ea typeface="Malgun Gothic"/>
        <a:cs typeface="Malgun Gothic"/>
        <a:font script="Hang" typeface="Malgun Gothi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2026-10-04T03:56:47.6200000Z</dcterms:created>
  <dcterms:modified xsi:type="dcterms:W3CDTF">2026-10-04T03:56:47.6200000Z</dcterms:modified>
</coreProperties>
</file>
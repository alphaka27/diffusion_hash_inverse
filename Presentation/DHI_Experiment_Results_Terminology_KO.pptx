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407397d23c840be" /><Relationship Type="http://schemas.openxmlformats.org/officeDocument/2006/relationships/extended-properties" Target="/docProps/app.xml" Id="R1d9255c76cee435b" /><Relationship Type="http://schemas.openxmlformats.org/officeDocument/2006/relationships/officeDocument" Target="/ppt/presentation.xml" Id="R29d59b0a235d4177" /></Relationships>
</file>

<file path=ppt/presentation.xml><?xml version="1.0" encoding="utf-8"?>
<p:presentation xmlns:p="http://schemas.openxmlformats.org/presentationml/2006/main">
  <p:sldMasterIdLst>
    <p:sldMasterId xmlns:r="http://schemas.openxmlformats.org/officeDocument/2006/relationships" id="2147483648" r:id="R743f65510b7e4552"/>
  </p:sldMasterIdLst>
  <p:notesMasterIdLst>
    <p:notesMasterId xmlns:r="http://schemas.openxmlformats.org/officeDocument/2006/relationships" r:id="R0ce25b0c6b2b4fdf"/>
  </p:notesMasterIdLst>
  <p:sldIdLst>
    <p:sldId xmlns:r="http://schemas.openxmlformats.org/officeDocument/2006/relationships" id="256" r:id="Rc0e9fcec92d5468f"/>
    <p:sldId xmlns:r="http://schemas.openxmlformats.org/officeDocument/2006/relationships" id="257" r:id="R18fbe2f2ce374fa5"/>
    <p:sldId xmlns:r="http://schemas.openxmlformats.org/officeDocument/2006/relationships" id="258" r:id="R4698db48a8d74266"/>
    <p:sldId xmlns:r="http://schemas.openxmlformats.org/officeDocument/2006/relationships" id="259" r:id="R22cbc0e724d949ec"/>
    <p:sldId xmlns:r="http://schemas.openxmlformats.org/officeDocument/2006/relationships" id="260" r:id="R466c446712cd4272"/>
    <p:sldId xmlns:r="http://schemas.openxmlformats.org/officeDocument/2006/relationships" id="261" r:id="Ra2f45960b71a43dc"/>
    <p:sldId xmlns:r="http://schemas.openxmlformats.org/officeDocument/2006/relationships" id="262" r:id="Rb9c77bc1198f45a6"/>
    <p:sldId xmlns:r="http://schemas.openxmlformats.org/officeDocument/2006/relationships" id="263" r:id="R1149ebde82ef4a6d"/>
    <p:sldId xmlns:r="http://schemas.openxmlformats.org/officeDocument/2006/relationships" id="264" r:id="Rf9c144589a0d4026"/>
    <p:sldId xmlns:r="http://schemas.openxmlformats.org/officeDocument/2006/relationships" id="265" r:id="R2c371acb15074e92"/>
    <p:sldId xmlns:r="http://schemas.openxmlformats.org/officeDocument/2006/relationships" id="266" r:id="Rd1a898b7d3fc46a5"/>
    <p:sldId xmlns:r="http://schemas.openxmlformats.org/officeDocument/2006/relationships" id="267" r:id="R4d6b7402d48b4c7b"/>
    <p:sldId xmlns:r="http://schemas.openxmlformats.org/officeDocument/2006/relationships" id="268" r:id="Raa9027d4e0f5479a"/>
    <p:sldId xmlns:r="http://schemas.openxmlformats.org/officeDocument/2006/relationships" id="269" r:id="R6ac013115eca4db1"/>
    <p:sldId xmlns:r="http://schemas.openxmlformats.org/officeDocument/2006/relationships" id="270" r:id="Rb6859bae92004a63"/>
    <p:sldId xmlns:r="http://schemas.openxmlformats.org/officeDocument/2006/relationships" id="271" r:id="R3340866283aa42e7"/>
    <p:sldId xmlns:r="http://schemas.openxmlformats.org/officeDocument/2006/relationships" id="272" r:id="R1830efd4a6dd4e38"/>
    <p:sldId xmlns:r="http://schemas.openxmlformats.org/officeDocument/2006/relationships" id="273" r:id="R306de568688844ed"/>
    <p:sldId xmlns:r="http://schemas.openxmlformats.org/officeDocument/2006/relationships" id="274" r:id="R341b153fa87447e4"/>
    <p:sldId xmlns:r="http://schemas.openxmlformats.org/officeDocument/2006/relationships" id="275" r:id="R7252e36a97f54b05"/>
    <p:sldId xmlns:r="http://schemas.openxmlformats.org/officeDocument/2006/relationships" id="276" r:id="R219d5911edcd4e5e"/>
    <p:sldId xmlns:r="http://schemas.openxmlformats.org/officeDocument/2006/relationships" id="277" r:id="Rae22382d9c0f4da2"/>
    <p:sldId xmlns:r="http://schemas.openxmlformats.org/officeDocument/2006/relationships" id="278" r:id="Re8045d9dace849d0"/>
    <p:sldId xmlns:r="http://schemas.openxmlformats.org/officeDocument/2006/relationships" id="279" r:id="R437456d45bfb477c"/>
    <p:sldId xmlns:r="http://schemas.openxmlformats.org/officeDocument/2006/relationships" id="280" r:id="Rb77fac22343d421a"/>
    <p:sldId xmlns:r="http://schemas.openxmlformats.org/officeDocument/2006/relationships" id="281" r:id="R8f0b7fac63eb4394"/>
    <p:sldId xmlns:r="http://schemas.openxmlformats.org/officeDocument/2006/relationships" id="282" r:id="Rb1e37139e7c749ec"/>
    <p:sldId xmlns:r="http://schemas.openxmlformats.org/officeDocument/2006/relationships" id="283" r:id="R3daecaa8a90542d8"/>
    <p:sldId xmlns:r="http://schemas.openxmlformats.org/officeDocument/2006/relationships" id="284" r:id="R34a75ded188d4544"/>
    <p:sldId xmlns:r="http://schemas.openxmlformats.org/officeDocument/2006/relationships" id="285" r:id="R706d1237cc01402f"/>
    <p:sldId xmlns:r="http://schemas.openxmlformats.org/officeDocument/2006/relationships" id="286" r:id="Rd7b0d99672554e5e"/>
    <p:sldId xmlns:r="http://schemas.openxmlformats.org/officeDocument/2006/relationships" id="287" r:id="Rcbf79f5479094609"/>
    <p:sldId xmlns:r="http://schemas.openxmlformats.org/officeDocument/2006/relationships" id="288" r:id="Ra673bd2eb70448a3"/>
    <p:sldId xmlns:r="http://schemas.openxmlformats.org/officeDocument/2006/relationships" id="289" r:id="R791ce9abfcfc45b0"/>
    <p:sldId xmlns:r="http://schemas.openxmlformats.org/officeDocument/2006/relationships" id="290" r:id="R307e40f5f9c64c1e"/>
    <p:sldId xmlns:r="http://schemas.openxmlformats.org/officeDocument/2006/relationships" id="291" r:id="Re9902d0fc55042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daf701aa5b4d0b" /><Relationship Type="http://schemas.openxmlformats.org/officeDocument/2006/relationships/slideMaster" Target="/ppt/slideMasters/slideMaster1.xml" Id="R743f65510b7e4552" /><Relationship Type="http://schemas.openxmlformats.org/officeDocument/2006/relationships/notesMaster" Target="/ppt/notesMasters/notesMaster1.xml" Id="R0ce25b0c6b2b4fdf" /><Relationship Type="http://schemas.openxmlformats.org/officeDocument/2006/relationships/presProps" Target="/ppt/presProps.xml" Id="Rf861ce9206504f85" /><Relationship Type="http://schemas.openxmlformats.org/officeDocument/2006/relationships/tableStyles" Target="/ppt/tableStyles.xml" Id="R04ea3366dbf84c95" /><Relationship Type="http://schemas.openxmlformats.org/officeDocument/2006/relationships/slide" Target="/ppt/slides/slide1.xml" Id="Rc0e9fcec92d5468f" /><Relationship Type="http://schemas.openxmlformats.org/officeDocument/2006/relationships/slide" Target="/ppt/slides/slide2.xml" Id="R18fbe2f2ce374fa5" /><Relationship Type="http://schemas.openxmlformats.org/officeDocument/2006/relationships/slide" Target="/ppt/slides/slide3.xml" Id="R4698db48a8d74266" /><Relationship Type="http://schemas.openxmlformats.org/officeDocument/2006/relationships/slide" Target="/ppt/slides/slide4.xml" Id="R22cbc0e724d949ec" /><Relationship Type="http://schemas.openxmlformats.org/officeDocument/2006/relationships/slide" Target="/ppt/slides/slide5.xml" Id="R466c446712cd4272" /><Relationship Type="http://schemas.openxmlformats.org/officeDocument/2006/relationships/slide" Target="/ppt/slides/slide6.xml" Id="Ra2f45960b71a43dc" /><Relationship Type="http://schemas.openxmlformats.org/officeDocument/2006/relationships/slide" Target="/ppt/slides/slide7.xml" Id="Rb9c77bc1198f45a6" /><Relationship Type="http://schemas.openxmlformats.org/officeDocument/2006/relationships/slide" Target="/ppt/slides/slide8.xml" Id="R1149ebde82ef4a6d" /><Relationship Type="http://schemas.openxmlformats.org/officeDocument/2006/relationships/slide" Target="/ppt/slides/slide9.xml" Id="Rf9c144589a0d4026" /><Relationship Type="http://schemas.openxmlformats.org/officeDocument/2006/relationships/slide" Target="/ppt/slides/slide10.xml" Id="R2c371acb15074e92" /><Relationship Type="http://schemas.openxmlformats.org/officeDocument/2006/relationships/slide" Target="/ppt/slides/slide11.xml" Id="Rd1a898b7d3fc46a5" /><Relationship Type="http://schemas.openxmlformats.org/officeDocument/2006/relationships/slide" Target="/ppt/slides/slide12.xml" Id="R4d6b7402d48b4c7b" /><Relationship Type="http://schemas.openxmlformats.org/officeDocument/2006/relationships/slide" Target="/ppt/slides/slide13.xml" Id="Raa9027d4e0f5479a" /><Relationship Type="http://schemas.openxmlformats.org/officeDocument/2006/relationships/slide" Target="/ppt/slides/slide14.xml" Id="R6ac013115eca4db1" /><Relationship Type="http://schemas.openxmlformats.org/officeDocument/2006/relationships/slide" Target="/ppt/slides/slide15.xml" Id="Rb6859bae92004a63" /><Relationship Type="http://schemas.openxmlformats.org/officeDocument/2006/relationships/slide" Target="/ppt/slides/slide16.xml" Id="R3340866283aa42e7" /><Relationship Type="http://schemas.openxmlformats.org/officeDocument/2006/relationships/slide" Target="/ppt/slides/slide17.xml" Id="R1830efd4a6dd4e38" /><Relationship Type="http://schemas.openxmlformats.org/officeDocument/2006/relationships/slide" Target="/ppt/slides/slide18.xml" Id="R306de568688844ed" /><Relationship Type="http://schemas.openxmlformats.org/officeDocument/2006/relationships/slide" Target="/ppt/slides/slide19.xml" Id="R341b153fa87447e4" /><Relationship Type="http://schemas.openxmlformats.org/officeDocument/2006/relationships/slide" Target="/ppt/slides/slide20.xml" Id="R7252e36a97f54b05" /><Relationship Type="http://schemas.openxmlformats.org/officeDocument/2006/relationships/slide" Target="/ppt/slides/slide21.xml" Id="R219d5911edcd4e5e" /><Relationship Type="http://schemas.openxmlformats.org/officeDocument/2006/relationships/slide" Target="/ppt/slides/slide22.xml" Id="Rae22382d9c0f4da2" /><Relationship Type="http://schemas.openxmlformats.org/officeDocument/2006/relationships/slide" Target="/ppt/slides/slide23.xml" Id="Re8045d9dace849d0" /><Relationship Type="http://schemas.openxmlformats.org/officeDocument/2006/relationships/slide" Target="/ppt/slides/slide24.xml" Id="R437456d45bfb477c" /><Relationship Type="http://schemas.openxmlformats.org/officeDocument/2006/relationships/slide" Target="/ppt/slides/slide25.xml" Id="Rb77fac22343d421a" /><Relationship Type="http://schemas.openxmlformats.org/officeDocument/2006/relationships/slide" Target="/ppt/slides/slide26.xml" Id="R8f0b7fac63eb4394" /><Relationship Type="http://schemas.openxmlformats.org/officeDocument/2006/relationships/slide" Target="/ppt/slides/slide27.xml" Id="Rb1e37139e7c749ec" /><Relationship Type="http://schemas.openxmlformats.org/officeDocument/2006/relationships/slide" Target="/ppt/slides/slide28.xml" Id="R3daecaa8a90542d8" /><Relationship Type="http://schemas.openxmlformats.org/officeDocument/2006/relationships/slide" Target="/ppt/slides/slide29.xml" Id="R34a75ded188d4544" /><Relationship Type="http://schemas.openxmlformats.org/officeDocument/2006/relationships/slide" Target="/ppt/slides/slide30.xml" Id="R706d1237cc01402f" /><Relationship Type="http://schemas.openxmlformats.org/officeDocument/2006/relationships/slide" Target="/ppt/slides/slide31.xml" Id="Rd7b0d99672554e5e" /><Relationship Type="http://schemas.openxmlformats.org/officeDocument/2006/relationships/slide" Target="/ppt/slides/slide32.xml" Id="Rcbf79f5479094609" /><Relationship Type="http://schemas.openxmlformats.org/officeDocument/2006/relationships/slide" Target="/ppt/slides/slide33.xml" Id="Ra673bd2eb70448a3" /><Relationship Type="http://schemas.openxmlformats.org/officeDocument/2006/relationships/slide" Target="/ppt/slides/slide34.xml" Id="R791ce9abfcfc45b0" /><Relationship Type="http://schemas.openxmlformats.org/officeDocument/2006/relationships/slide" Target="/ppt/slides/slide35.xml" Id="R307e40f5f9c64c1e" /><Relationship Type="http://schemas.openxmlformats.org/officeDocument/2006/relationships/slide" Target="/ppt/slides/slide36.xml" Id="Re9902d0fc55042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22cd0e50374b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ko-KR" altLang="en-US"/>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majorFont>
      <a:minorFont>
        <a:latin typeface="Malgun Gothic"/>
        <a:ea typeface="Malgun Gothic"/>
        <a:cs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dbc32484e041f8" /><Relationship Type="http://schemas.openxmlformats.org/officeDocument/2006/relationships/notesMaster" Target="/ppt/notesMasters/notesMaster1.xml" Id="Rb7160db5b9ae49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69d517a60a4794" /><Relationship Type="http://schemas.openxmlformats.org/officeDocument/2006/relationships/notesMaster" Target="/ppt/notesMasters/notesMaster1.xml" Id="Rc0ddc0074fcc43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666b6f192843b3" /><Relationship Type="http://schemas.openxmlformats.org/officeDocument/2006/relationships/notesMaster" Target="/ppt/notesMasters/notesMaster1.xml" Id="Rf287c4596b8146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5af99ffc5d4d29" /><Relationship Type="http://schemas.openxmlformats.org/officeDocument/2006/relationships/notesMaster" Target="/ppt/notesMasters/notesMaster1.xml" Id="R3b5ee9ccd30b40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e2a3fb5e2e4b83" /><Relationship Type="http://schemas.openxmlformats.org/officeDocument/2006/relationships/notesMaster" Target="/ppt/notesMasters/notesMaster1.xml" Id="R7710f56c6c3b4d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0d80197e094ba5" /><Relationship Type="http://schemas.openxmlformats.org/officeDocument/2006/relationships/notesMaster" Target="/ppt/notesMasters/notesMaster1.xml" Id="Rf3e438440c0d42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52479164e44bcf" /><Relationship Type="http://schemas.openxmlformats.org/officeDocument/2006/relationships/notesMaster" Target="/ppt/notesMasters/notesMaster1.xml" Id="Rbd36e52453f547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f69bac21e549e5" /><Relationship Type="http://schemas.openxmlformats.org/officeDocument/2006/relationships/notesMaster" Target="/ppt/notesMasters/notesMaster1.xml" Id="R71711d9ef96148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0d36c6661f476c" /><Relationship Type="http://schemas.openxmlformats.org/officeDocument/2006/relationships/notesMaster" Target="/ppt/notesMasters/notesMaster1.xml" Id="R7ce9df97f5444a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a87a052442427e" /><Relationship Type="http://schemas.openxmlformats.org/officeDocument/2006/relationships/notesMaster" Target="/ppt/notesMasters/notesMaster1.xml" Id="Rc80d175f42dc46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33cd324a4041ed" /><Relationship Type="http://schemas.openxmlformats.org/officeDocument/2006/relationships/notesMaster" Target="/ppt/notesMasters/notesMaster1.xml" Id="Ra4e322ef3f7844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6c2f320788417a" /><Relationship Type="http://schemas.openxmlformats.org/officeDocument/2006/relationships/notesMaster" Target="/ppt/notesMasters/notesMaster1.xml" Id="Rbd121c45912d40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98b73fbeda4cfd" /><Relationship Type="http://schemas.openxmlformats.org/officeDocument/2006/relationships/notesMaster" Target="/ppt/notesMasters/notesMaster1.xml" Id="R1265ce5ec1c344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46e59b08d44c73" /><Relationship Type="http://schemas.openxmlformats.org/officeDocument/2006/relationships/notesMaster" Target="/ppt/notesMasters/notesMaster1.xml" Id="Rf49935299b9542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beb4fe1126a4dcd" /><Relationship Type="http://schemas.openxmlformats.org/officeDocument/2006/relationships/notesMaster" Target="/ppt/notesMasters/notesMaster1.xml" Id="Re9891d8573bc40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29b995cbcf4d0d" /><Relationship Type="http://schemas.openxmlformats.org/officeDocument/2006/relationships/notesMaster" Target="/ppt/notesMasters/notesMaster1.xml" Id="R9eddf43f4a3f48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d92a0c65cf408e" /><Relationship Type="http://schemas.openxmlformats.org/officeDocument/2006/relationships/notesMaster" Target="/ppt/notesMasters/notesMaster1.xml" Id="R1122d3d38c8d451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dec7f455cf4767" /><Relationship Type="http://schemas.openxmlformats.org/officeDocument/2006/relationships/notesMaster" Target="/ppt/notesMasters/notesMaster1.xml" Id="R98b3ff1b735a473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decf93db61c4db1" /><Relationship Type="http://schemas.openxmlformats.org/officeDocument/2006/relationships/notesMaster" Target="/ppt/notesMasters/notesMaster1.xml" Id="Rf2622b65d5a2437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71f814e237e42cc" /><Relationship Type="http://schemas.openxmlformats.org/officeDocument/2006/relationships/notesMaster" Target="/ppt/notesMasters/notesMaster1.xml" Id="R1711cd1b85174c0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19306a2a811450b" /><Relationship Type="http://schemas.openxmlformats.org/officeDocument/2006/relationships/notesMaster" Target="/ppt/notesMasters/notesMaster1.xml" Id="R3f48a4310716494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83eb05588941be" /><Relationship Type="http://schemas.openxmlformats.org/officeDocument/2006/relationships/notesMaster" Target="/ppt/notesMasters/notesMaster1.xml" Id="R2324b0c5dc13463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f67bf1af0464234" /><Relationship Type="http://schemas.openxmlformats.org/officeDocument/2006/relationships/notesMaster" Target="/ppt/notesMasters/notesMaster1.xml" Id="R292e143e8c034fb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8b8bd8c7cff4f58" /><Relationship Type="http://schemas.openxmlformats.org/officeDocument/2006/relationships/notesMaster" Target="/ppt/notesMasters/notesMaster1.xml" Id="Rd282b2a440584ea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13b0d43aa884d15" /><Relationship Type="http://schemas.openxmlformats.org/officeDocument/2006/relationships/notesMaster" Target="/ppt/notesMasters/notesMaster1.xml" Id="R9446053a02274d1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8aa190e63e542ed" /><Relationship Type="http://schemas.openxmlformats.org/officeDocument/2006/relationships/notesMaster" Target="/ppt/notesMasters/notesMaster1.xml" Id="Rbbbadbd9bcb5468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29df252e07b4218" /><Relationship Type="http://schemas.openxmlformats.org/officeDocument/2006/relationships/notesMaster" Target="/ppt/notesMasters/notesMaster1.xml" Id="R84db8756542b4c7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1234738378c4482" /><Relationship Type="http://schemas.openxmlformats.org/officeDocument/2006/relationships/notesMaster" Target="/ppt/notesMasters/notesMaster1.xml" Id="Re658bf4b87604e6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6477f6fae4f4ff5" /><Relationship Type="http://schemas.openxmlformats.org/officeDocument/2006/relationships/notesMaster" Target="/ppt/notesMasters/notesMaster1.xml" Id="R9d1f5d1b811048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899cef6c9b44e84" /><Relationship Type="http://schemas.openxmlformats.org/officeDocument/2006/relationships/notesMaster" Target="/ppt/notesMasters/notesMaster1.xml" Id="R72f3d7725784443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091ba8bb14a4b6d" /><Relationship Type="http://schemas.openxmlformats.org/officeDocument/2006/relationships/notesMaster" Target="/ppt/notesMasters/notesMaster1.xml" Id="R0fc3f970c0ed48d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3243102e8f24c37" /><Relationship Type="http://schemas.openxmlformats.org/officeDocument/2006/relationships/notesMaster" Target="/ppt/notesMasters/notesMaster1.xml" Id="R34fe63a0453a406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3bfa3e6e6734877" /><Relationship Type="http://schemas.openxmlformats.org/officeDocument/2006/relationships/notesMaster" Target="/ppt/notesMasters/notesMaster1.xml" Id="R3d9d87cdf69b40c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7fa5b2ba5b3498c" /><Relationship Type="http://schemas.openxmlformats.org/officeDocument/2006/relationships/notesMaster" Target="/ppt/notesMasters/notesMaster1.xml" Id="R4f08c1b209774f8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40d09f00525461d" /><Relationship Type="http://schemas.openxmlformats.org/officeDocument/2006/relationships/notesMaster" Target="/ppt/notesMasters/notesMaster1.xml" Id="R200fa404575846b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64cf70bf15445b4" /><Relationship Type="http://schemas.openxmlformats.org/officeDocument/2006/relationships/notesMaster" Target="/ppt/notesMasters/notesMaster1.xml" Id="Rd37cbbfad9d641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완료된 실행의 등록 설정과 실측 결과를 정리한다. 실험 결과는 decision.json, 학습 및 생성 설정은 protocol.frozen.json을 기준으로 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정규 MD5는 r=64이다. 128-bit digest의 W3 12 bits가 target과 일치하는 임의 입력을 찾는다. 원래 target을 만들었던 입력의 복원을 요구하지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해시 / digest</a:t>
            </a:r>
          </a:p>
          <a:p xmlns:a="http://schemas.openxmlformats.org/drawingml/2006/main">
            <a:r>
              <a:t>해시는 입력을 고정 길이의 값으로 바꾸는 함수이며, digest는 그 결과다.</a:t>
            </a:r>
          </a:p>
          <a:p xmlns:a="http://schemas.openxmlformats.org/drawingml/2006/main">
            <a:r>
              <a:t>MD5의 전체 출력은 128 bits이고, 이 실험은 그중 12 bits를 비교한다.</a:t>
            </a:r>
          </a:p>
          <a:p xmlns:a="http://schemas.openxmlformats.org/drawingml/2006/main">
            <a:r>
              <a:t/>
            </a:r>
          </a:p>
          <a:p xmlns:a="http://schemas.openxmlformats.org/drawingml/2006/main">
            <a:r>
              <a:t>역상 (preimage)</a:t>
            </a:r>
          </a:p>
          <a:p xmlns:a="http://schemas.openxmlformats.org/drawingml/2006/main">
            <a:r>
              <a:t>지정한 해시값을 만드는 입력을 뜻한다. 이 실험에서는 선택한 12 bits가</a:t>
            </a:r>
          </a:p>
          <a:p xmlns:a="http://schemas.openxmlformats.org/drawingml/2006/main">
            <a:r>
              <a:t>일치하는 입력이면 성공하며, 목표값을 만들었던 원문과 같을 필요는 없다.</a:t>
            </a:r>
          </a:p>
          <a:p xmlns:a="http://schemas.openxmlformats.org/drawingml/2006/main">
            <a:r>
              <a:t/>
            </a:r>
          </a:p>
          <a:p xmlns:a="http://schemas.openxmlformats.org/drawingml/2006/main">
            <a:r>
              <a:t>Target / window</a:t>
            </a:r>
          </a:p>
          <a:p xmlns:a="http://schemas.openxmlformats.org/drawingml/2006/main">
            <a:r>
              <a:t>Target은 맞혀야 할 목표값이다. Window는 출력에서 비교할 비트의 위치다.</a:t>
            </a:r>
          </a:p>
          <a:p xmlns:a="http://schemas.openxmlformats.org/drawingml/2006/main">
            <a:r>
              <a:t>주 실험의 W3는 digest를 오른쪽으로 52 bits 이동한 뒤 하위 12 bits를 취한다.</a:t>
            </a:r>
          </a:p>
          <a:p xmlns:a="http://schemas.openxmlformats.org/drawingml/2006/main">
            <a:r>
              <a:t/>
            </a:r>
          </a:p>
          <a:p xmlns:a="http://schemas.openxmlformats.org/drawingml/2006/main">
            <a:r>
              <a:t>Bit / byte / q / r</a:t>
            </a:r>
          </a:p>
          <a:p xmlns:a="http://schemas.openxmlformats.org/drawingml/2006/main">
            <a:r>
              <a:t>1 bit는 0 또는 1, 1 byte는 8 bits다. q=12는 목표값의 비트 수이며,</a:t>
            </a:r>
          </a:p>
          <a:p xmlns:a="http://schemas.openxmlformats.org/drawingml/2006/main">
            <a:r>
              <a:t>r=64는 MD5 내부 계산의 step 수다. r=4는 계산을 줄인 양성 대조다.</a:t>
            </a:r>
          </a:p>
          <a:p xmlns:a="http://schemas.openxmlformats.org/drawingml/2006/main">
            <a:r>
              <a:t/>
            </a:r>
          </a:p>
          <a:p xmlns:a="http://schemas.openxmlformats.org/drawingml/2006/main">
            <a:r>
              <a:t>W3=(D&gt;&gt;52)&amp;0xFFF에서 D는 digest를 big-endian 정수로 해석한 값이다. &gt;&gt;는 오른쪽 비트 이동, &amp;0xFFF는 하위 12 bits만 남기는 연산이다. 이 실험은 12-bit window 일치를 평가하며 전체 128-bit MD5 역상과 구분한다.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Diffusion 확산 모델</a:t>
            </a:r>
          </a:p>
          <a:p xmlns:a="http://schemas.openxmlformats.org/drawingml/2006/main">
            <a:r>
              <a:t>학습에서는 입력을 훼손하고 원래 입력을 예측한다. 생성에서는 잡음이나</a:t>
            </a:r>
          </a:p>
          <a:p xmlns:a="http://schemas.openxmlformats.org/drawingml/2006/main">
            <a:r>
              <a:t>가린 기호에서 출발해 학습한 복원 과정을 반복하여 새 후보를 만든다.</a:t>
            </a:r>
          </a:p>
          <a:p xmlns:a="http://schemas.openxmlformats.org/drawingml/2006/main">
            <a:r>
              <a:t/>
            </a:r>
          </a:p>
          <a:p xmlns:a="http://schemas.openxmlformats.org/drawingml/2006/main">
            <a:r>
              <a:t>Gaussian diffusion</a:t>
            </a:r>
          </a:p>
          <a:p xmlns:a="http://schemas.openxmlformats.org/drawingml/2006/main">
            <a:r>
              <a:t>이미지 픽셀에 정규분포의 연속 잡음을 더해 학습하는 방식이다.</a:t>
            </a:r>
          </a:p>
          <a:p xmlns:a="http://schemas.openxmlformats.org/drawingml/2006/main">
            <a:r>
              <a:t>이 실험은 BGV·CGGE 이미지의 실제 메시지 영역을 복원한다.</a:t>
            </a:r>
          </a:p>
          <a:p xmlns:a="http://schemas.openxmlformats.org/drawingml/2006/main">
            <a:r>
              <a:t/>
            </a:r>
          </a:p>
          <a:p xmlns:a="http://schemas.openxmlformats.org/drawingml/2006/main">
            <a:r>
              <a:t>Discrete diffusion</a:t>
            </a:r>
          </a:p>
          <a:p xmlns:a="http://schemas.openxmlformats.org/drawingml/2006/main">
            <a:r>
              <a:t>기호를 이산적인 상태로 다루는 방식이다. 이 실험은 일부 토큰을 MASK로</a:t>
            </a:r>
          </a:p>
          <a:p xmlns:a="http://schemas.openxmlformats.org/drawingml/2006/main">
            <a:r>
              <a:t>가려 학습하고, 생성할 때 가린 토큰을 순차적으로 채운다.</a:t>
            </a:r>
          </a:p>
          <a:p xmlns:a="http://schemas.openxmlformats.org/drawingml/2006/main">
            <a:r>
              <a:t/>
            </a:r>
          </a:p>
          <a:p xmlns:a="http://schemas.openxmlformats.org/drawingml/2006/main">
            <a:r>
              <a:t>Condition / denoiser</a:t>
            </a:r>
          </a:p>
          <a:p xmlns:a="http://schemas.openxmlformats.org/drawingml/2006/main">
            <a:r>
              <a:t>Condition은 생성을 유도하는 목표 해시의 12 bits다. Denoiser는</a:t>
            </a:r>
          </a:p>
          <a:p xmlns:a="http://schemas.openxmlformats.org/drawingml/2006/main">
            <a:r>
              <a:t>훼손된 입력, 조건, 잡음 시점을 받아 원본 이미지나 토큰을 예측하는 모델이다.</a:t>
            </a:r>
          </a:p>
          <a:p xmlns:a="http://schemas.openxmlformats.org/drawingml/2006/main">
            <a:r>
              <a:t/>
            </a:r>
          </a:p>
          <a:p xmlns:a="http://schemas.openxmlformats.org/drawingml/2006/main">
            <a:r>
              <a:t>학습에서 정답 입력을 훼손하여 복원하는 것과 평가에서 목표 조건으로 새 후보를 만드는 것은 다르다. 모델은 먼저 길이를 생성한 뒤 그 길이에 맞는 payload를 생성한다. 정답 입력의 길이는 생성기에 제공하지 않는다. Source prior는 학습 이전에 정한 입력 분포로, 길이와 기호의 추출 규칙을 뜻한다.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P는 ASCII 33~126, R은 byte 0~255. 두 source 모두 길이 4~31 균등, 주어진 길이에서 각 byte는 iid uniform이다. W3=(big-endian digest &gt;&gt; 52)&amp;0xFFF. 목표값 단위로 split하므로 train과 test는 서로 다른 해시값을 사용한다.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Encoder / decoder</a:t>
            </a:r>
          </a:p>
          <a:p xmlns:a="http://schemas.openxmlformats.org/drawingml/2006/main">
            <a:r>
              <a:t>Encoder는 입력 바이트를 모델이 처리할 이미지나 토큰으로 바꾼다.</a:t>
            </a:r>
          </a:p>
          <a:p xmlns:a="http://schemas.openxmlformats.org/drawingml/2006/main">
            <a:r>
              <a:t>Decoder는 모델 출력을 실제 바이트열로 바꾸어 해시 검증에 전달한다.</a:t>
            </a:r>
          </a:p>
          <a:p xmlns:a="http://schemas.openxmlformats.org/drawingml/2006/main">
            <a:r>
              <a:t/>
            </a:r>
          </a:p>
          <a:p xmlns:a="http://schemas.openxmlformats.org/drawingml/2006/main">
            <a:r>
              <a:t>BGV / CGGE</a:t>
            </a:r>
          </a:p>
          <a:p xmlns:a="http://schemas.openxmlformats.org/drawingml/2006/main">
            <a:r>
              <a:t>BGV(Byte Glyph Visualization)는 바이트의 8-bit 패턴을 블록으로 표현한다.</a:t>
            </a:r>
          </a:p>
          <a:p xmlns:a="http://schemas.openxmlformats.org/drawingml/2006/main">
            <a:r>
              <a:t>CGGE(Character Glyph Grid Encoding)는 문자의 고정된 모양을 격자로 표현한다.</a:t>
            </a:r>
          </a:p>
          <a:p xmlns:a="http://schemas.openxmlformats.org/drawingml/2006/main">
            <a:r>
              <a:t/>
            </a:r>
          </a:p>
          <a:p xmlns:a="http://schemas.openxmlformats.org/drawingml/2006/main">
            <a:r>
              <a:t>Token / payload</a:t>
            </a:r>
          </a:p>
          <a:p xmlns:a="http://schemas.openxmlformats.org/drawingml/2006/main">
            <a:r>
              <a:t>Token은 기호를 나타내는 번호이며, 여기서는 문자 또는 바이트에 대응한다.</a:t>
            </a:r>
          </a:p>
          <a:p xmlns:a="http://schemas.openxmlformats.org/drawingml/2006/main">
            <a:r>
              <a:t>Payload는 실제 메시지 내용이다. PAD는 빈 자리, EOS는 종료, MASK는 가림 기호다.</a:t>
            </a:r>
          </a:p>
          <a:p xmlns:a="http://schemas.openxmlformats.org/drawingml/2006/main">
            <a:r>
              <a:t/>
            </a:r>
          </a:p>
          <a:p xmlns:a="http://schemas.openxmlformats.org/drawingml/2006/main">
            <a:r>
              <a:t>Prototype decoder</a:t>
            </a:r>
          </a:p>
          <a:p xmlns:a="http://schemas.openxmlformats.org/drawingml/2006/main">
            <a:r>
              <a:t>Prototype은 각 허용 기호의 기준 이미지다. 생성한 이미지와 거리 또는</a:t>
            </a:r>
          </a:p>
          <a:p xmlns:a="http://schemas.openxmlformats.org/drawingml/2006/main">
            <a:r>
              <a:t>평균제곱오차가 가장 작은 기준을 골라 기호를 복원한다. 동점이면 작은 값을 고른다.</a:t>
            </a:r>
          </a:p>
          <a:p xmlns:a="http://schemas.openxmlformats.org/drawingml/2006/main">
            <a:r>
              <a:t/>
            </a:r>
          </a:p>
          <a:p xmlns:a="http://schemas.openxmlformats.org/drawingml/2006/main">
            <a:r>
              <a:t>BGV는 비트마다 4×4 블록을 사용하며 텐서 크기는 2×32×128이다. CGGE는 기호마다 8×8 glyph를 사용하며 크기는 2×32×64이다. 두 표현 모두 실제 메시지 영역과 빈 영역을 구분한다. BGV는 허용 byte prototype과의 제곱거리, CGGE는 glyph MSE를 비교한다. P는 94개 기호, R은 256개 바이트를 허용한다. 토큰 어휘에는 PAD/EOS/MASK도 포함하지만 payload 생성에서는 허용 기호만 뽑는다. BGV·CGGE의 정식 명칭은 RESEARCH_PLAN.md §7.6–7.7, 실제 decoder 설정은 봉인된 프로토콜에서 확인했다.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 parameter</a:t>
            </a:r>
          </a:p>
          <a:p xmlns:a="http://schemas.openxmlformats.org/drawingml/2006/main">
            <a:r>
              <a:t>파이프라인은 입력 분포·표현·모델·생성·복호화를 묶은 비교 단위다.</a:t>
            </a:r>
          </a:p>
          <a:p xmlns:a="http://schemas.openxmlformats.org/drawingml/2006/main">
            <a:r>
              <a:t>Parameter는 학습하는 가중치·편향이며, hyperparameter는 사람이 정하는 학습 설정이다.</a:t>
            </a:r>
          </a:p>
          <a:p xmlns:a="http://schemas.openxmlformats.org/drawingml/2006/main">
            <a:r>
              <a:t/>
            </a:r>
          </a:p>
          <a:p xmlns:a="http://schemas.openxmlformats.org/drawingml/2006/main">
            <a:r>
              <a:t>G3-U / U-Net / 채널</a:t>
            </a:r>
          </a:p>
          <a:p xmlns:a="http://schemas.openxmlformats.org/drawingml/2006/main">
            <a:r>
              <a:t>G3-U는 이미지 확산에 사용한 모델 식별자다. U-Net은 해상도를 줄였다가</a:t>
            </a:r>
          </a:p>
          <a:p xmlns:a="http://schemas.openxmlformats.org/drawingml/2006/main">
            <a:r>
              <a:t>늘리며 앞쪽 특징을 다시 연결한다. 채널 수는 위치마다 표현하는 특징의 수다.</a:t>
            </a:r>
          </a:p>
          <a:p xmlns:a="http://schemas.openxmlformats.org/drawingml/2006/main">
            <a:r>
              <a:t/>
            </a:r>
          </a:p>
          <a:p xmlns:a="http://schemas.openxmlformats.org/drawingml/2006/main">
            <a:r>
              <a:t>D1-S / embedding Hidden dimension</a:t>
            </a:r>
          </a:p>
          <a:p xmlns:a="http://schemas.openxmlformats.org/drawingml/2006/main">
            <a:r>
              <a:t>D1-S는 토큰용 모델 식별자다. Embedding은 기호 번호를 수치 벡터로 바꾼다.</a:t>
            </a:r>
          </a:p>
          <a:p xmlns:a="http://schemas.openxmlformats.org/drawingml/2006/main">
            <a:r>
              <a:t>여기서는 16차원이며, hidden 128은 중간 계산을 담당하는 은닉층의 폭이다.</a:t>
            </a:r>
          </a:p>
          <a:p xmlns:a="http://schemas.openxmlformats.org/drawingml/2006/main">
            <a:r>
              <a:t/>
            </a:r>
          </a:p>
          <a:p xmlns:a="http://schemas.openxmlformats.org/drawingml/2006/main">
            <a:r>
              <a:t>D1-T-L / Transformer</a:t>
            </a:r>
          </a:p>
          <a:p xmlns:a="http://schemas.openxmlformats.org/drawingml/2006/main">
            <a:r>
              <a:t>규모 확대에는 8층 Transformer를 썼다. Attention head 8개는 기호 간 관계를</a:t>
            </a:r>
          </a:p>
          <a:p xmlns:a="http://schemas.openxmlformats.org/drawingml/2006/main">
            <a:r>
              <a:t>여러 방식으로 계산하고, FFN 1,024는 각 위치의 특징을 변환하는 중간층의 폭이다.</a:t>
            </a:r>
          </a:p>
          <a:p xmlns:a="http://schemas.openxmlformats.org/drawingml/2006/main">
            <a:r>
              <a:t/>
            </a:r>
          </a:p>
          <a:p xmlns:a="http://schemas.openxmlformats.org/drawingml/2006/main">
            <a:r>
              <a:t>D1-T-L의 표현 차원은 256, FFN의 내부 차원은 1,024, attention head는 8개, 층은 8개다. Head는 별개의 전체 모델이 아니라 attention 계산을 나눈 구성 요소다. G3-U의 width 32는 기본 채널 수이며 모든 층이 32채널인 것은 아니다. 비교한 두 모델 계열은 표현 외에 구조·손실·sampler도 다르므로 파이프라인 전체의 비교로 해석한다.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P=Printable, R=Random Bytes, G=Gaussian. BGV는 바이트 비트를 4×4 블록으로 표현한 2×32×128 이미지, CGGE는 8×8 glyph를 배열한 2×32×64 이미지다. Token은 최대 32개 위치를 사용한다. 표의 파라미터 수는 학습되는 가중치와 편향의 수다.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Batch / update</a:t>
            </a:r>
          </a:p>
          <a:p xmlns:a="http://schemas.openxmlformats.org/drawingml/2006/main">
            <a:r>
              <a:t>Batch는 한 번의 가중치 갱신에 사용하는 데이터 묶음이고, update는 그 갱신이다.</a:t>
            </a:r>
          </a:p>
          <a:p xmlns:a="http://schemas.openxmlformats.org/drawingml/2006/main">
            <a:r>
              <a:t>Batch 256 × 40,000 updates는 run당 1,024만 학습 쌍을 추출한다는 뜻이다.</a:t>
            </a:r>
          </a:p>
          <a:p xmlns:a="http://schemas.openxmlformats.org/drawingml/2006/main">
            <a:r>
              <a:t/>
            </a:r>
          </a:p>
          <a:p xmlns:a="http://schemas.openxmlformats.org/drawingml/2006/main">
            <a:r>
              <a:t>새 쌍 / epoch</a:t>
            </a:r>
          </a:p>
          <a:p xmlns:a="http://schemas.openxmlformats.org/drawingml/2006/main">
            <a:r>
              <a:t>매 update마다 정한 입력 분포에서 메시지를 새로 추출한다. Epoch는 고정된</a:t>
            </a:r>
          </a:p>
          <a:p xmlns:a="http://schemas.openxmlformats.org/drawingml/2006/main">
            <a:r>
              <a:t>데이터를 한 번 훑는 단위이므로, 이 실험의 학습량은 update와 추출 쌍 수로 표시한다.</a:t>
            </a:r>
          </a:p>
          <a:p xmlns:a="http://schemas.openxmlformats.org/drawingml/2006/main">
            <a:r>
              <a:t/>
            </a:r>
          </a:p>
          <a:p xmlns:a="http://schemas.openxmlformats.org/drawingml/2006/main">
            <a:r>
              <a:t>Run / seed</a:t>
            </a:r>
          </a:p>
          <a:p xmlns:a="http://schemas.openxmlformats.org/drawingml/2006/main">
            <a:r>
              <a:t>Run은 한 설정으로 수행한 학습 실행이다. Seed는 난수열을 구분하는 값이다.</a:t>
            </a:r>
          </a:p>
          <a:p xmlns:a="http://schemas.openxmlformats.org/drawingml/2006/main">
            <a:r>
              <a:t>주 실험은 seed 0·1·2로 반복하며, 같은 source·seed끼리는 메시지 순서를 공유한다.</a:t>
            </a:r>
          </a:p>
          <a:p xmlns:a="http://schemas.openxmlformats.org/drawingml/2006/main">
            <a:r>
              <a:t/>
            </a:r>
          </a:p>
          <a:p xmlns:a="http://schemas.openxmlformats.org/drawingml/2006/main">
            <a:r>
              <a:t>Checkpoint / 동결</a:t>
            </a:r>
          </a:p>
          <a:p xmlns:a="http://schemas.openxmlformats.org/drawingml/2006/main">
            <a:r>
              <a:t>Checkpoint는 모델 가중치와 재개에 필요한 상태의 저장본이다.</a:t>
            </a:r>
          </a:p>
          <a:p xmlns:a="http://schemas.openxmlformats.org/drawingml/2006/main">
            <a:r>
              <a:t>이 실험은 최종 update의 저장본으로 평가하고, 시험 전 설정과 파일 식별값을 고정했다.</a:t>
            </a:r>
          </a:p>
          <a:p xmlns:a="http://schemas.openxmlformats.org/drawingml/2006/main">
            <a:r>
              <a:t/>
            </a:r>
          </a:p>
          <a:p xmlns:a="http://schemas.openxmlformats.org/drawingml/2006/main">
            <a:r>
              <a:t>새 쌍은 매번 새로 추출한 표본을 말하며, 우연히 같은 메시지가 다시 나오는 것을 금지한다는 뜻은 아니다. 모델과 Adam 상태를 checkpoint에 저장하고 4,000 updates마다 진단 기록을 남긴다. 진단 점수로 최고 checkpoint를 사후 선택하지 않는다. 주 실험의 30 runs는 5개 파이프라인 × Main/Shuffled × 3 seeds다. 동일 target pool을 쓰므로 seed가 늘어도 독립 target의 수가 증가하지는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기울기 / 학습률 lr</a:t>
            </a:r>
          </a:p>
          <a:p xmlns:a="http://schemas.openxmlformats.org/drawingml/2006/main">
            <a:r>
              <a:t>기울기는 가중치를 바꿀 때 손실이 얼마나 변하는지 나타낸다.</a:t>
            </a:r>
          </a:p>
          <a:p xmlns:a="http://schemas.openxmlformats.org/drawingml/2006/main">
            <a:r>
              <a:t>학습률은 이를 바탕으로 가중치를 수정하는 크기를 조절하며, 주 모델의 기본값은 0.001이다.</a:t>
            </a:r>
          </a:p>
          <a:p xmlns:a="http://schemas.openxmlformats.org/drawingml/2006/main">
            <a:r>
              <a:t/>
            </a:r>
          </a:p>
          <a:p xmlns:a="http://schemas.openxmlformats.org/drawingml/2006/main">
            <a:r>
              <a:t>Adam / β₁·β₂</a:t>
            </a:r>
          </a:p>
          <a:p xmlns:a="http://schemas.openxmlformats.org/drawingml/2006/main">
            <a:r>
              <a:t>Adam은 기울기와 기울기 제곱의 이동평균을 사용해 갱신 크기를 조절한다.</a:t>
            </a:r>
          </a:p>
          <a:p xmlns:a="http://schemas.openxmlformats.org/drawingml/2006/main">
            <a:r>
              <a:t>β₁=0.9, β₂=0.999는 과거 정보의 유지 정도다. ε=10⁻⁸은 분모를 안정화하는 작은 수다.</a:t>
            </a:r>
          </a:p>
          <a:p xmlns:a="http://schemas.openxmlformats.org/drawingml/2006/main">
            <a:r>
              <a:t/>
            </a:r>
          </a:p>
          <a:p xmlns:a="http://schemas.openxmlformats.org/drawingml/2006/main">
            <a:r>
              <a:t>Warmup / clip</a:t>
            </a:r>
          </a:p>
          <a:p xmlns:a="http://schemas.openxmlformats.org/drawingml/2006/main">
            <a:r>
              <a:t>Warmup은 초기 학습률을 서서히 높이는 기간이다. Gaussian은 1,000 updates다.</a:t>
            </a:r>
          </a:p>
          <a:p xmlns:a="http://schemas.openxmlformats.org/drawingml/2006/main">
            <a:r>
              <a:t>Gradient clip 1.0은 기울기 벡터의 크기가 상한을 넘을 때 비례해서 줄이는 설정이다.</a:t>
            </a:r>
          </a:p>
          <a:p xmlns:a="http://schemas.openxmlformats.org/drawingml/2006/main">
            <a:r>
              <a:t/>
            </a:r>
          </a:p>
          <a:p xmlns:a="http://schemas.openxmlformats.org/drawingml/2006/main">
            <a:r>
              <a:t>Weight decay</a:t>
            </a:r>
          </a:p>
          <a:p xmlns:a="http://schemas.openxmlformats.org/drawingml/2006/main">
            <a:r>
              <a:t>큰 가중치를 억제하도록 가중치를 줄이는 규제 설정이다. 이 실험은 0으로 둔다.</a:t>
            </a:r>
          </a:p>
          <a:p xmlns:a="http://schemas.openxmlformats.org/drawingml/2006/main">
            <a:r>
              <a:t>D1-S는 warmup과 gradient clip을 사용하지 않으며, 규모 확대 모델은 둘 다 사용한다.</a:t>
            </a:r>
          </a:p>
          <a:p xmlns:a="http://schemas.openxmlformats.org/drawingml/2006/main">
            <a:r>
              <a:t/>
            </a:r>
          </a:p>
          <a:p xmlns:a="http://schemas.openxmlformats.org/drawingml/2006/main">
            <a:r>
              <a:t>Adam은 bias correction을 사용한다. 이동평균이 0에서 시작할 때 생기는 초기 편향을 보정하는 설정이다. Gaussian의 학습률은 lr_u=0.001×min((u+1)/1000,1)이다. 규모 확대 모델의 목표 학습률은 0.00075다. Gradient norm clipping은 기울기를 제한하고, x0 clipping은 예측 픽셀 값을 제한하므로 서로 다른 동작이다. Adam의 β₁·β₂와 확산 잡음 스케줄의 β도 다르다.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실험은 5 pipelines × Main/Shuffled × seeds 0,1,2=30 runs. 각 run은 40,000 updates×batch256=10,240,000 새 쌍 추출. 동일 source의 같은 seed는 메시지 stream을 공유한다. Main/Shuffled는 메시지·초기 가중치·corruption 난수를 공유한다. 최종 checkpoint만 평가한다. Adam beta=(0.9,0.999), epsilon=1e-8, bias correction true, weight decay 0.</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Loss / 손실 함수</a:t>
            </a:r>
          </a:p>
          <a:p xmlns:a="http://schemas.openxmlformats.org/drawingml/2006/main">
            <a:r>
              <a:t>모델 예측과 정답 사이의 오차를 수치로 나타내며, 학습은 이를 줄이도록 진행한다.</a:t>
            </a:r>
          </a:p>
          <a:p xmlns:a="http://schemas.openxmlformats.org/drawingml/2006/main">
            <a:r>
              <a:t>이 실험은 길이 예측의 오차와 실제 메시지 내용인 payload의 오차를 더한다.</a:t>
            </a:r>
          </a:p>
          <a:p xmlns:a="http://schemas.openxmlformats.org/drawingml/2006/main">
            <a:r>
              <a:t/>
            </a:r>
          </a:p>
          <a:p xmlns:a="http://schemas.openxmlformats.org/drawingml/2006/main">
            <a:r>
              <a:t>CE / 교차 엔트로피</a:t>
            </a:r>
          </a:p>
          <a:p xmlns:a="http://schemas.openxmlformats.org/drawingml/2006/main">
            <a:r>
              <a:t>Cross-entropy는 정답 기호에 준 확률이 낮을수록 커지는 분류 손실이다.</a:t>
            </a:r>
          </a:p>
          <a:p xmlns:a="http://schemas.openxmlformats.org/drawingml/2006/main">
            <a:r>
              <a:t>예를 들어 정답 토큰의 확률을 0.1보다 0.9로 예측할 때 손실이 작다.</a:t>
            </a:r>
          </a:p>
          <a:p xmlns:a="http://schemas.openxmlformats.org/drawingml/2006/main">
            <a:r>
              <a:t/>
            </a:r>
          </a:p>
          <a:p xmlns:a="http://schemas.openxmlformats.org/drawingml/2006/main">
            <a:r>
              <a:t>MSE / 평균제곱오차</a:t>
            </a:r>
          </a:p>
          <a:p xmlns:a="http://schemas.openxmlformats.org/drawingml/2006/main">
            <a:r>
              <a:t>Mean squared error는 예측값과 정답의 차이를 제곱해 평균한다.</a:t>
            </a:r>
          </a:p>
          <a:p xmlns:a="http://schemas.openxmlformats.org/drawingml/2006/main">
            <a:r>
              <a:t>예를 들어 픽셀 정답 0.8, 예측 0.5이면 그 픽셀의 제곱오차는 0.09다.</a:t>
            </a:r>
          </a:p>
          <a:p xmlns:a="http://schemas.openxmlformats.org/drawingml/2006/main">
            <a:r>
              <a:t/>
            </a:r>
          </a:p>
          <a:p xmlns:a="http://schemas.openxmlformats.org/drawingml/2006/main">
            <a:r>
              <a:t>활성 영역 / mask</a:t>
            </a:r>
          </a:p>
          <a:p xmlns:a="http://schemas.openxmlformats.org/drawingml/2006/main">
            <a:r>
              <a:t>Gaussian은 실제 메시지가 차지하는 픽셀의 MSE를 균일하게 평균한다.</a:t>
            </a:r>
          </a:p>
          <a:p xmlns:a="http://schemas.openxmlformats.org/drawingml/2006/main">
            <a:r>
              <a:t>Discrete는 가린 payload 토큰의 CE를 평균한다. 빈 자리와 고정 구조는 따로 다룬다.</a:t>
            </a:r>
          </a:p>
          <a:p xmlns:a="http://schemas.openxmlformats.org/drawingml/2006/main">
            <a:r>
              <a:t/>
            </a:r>
          </a:p>
          <a:p xmlns:a="http://schemas.openxmlformats.org/drawingml/2006/main">
            <a:r>
              <a:t>길이 CE는 길이 4–31의 28가지 범주를 분류하는 오차다. Gaussian MSE는 실제 payload 픽셀의 채널 0에서 계산한다. Discrete의 mask는 어떤 토큰을 가릴지 나타내고, 이미지의 validity mask는 실제 메시지 슬롯과 빈 슬롯을 구분한다. CE와 MSE를 설명한 숫자는 실험 측정값이 아닌 가상 예시다.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 / t / β / x₀</a:t>
            </a:r>
          </a:p>
          <a:p xmlns:a="http://schemas.openxmlformats.org/drawingml/2006/main">
            <a:r>
              <a:t>T=1,000은 학습 잡음 단계의 수, t는 선택한 잡음 시점이다.</a:t>
            </a:r>
          </a:p>
          <a:p xmlns:a="http://schemas.openxmlformats.org/drawingml/2006/main">
            <a:r>
              <a:t>β=0.0001–0.02는 각 단계의 잡음 분산 설정이며, x₀는 잡음을 넣기 전 원본 이미지다.</a:t>
            </a:r>
          </a:p>
          <a:p xmlns:a="http://schemas.openxmlformats.org/drawingml/2006/main">
            <a:r>
              <a:t/>
            </a:r>
          </a:p>
          <a:p xmlns:a="http://schemas.openxmlformats.org/drawingml/2006/main">
            <a:r>
              <a:t>Sampler / DDIM / η</a:t>
            </a:r>
          </a:p>
          <a:p xmlns:a="http://schemas.openxmlformats.org/drawingml/2006/main">
            <a:r>
              <a:t>Sampler는 모델 예측을 사용해 새 후보를 만드는 절차다. DDIM은 선택한</a:t>
            </a:r>
          </a:p>
          <a:p xmlns:a="http://schemas.openxmlformats.org/drawingml/2006/main">
            <a:r>
              <a:t>시점들을 따라 이미지를 복원한다. η=0은 복원 단계마다 추가 잡음을 넣지 않는 설정이다.</a:t>
            </a:r>
          </a:p>
          <a:p xmlns:a="http://schemas.openxmlformats.org/drawingml/2006/main">
            <a:r>
              <a:t/>
            </a:r>
          </a:p>
          <a:p xmlns:a="http://schemas.openxmlformats.org/drawingml/2006/main">
            <a:r>
              <a:t>생성 steps / NFE</a:t>
            </a:r>
          </a:p>
          <a:p xmlns:a="http://schemas.openxmlformats.org/drawingml/2006/main">
            <a:r>
              <a:t>생성 steps는 실제 복원 반복 수다. NFE(Number of Function Evaluations)는</a:t>
            </a:r>
          </a:p>
          <a:p xmlns:a="http://schemas.openxmlformats.org/drawingml/2006/main">
            <a:r>
              <a:t>모델 평가 횟수다. Gaussian은 길이 1회+25 steps=26, Discrete는 1+32=33이다.</a:t>
            </a:r>
          </a:p>
          <a:p xmlns:a="http://schemas.openxmlformats.org/drawingml/2006/main">
            <a:r>
              <a:t/>
            </a:r>
          </a:p>
          <a:p xmlns:a="http://schemas.openxmlformats.org/drawingml/2006/main">
            <a:r>
              <a:t>Interval / temperature</a:t>
            </a:r>
          </a:p>
          <a:p xmlns:a="http://schemas.openxmlformats.org/drawingml/2006/main">
            <a:r>
              <a:t>Discrete의 interval은 가린 토큰을 채우는 생성 시간의 구간이다.</a:t>
            </a:r>
          </a:p>
          <a:p xmlns:a="http://schemas.openxmlformats.org/drawingml/2006/main">
            <a:r>
              <a:t>Temperature는 기호 확률의 집중도를 조절한다. 1.0은 그 분포를 추가로 날카롭게 하지 않는다.</a:t>
            </a:r>
          </a:p>
          <a:p xmlns:a="http://schemas.openxmlformats.org/drawingml/2006/main">
            <a:r>
              <a:t/>
            </a:r>
          </a:p>
          <a:p xmlns:a="http://schemas.openxmlformats.org/drawingml/2006/main">
            <a:r>
              <a:t>DDIM은 Denoising Diffusion Implicit Models의 약어다. Gaussian의 초기 잡음과 길이 추출에는 후보별 난수 키를 사용한다. 이 실험의 NFE 집계는 길이 head 1회를 포함한다. 한 번의 모델 평가 비용은 구조마다 다르므로 NFE가 같아도 실행 시간은 같지 않다. Discrete는 32 intervals 동안 이미 채운 토큰을 다시 가리지 않는다. Gaussian은 x0 예측을 [-1,1]로 제한한다. 학습 단계 T, 생성 steps, MD5 계산 단계 r를 구분한다.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G3-U는 width32 U-Net, x0 prediction, length CE + 활성 payload pixel 균일 MSE를 쓴다. T=1000, linear beta=0.0001~0.02. lr은 첫1000 updates 선형 warmup 후0.001 고정, gradient norm clip1.0. 선택된 DDIM25는 세 Gaussian 모두 동일하며 eta0이다. NFE26은 길이 결정1회+denoiser25회이다. x0는 [-1,1]로 clip한다. 25/50/100 중 synthetic 개발 조건과 중복 기준을 통과하는 최소 step을 선택했다.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D1-S embedding16, hidden128. P vocabulary97=94+PAD/EOS/MASK, R vocabulary259=256+PAD/EOS/MASK. Sampling payload logits는 허용 source 상태로 제한한다. t uniform(0,1) masking 학습. 길이 CE + masked payload CE. 32intervals, NFE33, temperature1, remask 없음. lr0.001 고정, warmup0, gradient clip없음. P-DISC generation batch2048, R-DISC256.</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실험은 Main과 Random, Main과 Shuffled를 비교한다. Shuffled는 각 batch 안에서 조건을 순열로 재배정한다. MC는 동일한 Main 모델에 다른 목표 조건을 넣는 대조로 양성 대조와 규모 탐침에서 사용한다.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 trial</a:t>
            </a:r>
          </a:p>
          <a:p xmlns:a="http://schemas.openxmlformats.org/drawingml/2006/main">
            <a:r>
              <a:t>Target은 시험할 목표 해시값이고, trial은 그 값에 대한 한 번의 탐색 평가다.</a:t>
            </a:r>
          </a:p>
          <a:p xmlns:a="http://schemas.openxmlformats.org/drawingml/2006/main">
            <a:r>
              <a:t>1,024개 목표값에서 뽑은 값을 다시 뽑을 수 있는 복원추출을 하므로, 목표값이 반복될 수 있다.</a:t>
            </a:r>
          </a:p>
          <a:p xmlns:a="http://schemas.openxmlformats.org/drawingml/2006/main">
            <a:r>
              <a:t/>
            </a:r>
          </a:p>
          <a:p xmlns:a="http://schemas.openxmlformats.org/drawingml/2006/main">
            <a:r>
              <a:t>Candidate / K</a:t>
            </a:r>
          </a:p>
          <a:p xmlns:a="http://schemas.openxmlformats.org/drawingml/2006/main">
            <a:r>
              <a:t>Candidate는 모델 또는 Random이 만든 입력 후보다. K=100은 trial·seed별로</a:t>
            </a:r>
          </a:p>
          <a:p xmlns:a="http://schemas.openxmlformats.org/drawingml/2006/main">
            <a:r>
              <a:t>허용하는 시도 수다. 중복 후보와 형식이 잘못된 후보도 시도 수를 소비한다.</a:t>
            </a:r>
          </a:p>
          <a:p xmlns:a="http://schemas.openxmlformats.org/drawingml/2006/main">
            <a:r>
              <a:t/>
            </a:r>
          </a:p>
          <a:p xmlns:a="http://schemas.openxmlformats.org/drawingml/2006/main">
            <a:r>
              <a:t>Success@100</a:t>
            </a:r>
          </a:p>
          <a:p xmlns:a="http://schemas.openxmlformats.org/drawingml/2006/main">
            <a:r>
              <a:t>후보 100개 중 하나 이상이 목표값과 일치한 trial의 비율이다.</a:t>
            </a:r>
          </a:p>
          <a:p xmlns:a="http://schemas.openxmlformats.org/drawingml/2006/main">
            <a:r>
              <a:t>가상 예: 100 trials 중 3 trials에서 일치 후보가 나오면 Success@100은 3%다.</a:t>
            </a:r>
          </a:p>
          <a:p xmlns:a="http://schemas.openxmlformats.org/drawingml/2006/main">
            <a:r>
              <a:t/>
            </a:r>
          </a:p>
          <a:p xmlns:a="http://schemas.openxmlformats.org/drawingml/2006/main">
            <a:r>
              <a:t>Seed 평균 / 짝 비교</a:t>
            </a:r>
          </a:p>
          <a:p xmlns:a="http://schemas.openxmlformats.org/drawingml/2006/main">
            <a:r>
              <a:t>각 trial에서 3개 seed의 Main과 대조군 성공 여부 차이를 평균한다.</a:t>
            </a:r>
          </a:p>
          <a:p xmlns:a="http://schemas.openxmlformats.org/drawingml/2006/main">
            <a:r>
              <a:t>그 뒤 trial 전체의 평균과 불확실성을 구한다. 모든 방법은 같은 trial 목록을 사용한다.</a:t>
            </a:r>
          </a:p>
          <a:p xmlns:a="http://schemas.openxmlformats.org/drawingml/2006/main">
            <a:r>
              <a:t/>
            </a:r>
          </a:p>
          <a:p xmlns:a="http://schemas.openxmlformats.org/drawingml/2006/main">
            <a:r>
              <a:t>Trial별 차이는 d_t=mean_s(M_s,t-C_s,t)로 구하며 전체 효과는 mean_t(d_t)다. 표시 성공률은 3개 seed의 평균이다. 16,384 trials × 3 seeds를 49,152개의 독립 target 표본으로 해석하지 않는다. 같은 target을 다시 평가해도 후보 생성 난수는 달라진다. Invalid는 입력 형식 조건을 위반한 후보, duplicate는 같은 trial 안에서 반복한 후보다. 둘 다 K를 소비한다. 학습·검증·시험 group은 서로 다른 목표 해시값 집합이다.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ΔR / ΔS</a:t>
            </a:r>
          </a:p>
          <a:p xmlns:a="http://schemas.openxmlformats.org/drawingml/2006/main">
            <a:r>
              <a:t>ΔR은 Main 성공률에서 Random 성공률을 뺀 값이다.</a:t>
            </a:r>
          </a:p>
          <a:p xmlns:a="http://schemas.openxmlformats.org/drawingml/2006/main">
            <a:r>
              <a:t>ΔS는 Main에서 Shuffled를 뺀 값이다. 양수이면 Main의 성공률이 더 높다.</a:t>
            </a:r>
          </a:p>
          <a:p xmlns:a="http://schemas.openxmlformats.org/drawingml/2006/main">
            <a:r>
              <a:t/>
            </a:r>
          </a:p>
          <a:p xmlns:a="http://schemas.openxmlformats.org/drawingml/2006/main">
            <a:r>
              <a:t>% / %p</a:t>
            </a:r>
          </a:p>
          <a:p xmlns:a="http://schemas.openxmlformats.org/drawingml/2006/main">
            <a:r>
              <a:t>%는 성공률 자체이고, %p는 두 성공률의 차이를 나타내는 퍼센트포인트다.</a:t>
            </a:r>
          </a:p>
          <a:p xmlns:a="http://schemas.openxmlformats.org/drawingml/2006/main">
            <a:r>
              <a:t>가상 예: 2.4%에서 2.9%로 증가하면 +0.5%p이며, 상대 증가는 약 20.8%다.</a:t>
            </a:r>
          </a:p>
          <a:p xmlns:a="http://schemas.openxmlformats.org/drawingml/2006/main">
            <a:r>
              <a:t/>
            </a:r>
          </a:p>
          <a:p xmlns:a="http://schemas.openxmlformats.org/drawingml/2006/main">
            <a:r>
              <a:t>δ / 최소 관심 효과</a:t>
            </a:r>
          </a:p>
          <a:p xmlns:a="http://schemas.openxmlformats.org/drawingml/2006/main">
            <a:r>
              <a:t>δ=0.005는 성공률 차이 +0.5%p를 의미한다. 실험 전에 배제 여부를</a:t>
            </a:r>
          </a:p>
          <a:p xmlns:a="http://schemas.openxmlformats.org/drawingml/2006/main">
            <a:r>
              <a:t>판단할 개선 크기로 정했다. δ는 오차 범위나 통계적 유의수준과는 다른 값이다.</a:t>
            </a:r>
          </a:p>
          <a:p xmlns:a="http://schemas.openxmlformats.org/drawingml/2006/main">
            <a:r>
              <a:t/>
            </a:r>
          </a:p>
          <a:p xmlns:a="http://schemas.openxmlformats.org/drawingml/2006/main">
            <a:r>
              <a:t>추정값 / 상한</a:t>
            </a:r>
          </a:p>
          <a:p xmlns:a="http://schemas.openxmlformats.org/drawingml/2006/main">
            <a:r>
              <a:t>추정값은 관측한 효과의 중심값이고, 상한은 등록된 구간의 높은 쪽 끝값이다.</a:t>
            </a:r>
          </a:p>
          <a:p xmlns:a="http://schemas.openxmlformats.org/drawingml/2006/main">
            <a:r>
              <a:t>실측 예: P-DISC의 ΔS는 +0.069%p, 구간 상한은 +0.378%p다.</a:t>
            </a:r>
          </a:p>
          <a:p xmlns:a="http://schemas.openxmlformats.org/drawingml/2006/main">
            <a:r>
              <a:t/>
            </a:r>
          </a:p>
          <a:p xmlns:a="http://schemas.openxmlformats.org/drawingml/2006/main">
            <a:r>
              <a:t>P-DISC의 ΔS는 0.0006917317708333336이고 구간은 [-0.002394761626924022, 0.003778225168590689]이다. %p로 표현하려면 각각 100을 곱한다. δ=0.005를 0.005%나 상대 0.5% 증가로 해석하지 않는다. 등록 규칙은 양성 여부를 먼저 확인하고, 양성이 아닌 경우 두 대조군의 상한이 δ 미만이면 한계 기각한다.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 표준오차</a:t>
            </a:r>
          </a:p>
          <a:p xmlns:a="http://schemas.openxmlformats.org/drawingml/2006/main">
            <a:r>
              <a:t>Standard error는 효과 추정값의 표본 변동을 나타내는 크기다.</a:t>
            </a:r>
          </a:p>
          <a:p xmlns:a="http://schemas.openxmlformats.org/drawingml/2006/main">
            <a:r>
              <a:t>여기서는 trial별 짝 차이의 표준편차를 trial 수의 제곱근으로 나눈다.</a:t>
            </a:r>
          </a:p>
          <a:p xmlns:a="http://schemas.openxmlformats.org/drawingml/2006/main">
            <a:r>
              <a:t/>
            </a:r>
          </a:p>
          <a:p xmlns:a="http://schemas.openxmlformats.org/drawingml/2006/main">
            <a:r>
              <a:t>신뢰구간 / α</a:t>
            </a:r>
          </a:p>
          <a:p xmlns:a="http://schemas.openxmlformats.org/drawingml/2006/main">
            <a:r>
              <a:t>신뢰구간은 정한 절차와 가정 아래 효과의 불확실성을 표현하는 구간이다.</a:t>
            </a:r>
          </a:p>
          <a:p xmlns:a="http://schemas.openxmlformats.org/drawingml/2006/main">
            <a:r>
              <a:t>α=0.05는 전체 오류 확률의 목표 상한이다. 관측한 효과가 95% 확률로 참이라는 뜻은 아니다.</a:t>
            </a:r>
          </a:p>
          <a:p xmlns:a="http://schemas.openxmlformats.org/drawingml/2006/main">
            <a:r>
              <a:t/>
            </a:r>
          </a:p>
          <a:p xmlns:a="http://schemas.openxmlformats.org/drawingml/2006/main">
            <a:r>
              <a:t>동시 구간 / 보정</a:t>
            </a:r>
          </a:p>
          <a:p xmlns:a="http://schemas.openxmlformats.org/drawingml/2006/main">
            <a:r>
              <a:t>모델 5개, 대조군 2개, 양쪽 구간, 여러 분석 시점을 함께 고려한다.</a:t>
            </a:r>
          </a:p>
          <a:p xmlns:a="http://schemas.openxmlformats.org/drawingml/2006/main">
            <a:r>
              <a:t>Bonferroni 보정은 오류 예산을 나누어 여러 비교에서 잘못 결론 낼 위험을 제한한다.</a:t>
            </a:r>
          </a:p>
          <a:p xmlns:a="http://schemas.openxmlformats.org/drawingml/2006/main">
            <a:r>
              <a:t/>
            </a:r>
          </a:p>
          <a:p xmlns:a="http://schemas.openxmlformats.org/drawingml/2006/main">
            <a:r>
              <a:t>Look / 순차 분석</a:t>
            </a:r>
          </a:p>
          <a:p xmlns:a="http://schemas.openxmlformats.org/drawingml/2006/main">
            <a:r>
              <a:t>Look은 누적 결과를 분석하는 시점이다. 8,192 trials마다 최대 3회 분석한다.</a:t>
            </a:r>
          </a:p>
          <a:p xmlns:a="http://schemas.openxmlformats.org/drawingml/2006/main">
            <a:r>
              <a:t>이번에는 2차 분석의 16,384 trials에서 모든 파이프라인을 판정하고 함께 종료했다.</a:t>
            </a:r>
          </a:p>
          <a:p xmlns:a="http://schemas.openxmlformats.org/drawingml/2006/main">
            <a:r>
              <a:t/>
            </a:r>
          </a:p>
          <a:p xmlns:a="http://schemas.openxmlformats.org/drawingml/2006/main">
            <a:r>
              <a:t>신뢰수준은 동일 절차를 반복할 때 구간의 포함 성질을 관리한다는 의미다. 관측한 한 구간에 고정된 효과가 들어갈 확률을 95%라고 해석하지 않는다. 전체 α를 5개 파이프라인 × 2개 대조군 × 양측으로 나누고, 분석 시점에 0.1/0.4/0.5로 배분한다. z 한계는 3.4808, 3.0902, 3.0233이다. 개별 95% 구간의 ±1.96SE를 쓰지 않는다. 추론은 고정된 test pool, checkpoint, seed에 조건부다.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Success@100은 후보100개 내 하나 이상의 hit. invalid와 duplicate도 기회 소비. 30 checkpoint 봉인 후 test1024 목표값에서 iid 복원추출한 최대24576 trial 목록을 공유한다. trial별 3seed 차이를 평균하여 paired 통계를 계산한다. alpha.05, 5pipelines×2controls×2sides, looks alpha shares .1/.4/.5. z3.4808,3.0902,3.0233. 양성 판정을 먼저 확인한 뒤 bounded rejection 규칙을 적용한다.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시간은 원장에 기록된 단계별 청구시간의 합계이며 wall-clock 기간과 구분한다. Stage R은 양성인 경우만 수행한다. status TERMINAL, pending[], failures[]. Stage C budget_stop=false.</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 Random</a:t>
            </a:r>
          </a:p>
          <a:p xmlns:a="http://schemas.openxmlformats.org/drawingml/2006/main">
            <a:r>
              <a:t>Main은 올바른 해시 조건으로 학습한 모델이다. Random은 학습하지 않고</a:t>
            </a:r>
          </a:p>
          <a:p xmlns:a="http://schemas.openxmlformats.org/drawingml/2006/main">
            <a:r>
              <a:t>사전 입력 분포(prior)에서 길이와 기호를 뽑는다. 두 방법의 생성 성공률을 비교한다.</a:t>
            </a:r>
          </a:p>
          <a:p xmlns:a="http://schemas.openxmlformats.org/drawingml/2006/main">
            <a:r>
              <a:t/>
            </a:r>
          </a:p>
          <a:p xmlns:a="http://schemas.openxmlformats.org/drawingml/2006/main">
            <a:r>
              <a:t>Shuffled / MC</a:t>
            </a:r>
          </a:p>
          <a:p xmlns:a="http://schemas.openxmlformats.org/drawingml/2006/main">
            <a:r>
              <a:t>Shuffled는 학습 중 입력과 조건의 대응을 섞는다. MC는 학습을 바꾸지 않고</a:t>
            </a:r>
          </a:p>
          <a:p xmlns:a="http://schemas.openxmlformats.org/drawingml/2006/main">
            <a:r>
              <a:t>같은 Main에 다른 target 조건을 입력한다. 각각 학습 대응과 생성 조건의 역할을 점검한다.</a:t>
            </a:r>
          </a:p>
          <a:p xmlns:a="http://schemas.openxmlformats.org/drawingml/2006/main">
            <a:r>
              <a:t/>
            </a:r>
          </a:p>
          <a:p xmlns:a="http://schemas.openxmlformats.org/drawingml/2006/main">
            <a:r>
              <a:t>Synthetic / 적격성</a:t>
            </a:r>
          </a:p>
          <a:p xmlns:a="http://schemas.openxmlformats.org/drawingml/2006/main">
            <a:r>
              <a:t>Synthetic은 해시 대신 접두 기호처럼 학습 가능한 조건을 만든 과제다.</a:t>
            </a:r>
          </a:p>
          <a:p xmlns:a="http://schemas.openxmlformats.org/drawingml/2006/main">
            <a:r>
              <a:t>반전 조건은 목표 12 bits의 0과 1을 뒤집는다. 적격성 검사는 정상·반전 요청에</a:t>
            </a:r>
          </a:p>
          <a:p xmlns:a="http://schemas.openxmlformats.org/drawingml/2006/main">
            <a:r>
              <a:t>맞춰 유효한 입력을 생성하는지 확인한다.</a:t>
            </a:r>
          </a:p>
          <a:p xmlns:a="http://schemas.openxmlformats.org/drawingml/2006/main">
            <a:r>
              <a:t/>
            </a:r>
          </a:p>
          <a:p xmlns:a="http://schemas.openxmlformats.org/drawingml/2006/main">
            <a:r>
              <a:t>양성 대조 / 재현</a:t>
            </a:r>
          </a:p>
          <a:p xmlns:a="http://schemas.openxmlformats.org/drawingml/2006/main">
            <a:r>
              <a:t>양성 대조는 구조를 이용할 수 있는 쉬운 과제로 실험 장치를 확인하는 절차다.</a:t>
            </a:r>
          </a:p>
          <a:p xmlns:a="http://schemas.openxmlformats.org/drawingml/2006/main">
            <a:r>
              <a:t>여기서는 r=4를 썼다. 재현은 주 실험의 양성이 별도 위치 W4에서도 나타나는지 확인한다.</a:t>
            </a:r>
          </a:p>
          <a:p xmlns:a="http://schemas.openxmlformats.org/drawingml/2006/main">
            <a:r>
              <a:t/>
            </a:r>
          </a:p>
          <a:p xmlns:a="http://schemas.openxmlformats.org/drawingml/2006/main">
            <a:r>
              <a:t>P의 입력 범위는 ASCII 33–126의 94개 기호, R은 0–255의 256개 바이트다. 길이는 4–31에서 균등하게 뽑고, 길이가 주어지면 각 위치의 바이트를 독립적인 균등분포에서 뽑는다. 이를 iid uniform이라고 한다. MC는 기록에 쓰인 대조군 식별자로 유지한다. CLP에서 여러 잡음을 추출하는 Monte Carlo 평균과 구분한다. Synthetic의 joint는 유효한 입력이면서 요청 조건도 만족한 수다. W4 재현은 양성 파이프라인이 없어 수행하지 않았다.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조건은 P 대문자hex prefix3, R nibble byte prefix3. 각 seed별 정상/반전 512개 조건에서 valid이면서 요청조건 일치인 joint가 모두512. CLP4096쌍 z&gt;3.26도 통과했다. 이는 학습 가능한 조건을 사용한다는 증거이며 정규MD5 성공을 보장하지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pipeline, seed별16384trials. 표시값은 3seed 성공률 평균이다. seed를 서로 독립인 target 표본으로 합산하지 않는다. 이론값1-(1-2^-12)^100=2.412%는 iid uniform hash 가정의 참고값이다. 검정은 실측 Random/Shuffled와 paired 비교한다. 정확한 값:</a:t>
            </a:r>
          </a:p>
          <a:p xmlns:a="http://schemas.openxmlformats.org/drawingml/2006/main">
            <a:r>
              <a:t>P-G-BGV: Main 2.309%, Random 2.494%, Shuffled 2.401%</a:t>
            </a:r>
          </a:p>
          <a:p xmlns:a="http://schemas.openxmlformats.org/drawingml/2006/main">
            <a:r>
              <a:t>P-G-CGGE: Main 2.490%, Random 2.494%, Shuffled 2.431%</a:t>
            </a:r>
          </a:p>
          <a:p xmlns:a="http://schemas.openxmlformats.org/drawingml/2006/main">
            <a:r>
              <a:t>P-DISC: Main 2.551%, Random 2.494%, Shuffled 2.482%</a:t>
            </a:r>
          </a:p>
          <a:p xmlns:a="http://schemas.openxmlformats.org/drawingml/2006/main">
            <a:r>
              <a:t>R-G-BGV: Main 2.407%, Random 2.445%, Shuffled 2.427%</a:t>
            </a:r>
          </a:p>
          <a:p xmlns:a="http://schemas.openxmlformats.org/drawingml/2006/main">
            <a:r>
              <a:t>R-DISC: Main 2.411%, Random 2.445%, Shuffled 2.411%</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아래는 2차 분석의 Bonferroni 동시구간으로 z3.090232306. 일반적인 개별95%구간과 다르다. 모든 구간은0을 포함하고 상한은delta .005미만. 효과 정확히0을 증명하는 결과는 아니다.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첫look: P-G-BGV,R-DISC bounded rejection. 다른3개 미결. 공동 중단이므로 첫look에서 분류된 파이프라인도 두번째block 참여. 두번째look 모두 REJECTED_BOUNDED. trials16384, budget_stopfalse.</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r4 W1, trials4096, seed0, K100. Main-Random 및 Main-MC의 one-sided lower&gt;0. CLP INFO4도 모두pass. source 분포가 다르므로 source간 성능차이를 모델의 순수능력 차이로 일반화하지 않는다.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CLP</a:t>
            </a:r>
          </a:p>
          <a:p xmlns:a="http://schemas.openxmlformats.org/drawingml/2006/main">
            <a:r>
              <a:t>Conditional Likelihood Probe는 올바른 입력·조건 쌍을 모델이 더 선호하는지</a:t>
            </a:r>
          </a:p>
          <a:p xmlns:a="http://schemas.openxmlformats.org/drawingml/2006/main">
            <a:r>
              <a:t>살펴보는 진단이다. 조건을 서로 바꾼 쌍과 모델 점수를 비교한다.</a:t>
            </a:r>
          </a:p>
          <a:p xmlns:a="http://schemas.openxmlformats.org/drawingml/2006/main">
            <a:r>
              <a:t/>
            </a:r>
          </a:p>
          <a:p xmlns:a="http://schemas.openxmlformats.org/drawingml/2006/main">
            <a:r>
              <a:t>모델 점수 s / 차이 D</a:t>
            </a:r>
          </a:p>
          <a:p xmlns:a="http://schemas.openxmlformats.org/drawingml/2006/main">
            <a:r>
              <a:t>점수는 학습 손실의 음수로 구성한다. 두 입력의 올바른 대응 점수 합에서</a:t>
            </a:r>
          </a:p>
          <a:p xmlns:a="http://schemas.openxmlformats.org/drawingml/2006/main">
            <a:r>
              <a:t>교환한 대응 점수 합을 뺀 D가 양수이면 올바른 조건을 선호한다.</a:t>
            </a:r>
          </a:p>
          <a:p xmlns:a="http://schemas.openxmlformats.org/drawingml/2006/main">
            <a:r>
              <a:t/>
            </a:r>
          </a:p>
          <a:p xmlns:a="http://schemas.openxmlformats.org/drawingml/2006/main">
            <a:r>
              <a:t>Draw / z</a:t>
            </a:r>
          </a:p>
          <a:p xmlns:a="http://schemas.openxmlformats.org/drawingml/2006/main">
            <a:r>
              <a:t>점수 계산의 잡음 추출 8회를 평균해 변동을 줄인다. z=평균 D / SE이며,</a:t>
            </a:r>
          </a:p>
          <a:p xmlns:a="http://schemas.openxmlformats.org/drawingml/2006/main">
            <a:r>
              <a:t>차이가 표준오차의 몇 배인지 나타낸다. z가 높을수록 조건 대응의 신호가 강하다.</a:t>
            </a:r>
          </a:p>
          <a:p xmlns:a="http://schemas.openxmlformats.org/drawingml/2006/main">
            <a:r>
              <a:t/>
            </a:r>
          </a:p>
          <a:p xmlns:a="http://schemas.openxmlformats.org/drawingml/2006/main">
            <a:r>
              <a:t>INFO / 보조 진단</a:t>
            </a:r>
          </a:p>
          <a:p xmlns:a="http://schemas.openxmlformats.org/drawingml/2006/main">
            <a:r>
              <a:t>정규 MD5와 r=4의 신호 기준은 z&gt;2.878이다. 규모 확대는 z&gt;3.2905다.</a:t>
            </a:r>
          </a:p>
          <a:p xmlns:a="http://schemas.openxmlformats.org/drawingml/2006/main">
            <a:r>
              <a:t>CLP는 생성 성공률이나 실제 해시 일치를 직접 측정하지 않으므로 주 판정을 바꾸지 않는다.</a:t>
            </a:r>
          </a:p>
          <a:p xmlns:a="http://schemas.openxmlformats.org/drawingml/2006/main">
            <a:r>
              <a:t/>
            </a:r>
          </a:p>
          <a:p xmlns:a="http://schemas.openxmlformats.org/drawingml/2006/main">
            <a:r>
              <a:t>D=s(xi,yi)+s(xj,yj)-s(xi,yj)-s(xj,yi)다. 올바른 대응과 교환한 대응의 계산에 같은 잡음 추출을 공유한다. Gaussian의 점수는 길이 CE와 payload x0-MSE의 음수이며, 정확히 정규화한 입력 로그우도를 계산한다는 뜻은 아니다. CLP_64는 seed별 65,536쌍, CLP_4는 16,384쌍, 규모 확대는 65,536쌍을 쓴다. INFO_64·INFO_4 기준에는 5개 파이프라인 보정을 적용한다. Synthetic 적격성의 CLP 문턱은 3.26이다.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CLP는 올바른 입력조건 대응과 교환한 대응의 모델점수 차이를 검정한다. Monte Carlo draws8. r4 pairs16384, MD5-64 pairs65536/seed 3seed합산. z&gt;2.878 신호기준. 생성 성공률의 주 판정을 변경하지 않는 보조 지표다. 대비 6쌍×2controls 총12건: 동등성범위±.5%p 내8건, 미결4건, 차이검출0건.</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처리량 / burst</a:t>
            </a:r>
          </a:p>
          <a:p xmlns:a="http://schemas.openxmlformats.org/drawingml/2006/main">
            <a:r>
              <a:t>처리량은 1초 동안 처리하는 후보 수다. Burst는 짧은 구간의 생성 처리량,</a:t>
            </a:r>
          </a:p>
          <a:p xmlns:a="http://schemas.openxmlformats.org/drawingml/2006/main">
            <a:r>
              <a:t>지속 처리량은 기록·검증을 포함한 긴 실행의 처리량이다. 비용 비율에는 burst를 썼다.</a:t>
            </a:r>
          </a:p>
          <a:p xmlns:a="http://schemas.openxmlformats.org/drawingml/2006/main">
            <a:r>
              <a:t/>
            </a:r>
          </a:p>
          <a:p xmlns:a="http://schemas.openxmlformats.org/drawingml/2006/main">
            <a:r>
              <a:t>ρ / 비용 비율</a:t>
            </a:r>
          </a:p>
          <a:p xmlns:a="http://schemas.openxmlformats.org/drawingml/2006/main">
            <a:r>
              <a:t>ρ는 직접 무작위 탐색 처리량을 모델의 후보 생성 처리량으로 나눈 값이다.</a:t>
            </a:r>
          </a:p>
          <a:p xmlns:a="http://schemas.openxmlformats.org/drawingml/2006/main">
            <a:r>
              <a:t>P-DISC의 ρ=78.4는 같은 후보 수를 만드는 모델 생성 시간이 약 78.4배라는 뜻이다.</a:t>
            </a:r>
          </a:p>
          <a:p xmlns:a="http://schemas.openxmlformats.org/drawingml/2006/main">
            <a:r>
              <a:t/>
            </a:r>
          </a:p>
          <a:p xmlns:a="http://schemas.openxmlformats.org/drawingml/2006/main">
            <a:r>
              <a:t>후보당 확률 / 손익분기</a:t>
            </a:r>
          </a:p>
          <a:p xmlns:a="http://schemas.openxmlformats.org/drawingml/2006/main">
            <a:r>
              <a:t>후보 1개의 무작위 성공확률은 균등 해시 가정에서 2⁻¹²(약 0.0244%)다.</a:t>
            </a:r>
          </a:p>
          <a:p xmlns:a="http://schemas.openxmlformats.org/drawingml/2006/main">
            <a:r>
              <a:t>생성 비용의 손익분기 확률은 ρ×2⁻¹²이며, P-DISC에서는 약 1.91%다.</a:t>
            </a:r>
          </a:p>
          <a:p xmlns:a="http://schemas.openxmlformats.org/drawingml/2006/main">
            <a:r>
              <a:t/>
            </a:r>
          </a:p>
          <a:p xmlns:a="http://schemas.openxmlformats.org/drawingml/2006/main">
            <a:r>
              <a:t>Success@100 / 학습비</a:t>
            </a:r>
          </a:p>
          <a:p xmlns:a="http://schemas.openxmlformats.org/drawingml/2006/main">
            <a:r>
              <a:t>Success@100은 100개를 묶은 trial의 성공률이므로 후보당 1.91%와 직접 비교하지 않는다.</a:t>
            </a:r>
          </a:p>
          <a:p xmlns:a="http://schemas.openxmlformats.org/drawingml/2006/main">
            <a:r>
              <a:t>총 계산 비용을 논하려면 학습비도 고려해야 하며, 제시한 손익분기는 생성 비용 기준이다.</a:t>
            </a:r>
          </a:p>
          <a:p xmlns:a="http://schemas.openxmlformats.org/drawingml/2006/main">
            <a:r>
              <a:t/>
            </a:r>
          </a:p>
          <a:p xmlns:a="http://schemas.openxmlformats.org/drawingml/2006/main">
            <a:r>
              <a:t>직접 탐색은 단일 CPU core에서 source prior 샘플링과 hashlib MD5를 함께 수행해 1,436,163 메시지/초를 측정했다. 후보가 독립이고 후보당 성공확률이 p로 같을 때 Success@100=1-(1-p)^100이다. 모델 후보의 독립성을 가정하여 실측 성공률을 역변환하지 않는다. 학습비를 여러 질의에 나누어 부담시키는 상각 비용과 생성 비용만의 손익분기를 구분한다. 결과는 측정 장치와 구현에 조건부다.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rho=CPU단일core prior sampling+hashlib 처리량1436163/s를 A-prof-1 burst 모델생성 처리량으로 나눈 값. 손익분기 후보당 확률=rho*2^-12. 표는 학습비를 제외한 비교. 모든C3가SUPPORTED아니므로 C4는NO_ADVANTAGE. 특정 구현과 측정장치의 결과이며 모든 하드웨어에 대한 정리는 아니다.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보조 실험 D1-T-L, Printable, W3 r64. 8layers dim256 heads8 FFN1024 parameters6415308, mainD1S508668의12.61배. batch256 updates160000, lr.00075,warmup1000,clip1.0,seed0. CLP65536pairs criterionz&gt;3.2905267. 생성4096trials K100 기술통계. main결론을 바꾸지 않는 1회 탐침.</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최종상태 TERMINAL, 종합판정 FINAL_REJECTED. 모든5개 REJECTED_BOUNDED. 적격성PASS, 양성대조GEN4/INFO4통과, C4 NO_ADVANTAGE. 결론은 등록된 실험범위에 한정한다.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 / GEN_4 / INFO_4</a:t>
            </a:r>
          </a:p>
          <a:p xmlns:a="http://schemas.openxmlformats.org/drawingml/2006/main">
            <a:r>
              <a:t>PASS는 조건 사용 적격성 통과다. GEN_4는 r=4 생성 성공률이 Random과 MC보다</a:t>
            </a:r>
          </a:p>
          <a:p xmlns:a="http://schemas.openxmlformats.org/drawingml/2006/main">
            <a:r>
              <a:t>높다는 기준 통과, INFO_4는 r=4에서 CLP 조건 정보 신호 기준 통과를 뜻한다.</a:t>
            </a:r>
          </a:p>
          <a:p xmlns:a="http://schemas.openxmlformats.org/drawingml/2006/main">
            <a:r>
              <a:t/>
            </a:r>
          </a:p>
          <a:p xmlns:a="http://schemas.openxmlformats.org/drawingml/2006/main">
            <a:r>
              <a:t>한계 기각</a:t>
            </a:r>
          </a:p>
          <a:p xmlns:a="http://schemas.openxmlformats.org/drawingml/2006/main">
            <a:r>
              <a:t>REJECTED_BOUNDED: 양성이 아니며 두 대조군의 효과 상한이 모두 δ 미만이다.</a:t>
            </a:r>
          </a:p>
          <a:p xmlns:a="http://schemas.openxmlformats.org/drawingml/2006/main">
            <a:r>
              <a:t>이 범위에서 +0.5%p 이상 개선을 배제한다. 정확히 0인 효과를 증명하지는 않는다.</a:t>
            </a:r>
          </a:p>
          <a:p xmlns:a="http://schemas.openxmlformats.org/drawingml/2006/main">
            <a:r>
              <a:t/>
            </a:r>
          </a:p>
          <a:p xmlns:a="http://schemas.openxmlformats.org/drawingml/2006/main">
            <a:r>
              <a:t>종합 기각</a:t>
            </a:r>
          </a:p>
          <a:p xmlns:a="http://schemas.openxmlformats.org/drawingml/2006/main">
            <a:r>
              <a:t>FINAL_REJECTED: 사전 규칙에 따른 실험 전체의 기각 판정이다.</a:t>
            </a:r>
          </a:p>
          <a:p xmlns:a="http://schemas.openxmlformats.org/drawingml/2006/main">
            <a:r>
              <a:t>이번에는 5개 모두 한계 기각이다. 모든 확산 모델의 불가능성을 뜻하지 않는다.</a:t>
            </a:r>
          </a:p>
          <a:p xmlns:a="http://schemas.openxmlformats.org/drawingml/2006/main">
            <a:r>
              <a:t/>
            </a:r>
          </a:p>
          <a:p xmlns:a="http://schemas.openxmlformats.org/drawingml/2006/main">
            <a:r>
              <a:t>계산 우위 / 규모 신호</a:t>
            </a:r>
          </a:p>
          <a:p xmlns:a="http://schemas.openxmlformats.org/drawingml/2006/main">
            <a:r>
              <a:t>NO_ADVANTAGE는 등록된 계산 우위 기준을 충족하지 못했다는 뜻이다.</a:t>
            </a:r>
          </a:p>
          <a:p xmlns:a="http://schemas.openxmlformats.org/drawingml/2006/main">
            <a:r>
              <a:t>SCALE_SIGNAL=false는 이번 규모 확대의 CLP가 신호 기준을 넘지 못했다는 뜻이다.</a:t>
            </a:r>
          </a:p>
          <a:p xmlns:a="http://schemas.openxmlformats.org/drawingml/2006/main">
            <a:r>
              <a:t/>
            </a:r>
          </a:p>
          <a:p xmlns:a="http://schemas.openxmlformats.org/drawingml/2006/main">
            <a:r>
              <a:t>POSITIVE는 주 실험에서 두 대조군에 대한 효과 하한이 모두 0을 넘는 초기 양성 판정이다. 감사와 독립 window 재현까지 통과해야 SUPPORTED가 된다. 이번 실행에는 POSITIVE가 없어 재현 시험을 수행하지 않았다. EQUIVALENT_WITHIN_DELTA는 파이프라인 간 효과 차이의 구간이 ±δ 안에 든다는 보조 판정이다. UNDETERMINED는 동등성이나 차이를 확정하지 못한 상태이며 효과가 없다는 증명이 아니다.</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추론은 봉인된 test pool, checkpoint, seeds에 조건부이다. 전체MD5역상, 다른q, 다른모델 및 더많은학습, SHA256과 보안붕괴에 대해 결론내리지않는다. 모든pipeline동등성도 미결4건 때문에 단정불가. W4재현은 양성파이프라인없어미실행.</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등록 프로토콜 원문: /Users/choisoonwook/Experiments_local/DHI_AI_gen/examples/v6-protocol.json</a:t>
            </a:r>
          </a:p>
          <a:p xmlns:a="http://schemas.openxmlformats.org/drawingml/2006/main">
            <a:r>
              <a:t>연구계획: /Users/choisoonwook/Experiments_local/DHI_AI_gen/RESEARCH_PLAN_V6.md</a:t>
            </a:r>
          </a:p>
          <a:p xmlns:a="http://schemas.openxmlformats.org/drawingml/2006/main">
            <a:r>
              <a:t>/Users/choisoonwook/Experiments_local/DHI_AI_gen/local_experiment_archive/runs/v6-study-r2/protocol.frozen.json</a:t>
            </a:r>
          </a:p>
          <a:p xmlns:a="http://schemas.openxmlformats.org/drawingml/2006/main">
            <a:r>
              <a:t>/Users/choisoonwook/Experiments_local/DHI_AI_gen/local_experiment_archive/runs/v6-study-r2/decision.json</a:t>
            </a:r>
          </a:p>
          <a:p xmlns:a="http://schemas.openxmlformats.org/drawingml/2006/main">
            <a:r>
              <a:t>/Users/choisoonwook/Experiments_local/DHI_AI_gen/local_experiment_archive/runs/v6-study-r2/A.json</a:t>
            </a:r>
          </a:p>
          <a:p xmlns:a="http://schemas.openxmlformats.org/drawingml/2006/main">
            <a:r>
              <a:t>/Users/choisoonwook/Experiments_local/DHI_AI_gen/local_experiment_archive/runs/v6-study-r2/C.json</a:t>
            </a:r>
          </a:p>
          <a:p xmlns:a="http://schemas.openxmlformats.org/drawingml/2006/main">
            <a:r>
              <a:t>/Users/choisoonwook/Experiments_local/DHI_AI_gen/local_experiment_archive/runs/v6-study-r2/P.json</a:t>
            </a:r>
          </a:p>
          <a:p xmlns:a="http://schemas.openxmlformats.org/drawingml/2006/main">
            <a:r>
              <a:t>/Users/choisoonwook/Experiments_local/DHI_AI_gen/local_experiment_archive/runs/v6-study-r2/S.json</a:t>
            </a:r>
          </a:p>
          <a:p xmlns:a="http://schemas.openxmlformats.org/drawingml/2006/main">
            <a:r>
              <a:t>/Users/choisoonwook/Experiments_local/DHI_AI_gen/local_experiment_archive/runs/v6-study-r2/budget.json</a:t>
            </a:r>
          </a:p>
          <a:p xmlns:a="http://schemas.openxmlformats.org/drawingml/2006/main">
            <a:r>
              <a:t>/Users/choisoonwook/Experiments_local/DHI_AI_gen/local_experiment_archive/runs/v6-study-r2/FINAL_REPORT_KO.md</a:t>
            </a:r>
          </a:p>
          <a:p xmlns:a="http://schemas.openxmlformats.org/drawingml/2006/main">
            <a:r>
              <a:t/>
            </a:r>
          </a:p>
          <a:p xmlns:a="http://schemas.openxmlformats.org/drawingml/2006/main">
            <a:r>
              <a:t>자료 위치: /Users/choisoonwook/Experiments_local/DHI_AI_gen/local_experiment_archive/runs/v6-study-r2</a:t>
            </a:r>
          </a:p>
          <a:p xmlns:a="http://schemas.openxmlformats.org/drawingml/2006/main">
            <a:r>
              <a:t>기준 문서: /Users/choisoonwook/Experiments_local/DHI_AI_gen/RESEARCH_PLAN_V6.md</a:t>
            </a:r>
          </a:p>
          <a:p xmlns:a="http://schemas.openxmlformats.org/drawingml/2006/main">
            <a:r>
              <a:t>등록값: /Users/choisoonwook/Experiments_local/DHI_AI_gen/examples/v6-protocol.json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f10efc2b8447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50ae8d88fa4df8" /><Relationship Type="http://schemas.openxmlformats.org/officeDocument/2006/relationships/slideLayout" Target="/ppt/slideLayouts/slideLayout1.xml" Id="R7e8b565d0b9547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8b565d0b95476a"/>
  </p:sldLayoutIdLst>
  <p:txStyles>
    <p:titleStyle>
      <a:lvl1pPr xmlns:a="http://schemas.openxmlformats.org/drawingml/2006/main" algn="l">
        <a:lnSpc>
          <a:spcPct val="90000"/>
        </a:lnSpc>
        <a:spcBef>
          <a:spcPts val="0"/>
        </a:spcBef>
        <a:buNone/>
        <a:defRPr sz="4400" lang="ko-KR" altLang="en-US">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lang="ko-KR" altLang="en-US">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lang="ko-KR" altLang="en-US">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lang="ko-KR" altLang="en-US">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lang="ko-KR" altLang="en-US">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lang="ko-KR" altLang="en-US">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lang="ko-KR" altLang="en-US">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lang="ko-KR" altLang="en-US">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lang="ko-KR" altLang="en-US">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lang="ko-KR" altLang="en-US">
          <a:solidFill>
            <a:schemeClr val="tx1"/>
          </a:solidFill>
          <a:latin typeface="+mn-lt"/>
          <a:ea typeface="+mn-lt"/>
          <a:cs typeface="+mn-lt"/>
        </a:defRPr>
      </a:lvl9pPr>
    </p:bodyStyle>
    <p:otherStyle>
      <a:lvl1pPr xmlns:a="http://schemas.openxmlformats.org/drawingml/2006/main" marL="0" algn="l">
        <a:buNone/>
        <a:defRPr sz="1800" lang="ko-KR" altLang="en-US">
          <a:solidFill>
            <a:schemeClr val="tx1"/>
          </a:solidFill>
          <a:latin typeface="+mn-lt"/>
          <a:ea typeface="+mn-lt"/>
          <a:cs typeface="+mn-lt"/>
        </a:defRPr>
      </a:lvl1pPr>
      <a:lvl2pPr xmlns:a="http://schemas.openxmlformats.org/drawingml/2006/main" marL="457200" algn="l">
        <a:buNone/>
        <a:defRPr sz="1800" lang="ko-KR" altLang="en-US">
          <a:solidFill>
            <a:schemeClr val="tx1"/>
          </a:solidFill>
          <a:latin typeface="+mn-lt"/>
          <a:ea typeface="+mn-lt"/>
          <a:cs typeface="+mn-lt"/>
        </a:defRPr>
      </a:lvl2pPr>
      <a:lvl3pPr xmlns:a="http://schemas.openxmlformats.org/drawingml/2006/main" marL="914400" algn="l">
        <a:buNone/>
        <a:defRPr sz="1800" lang="ko-KR" altLang="en-US">
          <a:solidFill>
            <a:schemeClr val="tx1"/>
          </a:solidFill>
          <a:latin typeface="+mn-lt"/>
          <a:ea typeface="+mn-lt"/>
          <a:cs typeface="+mn-lt"/>
        </a:defRPr>
      </a:lvl3pPr>
      <a:lvl4pPr xmlns:a="http://schemas.openxmlformats.org/drawingml/2006/main" marL="1371600" algn="l">
        <a:buNone/>
        <a:defRPr sz="1800" lang="ko-KR" altLang="en-US">
          <a:solidFill>
            <a:schemeClr val="tx1"/>
          </a:solidFill>
          <a:latin typeface="+mn-lt"/>
          <a:ea typeface="+mn-lt"/>
          <a:cs typeface="+mn-lt"/>
        </a:defRPr>
      </a:lvl4pPr>
      <a:lvl5pPr xmlns:a="http://schemas.openxmlformats.org/drawingml/2006/main" marL="1828800" algn="l">
        <a:buNone/>
        <a:defRPr sz="1800" lang="ko-KR" altLang="en-US">
          <a:solidFill>
            <a:schemeClr val="tx1"/>
          </a:solidFill>
          <a:latin typeface="+mn-lt"/>
          <a:ea typeface="+mn-lt"/>
          <a:cs typeface="+mn-lt"/>
        </a:defRPr>
      </a:lvl5pPr>
      <a:lvl6pPr xmlns:a="http://schemas.openxmlformats.org/drawingml/2006/main" marL="2286000" algn="l">
        <a:buNone/>
        <a:defRPr sz="1800" lang="ko-KR" altLang="en-US">
          <a:solidFill>
            <a:schemeClr val="tx1"/>
          </a:solidFill>
          <a:latin typeface="+mn-lt"/>
          <a:ea typeface="+mn-lt"/>
          <a:cs typeface="+mn-lt"/>
        </a:defRPr>
      </a:lvl6pPr>
      <a:lvl7pPr xmlns:a="http://schemas.openxmlformats.org/drawingml/2006/main" marL="2743200" algn="l">
        <a:buNone/>
        <a:defRPr sz="1800" lang="ko-KR" altLang="en-US">
          <a:solidFill>
            <a:schemeClr val="tx1"/>
          </a:solidFill>
          <a:latin typeface="+mn-lt"/>
          <a:ea typeface="+mn-lt"/>
          <a:cs typeface="+mn-lt"/>
        </a:defRPr>
      </a:lvl7pPr>
      <a:lvl8pPr xmlns:a="http://schemas.openxmlformats.org/drawingml/2006/main" marL="3200400" algn="l">
        <a:buNone/>
        <a:defRPr sz="1800" lang="ko-KR" altLang="en-US">
          <a:solidFill>
            <a:schemeClr val="tx1"/>
          </a:solidFill>
          <a:latin typeface="+mn-lt"/>
          <a:ea typeface="+mn-lt"/>
          <a:cs typeface="+mn-lt"/>
        </a:defRPr>
      </a:lvl8pPr>
      <a:lvl9pPr xmlns:a="http://schemas.openxmlformats.org/drawingml/2006/main" marL="3657600" algn="l">
        <a:buNone/>
        <a:defRPr sz="1800" lang="ko-KR" altLang="en-US">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majorFont>
      <a:minorFont>
        <a:latin typeface="Malgun Gothic"/>
        <a:ea typeface="Malgun Gothic"/>
        <a:cs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7bf847a2f94726" /><Relationship Type="http://schemas.openxmlformats.org/officeDocument/2006/relationships/notesSlide" Target="/ppt/notesSlides/notesSlide1.xml" Id="R3dbfec037ac048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b05b420f3e4465" /><Relationship Type="http://schemas.openxmlformats.org/officeDocument/2006/relationships/notesSlide" Target="/ppt/notesSlides/notesSlide2.xml" Id="R0ce8e4d724754b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6ba3a2db494d5b" /><Relationship Type="http://schemas.openxmlformats.org/officeDocument/2006/relationships/notesSlide" Target="/ppt/notesSlides/notesSlide3.xml" Id="R69201dbdd2be43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28bcf89d1f40eb" /><Relationship Type="http://schemas.openxmlformats.org/officeDocument/2006/relationships/notesSlide" Target="/ppt/notesSlides/notesSlide4.xml" Id="R8c1d95ff201240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d49bbe655146a9" /><Relationship Type="http://schemas.openxmlformats.org/officeDocument/2006/relationships/notesSlide" Target="/ppt/notesSlides/notesSlide5.xml" Id="Ra4d2001ec0be4f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943978504f43bd" /><Relationship Type="http://schemas.openxmlformats.org/officeDocument/2006/relationships/notesSlide" Target="/ppt/notesSlides/notesSlide6.xml" Id="Rba4a4bfb826e4d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42181356074730" /><Relationship Type="http://schemas.openxmlformats.org/officeDocument/2006/relationships/notesSlide" Target="/ppt/notesSlides/notesSlide7.xml" Id="R6bed08363e6242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2d17e6ef2184d0f" /><Relationship Type="http://schemas.openxmlformats.org/officeDocument/2006/relationships/notesSlide" Target="/ppt/notesSlides/notesSlide8.xml" Id="Rfa0b27b8079c40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d383ab14a8f4b2e" /><Relationship Type="http://schemas.openxmlformats.org/officeDocument/2006/relationships/notesSlide" Target="/ppt/notesSlides/notesSlide9.xml" Id="R5c10352b98a540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710cb7385d4eef" /><Relationship Type="http://schemas.openxmlformats.org/officeDocument/2006/relationships/notesSlide" Target="/ppt/notesSlides/notesSlide10.xml" Id="R2bd45937723f4e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bfc36e274a4869" /><Relationship Type="http://schemas.openxmlformats.org/officeDocument/2006/relationships/notesSlide" Target="/ppt/notesSlides/notesSlide11.xml" Id="R24b9f9d9299d47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d09748995ff4503" /><Relationship Type="http://schemas.openxmlformats.org/officeDocument/2006/relationships/notesSlide" Target="/ppt/notesSlides/notesSlide12.xml" Id="Re734743bb42148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7bf7b73b4a4eda" /><Relationship Type="http://schemas.openxmlformats.org/officeDocument/2006/relationships/notesSlide" Target="/ppt/notesSlides/notesSlide13.xml" Id="Rb9a3248cceac4d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f512d7d1995477b" /><Relationship Type="http://schemas.openxmlformats.org/officeDocument/2006/relationships/notesSlide" Target="/ppt/notesSlides/notesSlide14.xml" Id="R815444749f1148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f24dfb0e6514a00" /><Relationship Type="http://schemas.openxmlformats.org/officeDocument/2006/relationships/notesSlide" Target="/ppt/notesSlides/notesSlide15.xml" Id="R2eb869e2d73d48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1bfdacbcac24eef" /><Relationship Type="http://schemas.openxmlformats.org/officeDocument/2006/relationships/notesSlide" Target="/ppt/notesSlides/notesSlide16.xml" Id="Rc184223093d043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66fb269202d4060" /><Relationship Type="http://schemas.openxmlformats.org/officeDocument/2006/relationships/notesSlide" Target="/ppt/notesSlides/notesSlide17.xml" Id="R1782bd30b5cd4dd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272f1df411740da" /><Relationship Type="http://schemas.openxmlformats.org/officeDocument/2006/relationships/notesSlide" Target="/ppt/notesSlides/notesSlide18.xml" Id="Rb97dd522bb5344a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60ba9466f874ddc" /><Relationship Type="http://schemas.openxmlformats.org/officeDocument/2006/relationships/notesSlide" Target="/ppt/notesSlides/notesSlide19.xml" Id="R7addcf4b38b640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23baa86caee4dd8" /><Relationship Type="http://schemas.openxmlformats.org/officeDocument/2006/relationships/notesSlide" Target="/ppt/notesSlides/notesSlide20.xml" Id="R75415dea39ad44c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0102d50f0614080" /><Relationship Type="http://schemas.openxmlformats.org/officeDocument/2006/relationships/notesSlide" Target="/ppt/notesSlides/notesSlide21.xml" Id="Rd7444d0a648d4d8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13dfa27807a45a4" /><Relationship Type="http://schemas.openxmlformats.org/officeDocument/2006/relationships/notesSlide" Target="/ppt/notesSlides/notesSlide22.xml" Id="Rfa1b280a757a40b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2e8565b8c414624" /><Relationship Type="http://schemas.openxmlformats.org/officeDocument/2006/relationships/notesSlide" Target="/ppt/notesSlides/notesSlide23.xml" Id="R1cb5c2b7d2f3429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701f17bf90a4d47" /><Relationship Type="http://schemas.openxmlformats.org/officeDocument/2006/relationships/chart" Target="/ppt/slides/charts/chart1.xml" Id="Rd4cf8b6fde324a0a" /><Relationship Type="http://schemas.openxmlformats.org/officeDocument/2006/relationships/notesSlide" Target="/ppt/notesSlides/notesSlide24.xml" Id="R03722e3fb7e340c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9a27c05cb2d4daf" /><Relationship Type="http://schemas.openxmlformats.org/officeDocument/2006/relationships/notesSlide" Target="/ppt/notesSlides/notesSlide25.xml" Id="R0d20a6edd5344ec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d4a05c9c8064ef4" /><Relationship Type="http://schemas.openxmlformats.org/officeDocument/2006/relationships/notesSlide" Target="/ppt/notesSlides/notesSlide26.xml" Id="Rb534408a44ee449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af051b91f614f2d" /><Relationship Type="http://schemas.openxmlformats.org/officeDocument/2006/relationships/notesSlide" Target="/ppt/notesSlides/notesSlide27.xml" Id="Ra4b149743a2d451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6c0d2ca8c8c4535" /><Relationship Type="http://schemas.openxmlformats.org/officeDocument/2006/relationships/notesSlide" Target="/ppt/notesSlides/notesSlide28.xml" Id="Rdf59cd467bec422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5644c2a4fa247fe" /><Relationship Type="http://schemas.openxmlformats.org/officeDocument/2006/relationships/notesSlide" Target="/ppt/notesSlides/notesSlide29.xml" Id="Rcbc40beae43043f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b47daa9714f464a" /><Relationship Type="http://schemas.openxmlformats.org/officeDocument/2006/relationships/notesSlide" Target="/ppt/notesSlides/notesSlide30.xml" Id="Rda2feb440c7c4ed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fa465f719c74587" /><Relationship Type="http://schemas.openxmlformats.org/officeDocument/2006/relationships/notesSlide" Target="/ppt/notesSlides/notesSlide31.xml" Id="Rbe351e70e7194d2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43d3cc5ca8a4ae8" /><Relationship Type="http://schemas.openxmlformats.org/officeDocument/2006/relationships/notesSlide" Target="/ppt/notesSlides/notesSlide32.xml" Id="R59b27a2d414a492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eaf85fb37fd424d" /><Relationship Type="http://schemas.openxmlformats.org/officeDocument/2006/relationships/notesSlide" Target="/ppt/notesSlides/notesSlide33.xml" Id="Reea7e14d29cd4c6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7bd75915b884675" /><Relationship Type="http://schemas.openxmlformats.org/officeDocument/2006/relationships/notesSlide" Target="/ppt/notesSlides/notesSlide34.xml" Id="R0fdc7f34bd2a49b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a87d930d51445db" /><Relationship Type="http://schemas.openxmlformats.org/officeDocument/2006/relationships/notesSlide" Target="/ppt/notesSlides/notesSlide35.xml" Id="R89248a6a83534dd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66c207f1ea44020" /><Relationship Type="http://schemas.openxmlformats.org/officeDocument/2006/relationships/notesSlide" Target="/ppt/notesSlides/notesSlide36.xml" Id="R775b9ab496794e0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Main</c:v>
          </c:tx>
          <c:spPr>
            <a:solidFill xmlns:a="http://schemas.openxmlformats.org/drawingml/2006/main">
              <a:srgbClr val="142C43"/>
            </a:solidFill>
          </c:spPr>
          <c:cat>
            <c:strRef>
              <c:f>'Chart Data'!$A$2:$A$6</c:f>
              <c:strCache>
                <c:ptCount val="5"/>
                <c:pt idx="0">
                  <c:v>P-G-BGV</c:v>
                </c:pt>
                <c:pt idx="1">
                  <c:v>P-G-CGGE</c:v>
                </c:pt>
                <c:pt idx="2">
                  <c:v>P-DISC</c:v>
                </c:pt>
                <c:pt idx="3">
                  <c:v>R-G-BGV</c:v>
                </c:pt>
                <c:pt idx="4">
                  <c:v>R-DISC</c:v>
                </c:pt>
              </c:strCache>
            </c:strRef>
          </c:cat>
          <c:val>
            <c:numRef>
              <c:f>'Chart Data'!$B$2:$B$6</c:f>
              <c:numCache>
                <c:formatCode>0.0%</c:formatCode>
                <c:ptCount val="5"/>
                <c:pt idx="0">
                  <c:v>0.0230916341146</c:v>
                </c:pt>
                <c:pt idx="1">
                  <c:v>0.02490234375</c:v>
                </c:pt>
                <c:pt idx="2">
                  <c:v>0.0255126953125</c:v>
                </c:pt>
                <c:pt idx="3">
                  <c:v>0.0240681966146</c:v>
                </c:pt>
                <c:pt idx="4">
                  <c:v>0.0241088867188</c:v>
                </c:pt>
              </c:numCache>
            </c:numRef>
          </c:val>
        </c:ser>
        <c:ser>
          <c:idx val="1"/>
          <c:order val="1"/>
          <c:tx>
            <c:v>Random</c:v>
          </c:tx>
          <c:spPr>
            <a:solidFill xmlns:a="http://schemas.openxmlformats.org/drawingml/2006/main">
              <a:srgbClr val="087F82"/>
            </a:solidFill>
          </c:spPr>
          <c:cat>
            <c:strRef>
              <c:f>'Chart Data'!$C$2:$C$6</c:f>
              <c:strCache>
                <c:ptCount val="5"/>
                <c:pt idx="0">
                  <c:v>P-G-BGV</c:v>
                </c:pt>
                <c:pt idx="1">
                  <c:v>P-G-CGGE</c:v>
                </c:pt>
                <c:pt idx="2">
                  <c:v>P-DISC</c:v>
                </c:pt>
                <c:pt idx="3">
                  <c:v>R-G-BGV</c:v>
                </c:pt>
                <c:pt idx="4">
                  <c:v>R-DISC</c:v>
                </c:pt>
              </c:strCache>
            </c:strRef>
          </c:cat>
          <c:val>
            <c:numRef>
              <c:f>'Chart Data'!$D$2:$D$6</c:f>
              <c:numCache>
                <c:formatCode>0.0%</c:formatCode>
                <c:ptCount val="5"/>
                <c:pt idx="0">
                  <c:v>0.0249430338542</c:v>
                </c:pt>
                <c:pt idx="1">
                  <c:v>0.0249430338542</c:v>
                </c:pt>
                <c:pt idx="2">
                  <c:v>0.0249430338542</c:v>
                </c:pt>
                <c:pt idx="3">
                  <c:v>0.0244547526042</c:v>
                </c:pt>
                <c:pt idx="4">
                  <c:v>0.0244547526042</c:v>
                </c:pt>
              </c:numCache>
            </c:numRef>
          </c:val>
        </c:ser>
        <c:ser>
          <c:idx val="2"/>
          <c:order val="2"/>
          <c:tx>
            <c:v>Shuffled</c:v>
          </c:tx>
          <c:spPr>
            <a:solidFill xmlns:a="http://schemas.openxmlformats.org/drawingml/2006/main">
              <a:srgbClr val="A6B3BC"/>
            </a:solidFill>
          </c:spPr>
          <c:cat>
            <c:strRef>
              <c:f>'Chart Data'!$E$2:$E$6</c:f>
              <c:strCache>
                <c:ptCount val="5"/>
                <c:pt idx="0">
                  <c:v>P-G-BGV</c:v>
                </c:pt>
                <c:pt idx="1">
                  <c:v>P-G-CGGE</c:v>
                </c:pt>
                <c:pt idx="2">
                  <c:v>P-DISC</c:v>
                </c:pt>
                <c:pt idx="3">
                  <c:v>R-G-BGV</c:v>
                </c:pt>
                <c:pt idx="4">
                  <c:v>R-DISC</c:v>
                </c:pt>
              </c:strCache>
            </c:strRef>
          </c:cat>
          <c:val>
            <c:numRef>
              <c:f>'Chart Data'!$F$2:$F$6</c:f>
              <c:numCache>
                <c:formatCode>0.0%</c:formatCode>
                <c:ptCount val="5"/>
                <c:pt idx="0">
                  <c:v>0.0240071614583</c:v>
                </c:pt>
                <c:pt idx="1">
                  <c:v>0.0243123372396</c:v>
                </c:pt>
                <c:pt idx="2">
                  <c:v>0.0248209635417</c:v>
                </c:pt>
                <c:pt idx="3">
                  <c:v>0.0242716471354</c:v>
                </c:pt>
                <c:pt idx="4">
                  <c:v>0.0241088867188</c:v>
                </c:pt>
              </c:numCache>
            </c:numRef>
          </c:val>
        </c:ser>
        <c:dLbls>
          <c:txPr>
            <a:bodyPr xmlns:a="http://schemas.openxmlformats.org/drawingml/2006/main" anchorCtr="1"/>
            <a:lstStyle xmlns:a="http://schemas.openxmlformats.org/drawingml/2006/main"/>
            <a:p xmlns:a="http://schemas.openxmlformats.org/drawingml/2006/main">
              <a:pPr>
                <a:defRPr sz="1500" lang="ko-KR" altLang="en-US">
                  <a:solidFill>
                    <a:srgbClr val="203648"/>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7"/>
            </a:solidFill>
          </a:ln>
        </c:spPr>
        <c:txPr>
          <a:bodyPr xmlns:a="http://schemas.openxmlformats.org/drawingml/2006/main" anchorCtr="1"/>
          <a:lstStyle xmlns:a="http://schemas.openxmlformats.org/drawingml/2006/main"/>
          <a:p xmlns:a="http://schemas.openxmlformats.org/drawingml/2006/main">
            <a:pPr>
              <a:defRPr sz="1650" lang="ko-KR" altLang="en-US">
                <a:solidFill>
                  <a:srgbClr val="203648"/>
                </a:solidFill>
                <a:latin typeface="Malgun Gothic"/>
                <a:ea typeface="Malgun Gothic"/>
                <a:cs typeface="Malgun Gothic"/>
              </a:defRPr>
            </a:pPr>
          </a:p>
        </c:txPr>
        <c:crossAx val="48672768"/>
      </c:catAx>
      <c:valAx>
        <c:axId val="48672768"/>
        <c:scaling>
          <c:orientation val="minMax"/>
          <c:max val="0.03"/>
          <c:min val="0"/>
        </c:scaling>
        <c:delete val="0"/>
        <c:axPos val="l"/>
        <c:majorGridlines>
          <c:spPr>
            <a:ln xmlns:a="http://schemas.openxmlformats.org/drawingml/2006/main" w="9525">
              <a:solidFill>
                <a:srgbClr val="DCE3E7"/>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lang="ko-KR" altLang="en-US">
                <a:solidFill>
                  <a:srgbClr val="5A6B78"/>
                </a:solidFill>
                <a:latin typeface="Malgun Gothic"/>
                <a:ea typeface="Malgun Gothic"/>
                <a:cs typeface="Malgun Gothic"/>
              </a:defRPr>
            </a:pPr>
          </a:p>
        </c:txPr>
        <c:crossAx val="48650112"/>
        <c:crossBetween val="between"/>
        <c:majorUnit val="0.0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lang="ko-KR" altLang="en-US">
              <a:solidFill>
                <a:srgbClr val="203648"/>
              </a:solidFill>
              <a:latin typeface="Malgun Gothic"/>
              <a:ea typeface="Malgun Gothic"/>
              <a:cs typeface="Malgun Gothic"/>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209D5F-09E0-4ED6-8A71-453B4FF90E78}"/>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B9CAD4"/>
                </a:solidFill>
                <a:latin typeface="Malgun Gothic"/>
                <a:ea typeface="Malgun Gothic"/>
                <a:cs typeface="Malgun Gothic"/>
              </a:defRPr>
            </a:pPr>
            <a:r>
              <a:rPr sz="1200" b="0" lang="ko-KR" altLang="en-US">
                <a:solidFill>
                  <a:srgbClr val="B9CAD4"/>
                </a:solidFill>
                <a:latin typeface="Malgun Gothic"/>
                <a:ea typeface="Malgun Gothic"/>
                <a:cs typeface="Malgun Gothic"/>
              </a:rPr>
              <a:t>1</a:t>
            </a:r>
          </a:p>
        </p:txBody>
      </p:sp>
      <p:sp>
        <p:nvSpPr>
          <p:cNvPr id="2" name="">
            <a:extLst xmlns:a="http://schemas.openxmlformats.org/drawingml/2006/main">
              <a:ext uri="{FF2B5EF4-FFF2-40B4-BE49-F238E27FC236}">
                <a16:creationId xmlns:a16="http://schemas.microsoft.com/office/drawing/2014/main" id="{B3340B70-A495-438F-B2CD-0B2C9A240D86}"/>
              </a:ext>
            </a:extLst>
          </p:cNvPr>
          <p:cNvSpPr>
            <a:spLocks xmlns:a="http://schemas.openxmlformats.org/drawingml/2006/main" noGrp="1"/>
          </p:cNvSpPr>
          <p:nvPr/>
        </p:nvSpPr>
        <p:spPr>
          <a:xfrm xmlns:a="http://schemas.openxmlformats.org/drawingml/2006/main">
            <a:off x="647700" y="10668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84CFCA"/>
                </a:solidFill>
                <a:latin typeface="Malgun Gothic"/>
                <a:ea typeface="Malgun Gothic"/>
                <a:cs typeface="Malgun Gothic"/>
              </a:defRPr>
            </a:pPr>
            <a:r>
              <a:rPr sz="2175" b="1" lang="ko-KR" altLang="en-US">
                <a:solidFill>
                  <a:srgbClr val="84CFCA"/>
                </a:solidFill>
                <a:latin typeface="Malgun Gothic"/>
                <a:ea typeface="Malgun Gothic"/>
                <a:cs typeface="Malgun Gothic"/>
              </a:rPr>
              <a:t>실험 결과 보고</a:t>
            </a:r>
          </a:p>
        </p:txBody>
      </p:sp>
      <p:sp>
        <p:nvSpPr>
          <p:cNvPr id="3" name="">
            <a:extLst xmlns:a="http://schemas.openxmlformats.org/drawingml/2006/main">
              <a:ext uri="{FF2B5EF4-FFF2-40B4-BE49-F238E27FC236}">
                <a16:creationId xmlns:a16="http://schemas.microsoft.com/office/drawing/2014/main" id="{535C0E4F-F53C-4934-8736-343BE93F3EE1}"/>
              </a:ext>
            </a:extLst>
          </p:cNvPr>
          <p:cNvSpPr>
            <a:spLocks xmlns:a="http://schemas.openxmlformats.org/drawingml/2006/main" noGrp="1"/>
          </p:cNvSpPr>
          <p:nvPr/>
        </p:nvSpPr>
        <p:spPr>
          <a:xfrm xmlns:a="http://schemas.openxmlformats.org/drawingml/2006/main">
            <a:off x="609600" y="2133600"/>
            <a:ext cx="109728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lang="ko-KR" altLang="en-US">
                <a:solidFill>
                  <a:srgbClr val="FFFFFF"/>
                </a:solidFill>
                <a:latin typeface="Malgun Gothic"/>
                <a:ea typeface="Malgun Gothic"/>
                <a:cs typeface="Malgun Gothic"/>
              </a:defRPr>
            </a:pPr>
            <a:r>
              <a:rPr sz="5100" b="1" lang="ko-KR" altLang="en-US">
                <a:solidFill>
                  <a:srgbClr val="FFFFFF"/>
                </a:solidFill>
                <a:latin typeface="Malgun Gothic"/>
                <a:ea typeface="Malgun Gothic"/>
                <a:cs typeface="Malgun Gothic"/>
              </a:rPr>
              <a:t>Diffusion 기반</a:t>
            </a:r>
          </a:p>
          <a:p xmlns:a="http://schemas.openxmlformats.org/drawingml/2006/main">
            <a:pPr algn="l">
              <a:defRPr sz="5100" b="1" lang="ko-KR" altLang="en-US">
                <a:solidFill>
                  <a:srgbClr val="FFFFFF"/>
                </a:solidFill>
                <a:latin typeface="Malgun Gothic"/>
                <a:ea typeface="Malgun Gothic"/>
                <a:cs typeface="Malgun Gothic"/>
              </a:defRPr>
            </a:pPr>
            <a:r>
              <a:rPr sz="5100" b="1" lang="ko-KR" altLang="en-US">
                <a:solidFill>
                  <a:srgbClr val="FFFFFF"/>
                </a:solidFill>
                <a:latin typeface="Malgun Gothic"/>
                <a:ea typeface="Malgun Gothic"/>
                <a:cs typeface="Malgun Gothic"/>
              </a:rPr>
              <a:t>MD5-12 역상 탐색</a:t>
            </a:r>
          </a:p>
        </p:txBody>
      </p:sp>
      <p:sp>
        <p:nvSpPr>
          <p:cNvPr id="4" name="">
            <a:extLst xmlns:a="http://schemas.openxmlformats.org/drawingml/2006/main">
              <a:ext uri="{FF2B5EF4-FFF2-40B4-BE49-F238E27FC236}">
                <a16:creationId xmlns:a16="http://schemas.microsoft.com/office/drawing/2014/main" id="{40009BCE-5410-4E25-9E7E-B58C66A07FB7}"/>
              </a:ext>
            </a:extLst>
          </p:cNvPr>
          <p:cNvSpPr>
            <a:spLocks xmlns:a="http://schemas.openxmlformats.org/drawingml/2006/main" noGrp="1"/>
          </p:cNvSpPr>
          <p:nvPr/>
        </p:nvSpPr>
        <p:spPr>
          <a:xfrm xmlns:a="http://schemas.openxmlformats.org/drawingml/2006/main">
            <a:off x="647700" y="44005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lang="ko-KR" altLang="en-US">
                <a:solidFill>
                  <a:srgbClr val="D5E1E7"/>
                </a:solidFill>
                <a:latin typeface="Malgun Gothic"/>
                <a:ea typeface="Malgun Gothic"/>
                <a:cs typeface="Malgun Gothic"/>
              </a:defRPr>
            </a:pPr>
            <a:r>
              <a:rPr sz="2325" b="0" lang="ko-KR" altLang="en-US">
                <a:solidFill>
                  <a:srgbClr val="D5E1E7"/>
                </a:solidFill>
                <a:latin typeface="Malgun Gothic"/>
                <a:ea typeface="Malgun Gothic"/>
                <a:cs typeface="Malgun Gothic"/>
              </a:rPr>
              <a:t>용어 상세 해설과 실험 설정, 결과 및 결론</a:t>
            </a:r>
          </a:p>
        </p:txBody>
      </p:sp>
      <p:sp>
        <p:nvSpPr>
          <p:cNvPr id="5" name="">
            <a:extLst xmlns:a="http://schemas.openxmlformats.org/drawingml/2006/main">
              <a:ext uri="{FF2B5EF4-FFF2-40B4-BE49-F238E27FC236}">
                <a16:creationId xmlns:a16="http://schemas.microsoft.com/office/drawing/2014/main" id="{8FD91C0A-BFBF-4F88-A7A1-C343985A6C4B}"/>
              </a:ext>
            </a:extLst>
          </p:cNvPr>
          <p:cNvSpPr>
            <a:spLocks xmlns:a="http://schemas.openxmlformats.org/drawingml/2006/main" noGrp="1"/>
          </p:cNvSpPr>
          <p:nvPr/>
        </p:nvSpPr>
        <p:spPr>
          <a:xfrm xmlns:a="http://schemas.openxmlformats.org/drawingml/2006/main">
            <a:off x="647700" y="57340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lang="ko-KR" altLang="en-US">
                <a:solidFill>
                  <a:srgbClr val="B9CAD4"/>
                </a:solidFill>
                <a:latin typeface="Malgun Gothic"/>
                <a:ea typeface="Malgun Gothic"/>
                <a:cs typeface="Malgun Gothic"/>
              </a:defRPr>
            </a:pPr>
            <a:r>
              <a:rPr sz="1725" b="0" lang="ko-KR" altLang="en-US">
                <a:solidFill>
                  <a:srgbClr val="B9CAD4"/>
                </a:solidFill>
                <a:latin typeface="Malgun Gothic"/>
                <a:ea typeface="Malgun Gothic"/>
                <a:cs typeface="Malgun Gothic"/>
              </a:rPr>
              <a:t>실험 완료 2026.10.03</a:t>
            </a:r>
          </a:p>
        </p:txBody>
      </p:sp>
    </p:spTree>
    <p:extLst>
      <p:ext uri="{BB962C8B-B14F-4D97-AF65-F5344CB8AC3E}">
        <p14:creationId xmlns:p14="http://schemas.microsoft.com/office/powerpoint/2010/main" val="17765937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DE5F1E-40D8-4666-87E7-5EAB5ACE580C}"/>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실험 목적</a:t>
            </a:r>
          </a:p>
        </p:txBody>
      </p:sp>
      <p:sp>
        <p:nvSpPr>
          <p:cNvPr id="2" name="">
            <a:extLst xmlns:a="http://schemas.openxmlformats.org/drawingml/2006/main">
              <a:ext uri="{FF2B5EF4-FFF2-40B4-BE49-F238E27FC236}">
                <a16:creationId xmlns:a16="http://schemas.microsoft.com/office/drawing/2014/main" id="{8A925E6B-B70B-48B9-9816-AEEEA83B87CC}"/>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a:t>
            </a:r>
          </a:p>
        </p:txBody>
      </p:sp>
      <p:sp>
        <p:nvSpPr>
          <p:cNvPr id="3" name="">
            <a:extLst xmlns:a="http://schemas.openxmlformats.org/drawingml/2006/main">
              <a:ext uri="{FF2B5EF4-FFF2-40B4-BE49-F238E27FC236}">
                <a16:creationId xmlns:a16="http://schemas.microsoft.com/office/drawing/2014/main" id="{99A37CAA-CA96-4E13-8694-803E9B13AD8A}"/>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§4, §6</a:t>
            </a:r>
          </a:p>
        </p:txBody>
      </p:sp>
      <p:sp>
        <p:nvSpPr>
          <p:cNvPr id="4" name="">
            <a:extLst xmlns:a="http://schemas.openxmlformats.org/drawingml/2006/main">
              <a:ext uri="{FF2B5EF4-FFF2-40B4-BE49-F238E27FC236}">
                <a16:creationId xmlns:a16="http://schemas.microsoft.com/office/drawing/2014/main" id="{DEDA8317-D606-4A2F-AA86-3532499618F4}"/>
              </a:ext>
            </a:extLst>
          </p:cNvPr>
          <p:cNvSpPr>
            <a:spLocks xmlns:a="http://schemas.openxmlformats.org/drawingml/2006/main" noGrp="1"/>
          </p:cNvSpPr>
          <p:nvPr/>
        </p:nvSpPr>
        <p:spPr>
          <a:xfrm xmlns:a="http://schemas.openxmlformats.org/drawingml/2006/main">
            <a:off x="609600" y="1552575"/>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lang="ko-KR" altLang="en-US">
                <a:solidFill>
                  <a:srgbClr val="142C43"/>
                </a:solidFill>
                <a:latin typeface="Malgun Gothic"/>
                <a:ea typeface="Malgun Gothic"/>
                <a:cs typeface="Malgun Gothic"/>
              </a:defRPr>
            </a:pPr>
            <a:r>
              <a:rPr sz="3000" b="1" lang="ko-KR" altLang="en-US">
                <a:solidFill>
                  <a:srgbClr val="142C43"/>
                </a:solidFill>
                <a:latin typeface="Malgun Gothic"/>
                <a:ea typeface="Malgun Gothic"/>
                <a:cs typeface="Malgun Gothic"/>
              </a:rPr>
              <a:t>미학습 해시값을 조건으로 주면</a:t>
            </a:r>
          </a:p>
          <a:p xmlns:a="http://schemas.openxmlformats.org/drawingml/2006/main">
            <a:pPr algn="l">
              <a:defRPr sz="3000" b="1" lang="ko-KR" altLang="en-US">
                <a:solidFill>
                  <a:srgbClr val="142C43"/>
                </a:solidFill>
                <a:latin typeface="Malgun Gothic"/>
                <a:ea typeface="Malgun Gothic"/>
                <a:cs typeface="Malgun Gothic"/>
              </a:defRPr>
            </a:pPr>
            <a:r>
              <a:rPr sz="3000" b="1" lang="ko-KR" altLang="en-US">
                <a:solidFill>
                  <a:srgbClr val="142C43"/>
                </a:solidFill>
                <a:latin typeface="Malgun Gothic"/>
                <a:ea typeface="Malgun Gothic"/>
                <a:cs typeface="Malgun Gothic"/>
              </a:rPr>
              <a:t>일치하는 입력을 더 잘 생성할 수 있는가?</a:t>
            </a:r>
          </a:p>
        </p:txBody>
      </p:sp>
      <p:sp>
        <p:nvSpPr>
          <p:cNvPr id="5" name="">
            <a:extLst xmlns:a="http://schemas.openxmlformats.org/drawingml/2006/main">
              <a:ext uri="{FF2B5EF4-FFF2-40B4-BE49-F238E27FC236}">
                <a16:creationId xmlns:a16="http://schemas.microsoft.com/office/drawing/2014/main" id="{F3D94F3E-838E-47AA-90E7-C656FDEBE4B9}"/>
              </a:ext>
            </a:extLst>
          </p:cNvPr>
          <p:cNvSpPr>
            <a:spLocks xmlns:a="http://schemas.openxmlformats.org/drawingml/2006/main" noGrp="1"/>
          </p:cNvSpPr>
          <p:nvPr/>
        </p:nvSpPr>
        <p:spPr>
          <a:xfrm xmlns:a="http://schemas.openxmlformats.org/drawingml/2006/main">
            <a:off x="609600" y="31908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탐색 과제</a:t>
            </a:r>
          </a:p>
        </p:txBody>
      </p:sp>
      <p:sp>
        <p:nvSpPr>
          <p:cNvPr id="6" name="">
            <a:extLst xmlns:a="http://schemas.openxmlformats.org/drawingml/2006/main">
              <a:ext uri="{FF2B5EF4-FFF2-40B4-BE49-F238E27FC236}">
                <a16:creationId xmlns:a16="http://schemas.microsoft.com/office/drawing/2014/main" id="{19D76437-B9A7-465D-A639-AB02E5D993D8}"/>
              </a:ext>
            </a:extLst>
          </p:cNvPr>
          <p:cNvSpPr>
            <a:spLocks xmlns:a="http://schemas.openxmlformats.org/drawingml/2006/main" noGrp="1"/>
          </p:cNvSpPr>
          <p:nvPr/>
        </p:nvSpPr>
        <p:spPr>
          <a:xfrm xmlns:a="http://schemas.openxmlformats.org/drawingml/2006/main">
            <a:off x="3000375" y="319087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정규 MD5 출력 중 지정한 12 bits가</a:t>
            </a:r>
          </a:p>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목표값과 일치하는 입력 찾기</a:t>
            </a:r>
          </a:p>
        </p:txBody>
      </p:sp>
      <p:sp>
        <p:nvSpPr>
          <p:cNvPr id="7" name="">
            <a:extLst xmlns:a="http://schemas.openxmlformats.org/drawingml/2006/main">
              <a:ext uri="{FF2B5EF4-FFF2-40B4-BE49-F238E27FC236}">
                <a16:creationId xmlns:a16="http://schemas.microsoft.com/office/drawing/2014/main" id="{CE2DE7BF-16E4-4119-9EC1-44788C8F8723}"/>
              </a:ext>
            </a:extLst>
          </p:cNvPr>
          <p:cNvSpPr>
            <a:spLocks xmlns:a="http://schemas.openxmlformats.org/drawingml/2006/main" noGrp="1"/>
          </p:cNvSpPr>
          <p:nvPr/>
        </p:nvSpPr>
        <p:spPr>
          <a:xfrm xmlns:a="http://schemas.openxmlformats.org/drawingml/2006/main">
            <a:off x="609600" y="43434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비교 대상</a:t>
            </a:r>
          </a:p>
        </p:txBody>
      </p:sp>
      <p:sp>
        <p:nvSpPr>
          <p:cNvPr id="8" name="">
            <a:extLst xmlns:a="http://schemas.openxmlformats.org/drawingml/2006/main">
              <a:ext uri="{FF2B5EF4-FFF2-40B4-BE49-F238E27FC236}">
                <a16:creationId xmlns:a16="http://schemas.microsoft.com/office/drawing/2014/main" id="{69717833-5CCE-47C8-AE8D-3FB9F37081DF}"/>
              </a:ext>
            </a:extLst>
          </p:cNvPr>
          <p:cNvSpPr>
            <a:spLocks xmlns:a="http://schemas.openxmlformats.org/drawingml/2006/main" noGrp="1"/>
          </p:cNvSpPr>
          <p:nvPr/>
        </p:nvSpPr>
        <p:spPr>
          <a:xfrm xmlns:a="http://schemas.openxmlformats.org/drawingml/2006/main">
            <a:off x="3000375" y="43434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이미지 기반 Gaussian diffusion과</a:t>
            </a:r>
          </a:p>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토큰 기반 Discrete diffusion의 5개 파이프라인</a:t>
            </a:r>
          </a:p>
        </p:txBody>
      </p:sp>
      <p:sp>
        <p:nvSpPr>
          <p:cNvPr id="9" name="">
            <a:extLst xmlns:a="http://schemas.openxmlformats.org/drawingml/2006/main">
              <a:ext uri="{FF2B5EF4-FFF2-40B4-BE49-F238E27FC236}">
                <a16:creationId xmlns:a16="http://schemas.microsoft.com/office/drawing/2014/main" id="{C1A79BA9-9C61-4AFC-8F0B-3272DA85DA78}"/>
              </a:ext>
            </a:extLst>
          </p:cNvPr>
          <p:cNvSpPr>
            <a:spLocks xmlns:a="http://schemas.openxmlformats.org/drawingml/2006/main" noGrp="1"/>
          </p:cNvSpPr>
          <p:nvPr/>
        </p:nvSpPr>
        <p:spPr>
          <a:xfrm xmlns:a="http://schemas.openxmlformats.org/drawingml/2006/main">
            <a:off x="609600" y="58197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생성 성공률과 계산 비용을 함께 평가</a:t>
            </a:r>
          </a:p>
        </p:txBody>
      </p:sp>
    </p:spTree>
    <p:extLst>
      <p:ext uri="{BB962C8B-B14F-4D97-AF65-F5344CB8AC3E}">
        <p14:creationId xmlns:p14="http://schemas.microsoft.com/office/powerpoint/2010/main" val="14187797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07FA6ED-BEE4-4F65-BAE6-5791B1126CBB}"/>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해시·역상·목표값의 의미</a:t>
            </a:r>
          </a:p>
        </p:txBody>
      </p:sp>
      <p:sp>
        <p:nvSpPr>
          <p:cNvPr id="2" name="">
            <a:extLst xmlns:a="http://schemas.openxmlformats.org/drawingml/2006/main">
              <a:ext uri="{FF2B5EF4-FFF2-40B4-BE49-F238E27FC236}">
                <a16:creationId xmlns:a16="http://schemas.microsoft.com/office/drawing/2014/main" id="{D3C22C0A-2695-4159-8EAC-B7F7BC38C114}"/>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3</a:t>
            </a:r>
          </a:p>
        </p:txBody>
      </p:sp>
      <p:sp>
        <p:nvSpPr>
          <p:cNvPr id="3" name="">
            <a:extLst xmlns:a="http://schemas.openxmlformats.org/drawingml/2006/main">
              <a:ext uri="{FF2B5EF4-FFF2-40B4-BE49-F238E27FC236}">
                <a16:creationId xmlns:a16="http://schemas.microsoft.com/office/drawing/2014/main" id="{954BC917-B56F-4B11-94AA-A7B37D1F7D5C}"/>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§4.1, 구현 명세 §3</a:t>
            </a:r>
          </a:p>
        </p:txBody>
      </p:sp>
      <p:sp>
        <p:nvSpPr>
          <p:cNvPr id="4" name="">
            <a:extLst xmlns:a="http://schemas.openxmlformats.org/drawingml/2006/main">
              <a:ext uri="{FF2B5EF4-FFF2-40B4-BE49-F238E27FC236}">
                <a16:creationId xmlns:a16="http://schemas.microsoft.com/office/drawing/2014/main" id="{66AB7459-31DD-4064-BA38-87B768E3A33E}"/>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해시 / digest</a:t>
            </a:r>
          </a:p>
        </p:txBody>
      </p:sp>
      <p:sp>
        <p:nvSpPr>
          <p:cNvPr id="5" name="">
            <a:extLst xmlns:a="http://schemas.openxmlformats.org/drawingml/2006/main">
              <a:ext uri="{FF2B5EF4-FFF2-40B4-BE49-F238E27FC236}">
                <a16:creationId xmlns:a16="http://schemas.microsoft.com/office/drawing/2014/main" id="{470E8AF7-F1F5-4A85-BC61-CDF5F60E4D03}"/>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해시는 입력을 고정 길이의 값으로 바꾸는 함수이며, digest는 그 결과다.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MD5의 전체 출력은 128 bits이고, 이 실험은 그중 12 bits를 비교한다.</a:t>
            </a:r>
          </a:p>
        </p:txBody>
      </p:sp>
      <p:sp>
        <p:nvSpPr>
          <p:cNvPr id="6" name="">
            <a:extLst xmlns:a="http://schemas.openxmlformats.org/drawingml/2006/main">
              <a:ext uri="{FF2B5EF4-FFF2-40B4-BE49-F238E27FC236}">
                <a16:creationId xmlns:a16="http://schemas.microsoft.com/office/drawing/2014/main" id="{1227BD17-851B-4507-9D6F-1A029E085794}"/>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역상 (preimage)</a:t>
            </a:r>
          </a:p>
        </p:txBody>
      </p:sp>
      <p:sp>
        <p:nvSpPr>
          <p:cNvPr id="7" name="">
            <a:extLst xmlns:a="http://schemas.openxmlformats.org/drawingml/2006/main">
              <a:ext uri="{FF2B5EF4-FFF2-40B4-BE49-F238E27FC236}">
                <a16:creationId xmlns:a16="http://schemas.microsoft.com/office/drawing/2014/main" id="{3FC8E8EC-18D6-4FEE-8FA8-4BE7BD0C0EDE}"/>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지정한 해시값을 만드는 입력을 뜻한다. 이 실험에서는 선택한 12 bits가</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일치하는 입력이면 성공하며, 목표값을 만들었던 원문과 같을 필요는 없다.</a:t>
            </a:r>
          </a:p>
        </p:txBody>
      </p:sp>
      <p:sp>
        <p:nvSpPr>
          <p:cNvPr id="8" name="">
            <a:extLst xmlns:a="http://schemas.openxmlformats.org/drawingml/2006/main">
              <a:ext uri="{FF2B5EF4-FFF2-40B4-BE49-F238E27FC236}">
                <a16:creationId xmlns:a16="http://schemas.microsoft.com/office/drawing/2014/main" id="{326F6237-9A53-4B35-BAED-829E29C6240F}"/>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Target / window</a:t>
            </a:r>
          </a:p>
        </p:txBody>
      </p:sp>
      <p:sp>
        <p:nvSpPr>
          <p:cNvPr id="9" name="">
            <a:extLst xmlns:a="http://schemas.openxmlformats.org/drawingml/2006/main">
              <a:ext uri="{FF2B5EF4-FFF2-40B4-BE49-F238E27FC236}">
                <a16:creationId xmlns:a16="http://schemas.microsoft.com/office/drawing/2014/main" id="{7D5A0882-53E3-4102-803F-830D7E025122}"/>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Target은 맞혀야 할 목표값이다. Window는 출력에서 비교할 비트의 위치다.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주 실험의 W3는 digest를 오른쪽으로 52 bits 이동한 뒤 하위 12 bits를 취한다.</a:t>
            </a:r>
          </a:p>
        </p:txBody>
      </p:sp>
      <p:sp>
        <p:nvSpPr>
          <p:cNvPr id="10" name="">
            <a:extLst xmlns:a="http://schemas.openxmlformats.org/drawingml/2006/main">
              <a:ext uri="{FF2B5EF4-FFF2-40B4-BE49-F238E27FC236}">
                <a16:creationId xmlns:a16="http://schemas.microsoft.com/office/drawing/2014/main" id="{877FE414-3C51-437A-9B49-F71D977FEC70}"/>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Bit / byte / q / r</a:t>
            </a:r>
          </a:p>
        </p:txBody>
      </p:sp>
      <p:sp>
        <p:nvSpPr>
          <p:cNvPr id="11" name="">
            <a:extLst xmlns:a="http://schemas.openxmlformats.org/drawingml/2006/main">
              <a:ext uri="{FF2B5EF4-FFF2-40B4-BE49-F238E27FC236}">
                <a16:creationId xmlns:a16="http://schemas.microsoft.com/office/drawing/2014/main" id="{3BBA9F43-7F55-4A10-B351-E97664B51467}"/>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1 bit는 0 또는 1, 1 byte는 8 bits다. q=12는 목표값의 비트 수이며,</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r=64는 MD5 내부 계산의 step 수다. r=4는 계산을 줄인 양성 대조다.</a:t>
            </a:r>
          </a:p>
        </p:txBody>
      </p:sp>
      <p:sp>
        <p:nvSpPr>
          <p:cNvPr id="12" name="">
            <a:extLst xmlns:a="http://schemas.openxmlformats.org/drawingml/2006/main">
              <a:ext uri="{FF2B5EF4-FFF2-40B4-BE49-F238E27FC236}">
                <a16:creationId xmlns:a16="http://schemas.microsoft.com/office/drawing/2014/main" id="{B9F323F5-AF6A-4566-BB33-AC1141576C37}"/>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목표값 12 bits는 가능한 값 2¹²=4,096개를 뜻한다</a:t>
            </a:r>
          </a:p>
        </p:txBody>
      </p:sp>
    </p:spTree>
    <p:extLst>
      <p:ext uri="{BB962C8B-B14F-4D97-AF65-F5344CB8AC3E}">
        <p14:creationId xmlns:p14="http://schemas.microsoft.com/office/powerpoint/2010/main" val="6205678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2EEA21-AB28-4027-8F4F-0BF44F4C04F1}"/>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Diffusion과 조건부 생성</a:t>
            </a:r>
          </a:p>
        </p:txBody>
      </p:sp>
      <p:sp>
        <p:nvSpPr>
          <p:cNvPr id="2" name="">
            <a:extLst xmlns:a="http://schemas.openxmlformats.org/drawingml/2006/main">
              <a:ext uri="{FF2B5EF4-FFF2-40B4-BE49-F238E27FC236}">
                <a16:creationId xmlns:a16="http://schemas.microsoft.com/office/drawing/2014/main" id="{01257BA5-8D85-4674-91EC-006960ECB9A0}"/>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4</a:t>
            </a:r>
          </a:p>
        </p:txBody>
      </p:sp>
      <p:sp>
        <p:nvSpPr>
          <p:cNvPr id="3" name="">
            <a:extLst xmlns:a="http://schemas.openxmlformats.org/drawingml/2006/main">
              <a:ext uri="{FF2B5EF4-FFF2-40B4-BE49-F238E27FC236}">
                <a16:creationId xmlns:a16="http://schemas.microsoft.com/office/drawing/2014/main" id="{DAB83C33-53C2-4D97-B9FF-EDBA0622B380}"/>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§4.3, 구현 명세 §6–8</a:t>
            </a:r>
          </a:p>
        </p:txBody>
      </p:sp>
      <p:sp>
        <p:nvSpPr>
          <p:cNvPr id="4" name="">
            <a:extLst xmlns:a="http://schemas.openxmlformats.org/drawingml/2006/main">
              <a:ext uri="{FF2B5EF4-FFF2-40B4-BE49-F238E27FC236}">
                <a16:creationId xmlns:a16="http://schemas.microsoft.com/office/drawing/2014/main" id="{638E49ED-8507-49AB-A137-C9C4AED15854}"/>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Diffusion</a:t>
            </a:r>
          </a:p>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확산 모델</a:t>
            </a:r>
          </a:p>
        </p:txBody>
      </p:sp>
      <p:sp>
        <p:nvSpPr>
          <p:cNvPr id="5" name="">
            <a:extLst xmlns:a="http://schemas.openxmlformats.org/drawingml/2006/main">
              <a:ext uri="{FF2B5EF4-FFF2-40B4-BE49-F238E27FC236}">
                <a16:creationId xmlns:a16="http://schemas.microsoft.com/office/drawing/2014/main" id="{70A870EF-FDEC-4468-8272-1E8D3741214A}"/>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학습에서는 입력을 훼손하고 원래 입력을 예측한다. 생성에서는 잡음이나</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가린 기호에서 출발해 학습한 복원 과정을 반복하여 새 후보를 만든다.</a:t>
            </a:r>
          </a:p>
        </p:txBody>
      </p:sp>
      <p:sp>
        <p:nvSpPr>
          <p:cNvPr id="6" name="">
            <a:extLst xmlns:a="http://schemas.openxmlformats.org/drawingml/2006/main">
              <a:ext uri="{FF2B5EF4-FFF2-40B4-BE49-F238E27FC236}">
                <a16:creationId xmlns:a16="http://schemas.microsoft.com/office/drawing/2014/main" id="{5EBA7D74-D276-48D6-81C7-21C074E99390}"/>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Gaussian diffusion</a:t>
            </a:r>
          </a:p>
        </p:txBody>
      </p:sp>
      <p:sp>
        <p:nvSpPr>
          <p:cNvPr id="7" name="">
            <a:extLst xmlns:a="http://schemas.openxmlformats.org/drawingml/2006/main">
              <a:ext uri="{FF2B5EF4-FFF2-40B4-BE49-F238E27FC236}">
                <a16:creationId xmlns:a16="http://schemas.microsoft.com/office/drawing/2014/main" id="{B19D766C-B9BC-4A7D-A334-42453BA59BF5}"/>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이미지 픽셀에 정규분포의 연속 잡음을 더해 학습하는 방식이다.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이 실험은 BGV·CGGE 이미지의 실제 메시지 영역을 복원한다.</a:t>
            </a:r>
          </a:p>
        </p:txBody>
      </p:sp>
      <p:sp>
        <p:nvSpPr>
          <p:cNvPr id="8" name="">
            <a:extLst xmlns:a="http://schemas.openxmlformats.org/drawingml/2006/main">
              <a:ext uri="{FF2B5EF4-FFF2-40B4-BE49-F238E27FC236}">
                <a16:creationId xmlns:a16="http://schemas.microsoft.com/office/drawing/2014/main" id="{FE024A63-5768-4772-8153-FE0C5983186E}"/>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Discrete diffusion</a:t>
            </a:r>
          </a:p>
        </p:txBody>
      </p:sp>
      <p:sp>
        <p:nvSpPr>
          <p:cNvPr id="9" name="">
            <a:extLst xmlns:a="http://schemas.openxmlformats.org/drawingml/2006/main">
              <a:ext uri="{FF2B5EF4-FFF2-40B4-BE49-F238E27FC236}">
                <a16:creationId xmlns:a16="http://schemas.microsoft.com/office/drawing/2014/main" id="{3129110A-32EF-42BC-9A88-3C4ACE05C9F4}"/>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기호를 이산적인 상태로 다루는 방식이다. 이 실험은 일부 토큰을 MASK로</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가려 학습하고, 생성할 때 가린 토큰을 순차적으로 채운다.</a:t>
            </a:r>
          </a:p>
        </p:txBody>
      </p:sp>
      <p:sp>
        <p:nvSpPr>
          <p:cNvPr id="10" name="">
            <a:extLst xmlns:a="http://schemas.openxmlformats.org/drawingml/2006/main">
              <a:ext uri="{FF2B5EF4-FFF2-40B4-BE49-F238E27FC236}">
                <a16:creationId xmlns:a16="http://schemas.microsoft.com/office/drawing/2014/main" id="{2ED23714-ED35-447F-A919-7E49A303ECAC}"/>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Condition / denoiser</a:t>
            </a:r>
          </a:p>
        </p:txBody>
      </p:sp>
      <p:sp>
        <p:nvSpPr>
          <p:cNvPr id="11" name="">
            <a:extLst xmlns:a="http://schemas.openxmlformats.org/drawingml/2006/main">
              <a:ext uri="{FF2B5EF4-FFF2-40B4-BE49-F238E27FC236}">
                <a16:creationId xmlns:a16="http://schemas.microsoft.com/office/drawing/2014/main" id="{5C9CDCA4-AA71-48EF-BBE5-1BE3C24C7646}"/>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Condition은 생성을 유도하는 목표 해시의 12 bits다. Denoiser는</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훼손된 입력, 조건, 잡음 시점을 받아 원본 이미지나 토큰을 예측하는 모델이다.</a:t>
            </a:r>
          </a:p>
        </p:txBody>
      </p:sp>
      <p:sp>
        <p:nvSpPr>
          <p:cNvPr id="12" name="">
            <a:extLst xmlns:a="http://schemas.openxmlformats.org/drawingml/2006/main">
              <a:ext uri="{FF2B5EF4-FFF2-40B4-BE49-F238E27FC236}">
                <a16:creationId xmlns:a16="http://schemas.microsoft.com/office/drawing/2014/main" id="{634B7740-DA91-40C9-9CAA-8716E2AD14DB}"/>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생성 모델은 목표값과 난수를 사용하고, 생성한 후보의 해시는 이후에 확인한다</a:t>
            </a:r>
          </a:p>
        </p:txBody>
      </p:sp>
    </p:spTree>
    <p:extLst>
      <p:ext uri="{BB962C8B-B14F-4D97-AF65-F5344CB8AC3E}">
        <p14:creationId xmlns:p14="http://schemas.microsoft.com/office/powerpoint/2010/main" val="9925165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72FB5D-3F3B-451E-AC23-F4E26EA3D993}"/>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입력과 해시 파라미터</a:t>
            </a:r>
          </a:p>
        </p:txBody>
      </p:sp>
      <p:sp>
        <p:nvSpPr>
          <p:cNvPr id="2" name="">
            <a:extLst xmlns:a="http://schemas.openxmlformats.org/drawingml/2006/main">
              <a:ext uri="{FF2B5EF4-FFF2-40B4-BE49-F238E27FC236}">
                <a16:creationId xmlns:a16="http://schemas.microsoft.com/office/drawing/2014/main" id="{2ED2093B-0E35-47CB-983A-7AE829F39206}"/>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5</a:t>
            </a:r>
          </a:p>
        </p:txBody>
      </p:sp>
      <p:sp>
        <p:nvSpPr>
          <p:cNvPr id="3" name="">
            <a:extLst xmlns:a="http://schemas.openxmlformats.org/drawingml/2006/main">
              <a:ext uri="{FF2B5EF4-FFF2-40B4-BE49-F238E27FC236}">
                <a16:creationId xmlns:a16="http://schemas.microsoft.com/office/drawing/2014/main" id="{32BA1E3A-14A7-4444-833E-4B5B181DCEC8}"/>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등록 설정, 연구 계획 §4</a:t>
            </a:r>
          </a:p>
        </p:txBody>
      </p:sp>
      <p:graphicFrame>
        <p:nvGraphicFramePr>
          <p:cNvPr id="9" name=""/>
          <p:cNvGraphicFramePr/>
          <p:nvPr/>
        </p:nvGraphicFramePr>
        <p:xfrm>
          <a:off xmlns:a="http://schemas.openxmlformats.org/drawingml/2006/main" x="609600" y="1514475"/>
          <a:ext xmlns:a="http://schemas.openxmlformats.org/drawingml/2006/main" cx="10972800" cy="4200525"/>
        </p:xfrm>
        <a:graphic xmlns:a="http://schemas.openxmlformats.org/drawingml/2006/main">
          <a:graphicData uri="http://schemas.openxmlformats.org/drawingml/2006/table">
            <a:tbl>
              <a:tblPr firstRow="0" bandRow="0"/>
              <a:tblGrid>
                <a:gridCol w="1828800"/>
                <a:gridCol w="4667250"/>
                <a:gridCol w="4476750"/>
              </a:tblGrid>
              <a:tr h="600075">
                <a:tc>
                  <a:txBody>
                    <a:bodyPr wrap="square" lIns="133350" tIns="76200" rIns="133350" bIns="76200">
                      <a:noAutofit/>
                    </a:bodyPr>
                    <a:lstStyle/>
                    <a:p>
                      <a:pPr algn="l"/>
                      <a:r>
                        <a:rPr sz="1650"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33350" bIns="76200">
                      <a:noAutofit/>
                    </a:bodyPr>
                    <a:lstStyle/>
                    <a:p>
                      <a:pPr algn="l"/>
                      <a:r>
                        <a:rPr sz="1650" b="1" lang="ko-KR" altLang="en-US">
                          <a:solidFill>
                            <a:srgbClr val="FFFFFF"/>
                          </a:solidFill>
                          <a:latin typeface="Malgun Gothic"/>
                          <a:ea typeface="Malgun Gothic"/>
                          <a:cs typeface="Malgun Gothic"/>
                        </a:rPr>
                        <a:t>사용값</a:t>
                      </a:r>
                    </a:p>
                  </a:txBody>
                  <a:tcPr marL="91440" marR="91440" marT="45720" marB="45720" anchor="ctr">
                    <a:solidFill>
                      <a:srgbClr val="142C43"/>
                    </a:solidFill>
                  </a:tcPr>
                </a:tc>
                <a:tc>
                  <a:txBody>
                    <a:bodyPr wrap="square" lIns="133350" tIns="76200" rIns="133350" bIns="76200">
                      <a:noAutofit/>
                    </a:bodyPr>
                    <a:lstStyle/>
                    <a:p>
                      <a:pPr algn="l"/>
                      <a:r>
                        <a:rPr sz="1650"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600075">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입력 분포</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Printable 94종 / Random Bytes 256종</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사전 입력 분포(prior)의 기호 범위</a:t>
                      </a:r>
                    </a:p>
                  </a:txBody>
                  <a:tcPr marL="91440" marR="91440" marT="45720" marB="45720" anchor="ctr">
                    <a:solidFill>
                      <a:srgbClr val="F2F5F7"/>
                    </a:solidFill>
                  </a:tcPr>
                </a:tc>
              </a:tr>
              <a:tr h="600075">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길이 L</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4–31 bytes, 균등 추출</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모델이 생성하는 입력의 길이</a:t>
                      </a:r>
                    </a:p>
                  </a:txBody>
                  <a:tcPr marL="91440" marR="91440" marT="45720" marB="45720" anchor="ctr">
                    <a:solidFill>
                      <a:srgbClr val="FFFFFF"/>
                    </a:solidFill>
                  </a:tcPr>
                </a:tc>
              </a:tr>
              <a:tr h="600075">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해시 step r</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주 실험 64 / 양성 대조 4</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MD5 내부 계산을 수행하는 횟수</a:t>
                      </a:r>
                    </a:p>
                  </a:txBody>
                  <a:tcPr marL="91440" marR="91440" marT="45720" marB="45720" anchor="ctr">
                    <a:solidFill>
                      <a:srgbClr val="F2F5F7"/>
                    </a:solidFill>
                  </a:tcPr>
                </a:tc>
              </a:tr>
              <a:tr h="600075">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목표 크기 q</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12 bits, 가능한 값 4,096개</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생성 후보와 일치시킬 해시 정보량</a:t>
                      </a:r>
                    </a:p>
                  </a:txBody>
                  <a:tcPr marL="91440" marR="91440" marT="45720" marB="45720" anchor="ctr">
                    <a:solidFill>
                      <a:srgbClr val="FFFFFF"/>
                    </a:solidFill>
                  </a:tcPr>
                </a:tc>
              </a:tr>
              <a:tr h="600075">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주 평가 위치</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W3: (digest &gt;&gt; 52) &amp; 0xFFF</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128-bit 출력에서 선택한 12 bits</a:t>
                      </a:r>
                    </a:p>
                  </a:txBody>
                  <a:tcPr marL="91440" marR="91440" marT="45720" marB="45720" anchor="ctr">
                    <a:solidFill>
                      <a:srgbClr val="F2F5F7"/>
                    </a:solidFill>
                  </a:tcPr>
                </a:tc>
              </a:tr>
              <a:tr h="600075">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목표값 분할</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학습 2,816 / 검증 256 / 시험 1,024</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학습에 쓰지 않은 해시값으로 평가</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4970D5-ADB2-425A-9D5D-16CA3373DC75}"/>
              </a:ext>
            </a:extLst>
          </p:cNvPr>
          <p:cNvSpPr>
            <a:spLocks xmlns:a="http://schemas.openxmlformats.org/drawingml/2006/main" noGrp="1"/>
          </p:cNvSpPr>
          <p:nvPr/>
        </p:nvSpPr>
        <p:spPr>
          <a:xfrm xmlns:a="http://schemas.openxmlformats.org/drawingml/2006/main">
            <a:off x="609600" y="59245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시험 목표값과 학습 목표값을 분리해 미학습 조건의 생성 능력을 평가</a:t>
            </a:r>
          </a:p>
        </p:txBody>
      </p:sp>
    </p:spTree>
    <p:extLst>
      <p:ext uri="{BB962C8B-B14F-4D97-AF65-F5344CB8AC3E}">
        <p14:creationId xmlns:p14="http://schemas.microsoft.com/office/powerpoint/2010/main" val="7139236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31756A-4B06-4CAA-A02F-2E05DA1C5CE1}"/>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입력 표현과 인코더·디코더</a:t>
            </a:r>
          </a:p>
        </p:txBody>
      </p:sp>
      <p:sp>
        <p:nvSpPr>
          <p:cNvPr id="2" name="">
            <a:extLst xmlns:a="http://schemas.openxmlformats.org/drawingml/2006/main">
              <a:ext uri="{FF2B5EF4-FFF2-40B4-BE49-F238E27FC236}">
                <a16:creationId xmlns:a16="http://schemas.microsoft.com/office/drawing/2014/main" id="{B4468B79-2CCA-4158-ABA6-BF020379D53A}"/>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6</a:t>
            </a:r>
          </a:p>
        </p:txBody>
      </p:sp>
      <p:sp>
        <p:nvSpPr>
          <p:cNvPr id="3" name="">
            <a:extLst xmlns:a="http://schemas.openxmlformats.org/drawingml/2006/main">
              <a:ext uri="{FF2B5EF4-FFF2-40B4-BE49-F238E27FC236}">
                <a16:creationId xmlns:a16="http://schemas.microsoft.com/office/drawing/2014/main" id="{0656B9F5-33BD-4082-83DE-5959C623B05C}"/>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§4.4, 구현 명세 §5</a:t>
            </a:r>
          </a:p>
        </p:txBody>
      </p:sp>
      <p:sp>
        <p:nvSpPr>
          <p:cNvPr id="4" name="">
            <a:extLst xmlns:a="http://schemas.openxmlformats.org/drawingml/2006/main">
              <a:ext uri="{FF2B5EF4-FFF2-40B4-BE49-F238E27FC236}">
                <a16:creationId xmlns:a16="http://schemas.microsoft.com/office/drawing/2014/main" id="{2AEC42BF-67B1-44A0-9429-E24687AC6A89}"/>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Encoder / decoder</a:t>
            </a:r>
          </a:p>
        </p:txBody>
      </p:sp>
      <p:sp>
        <p:nvSpPr>
          <p:cNvPr id="5" name="">
            <a:extLst xmlns:a="http://schemas.openxmlformats.org/drawingml/2006/main">
              <a:ext uri="{FF2B5EF4-FFF2-40B4-BE49-F238E27FC236}">
                <a16:creationId xmlns:a16="http://schemas.microsoft.com/office/drawing/2014/main" id="{EABDB1B8-E235-47A7-A246-4B8FBE35372E}"/>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Encoder는 입력 바이트를 모델이 처리할 이미지나 토큰으로 바꾼다.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Decoder는 모델 출력을 실제 바이트열로 바꾸어 해시 검증에 전달한다.</a:t>
            </a:r>
          </a:p>
        </p:txBody>
      </p:sp>
      <p:sp>
        <p:nvSpPr>
          <p:cNvPr id="6" name="">
            <a:extLst xmlns:a="http://schemas.openxmlformats.org/drawingml/2006/main">
              <a:ext uri="{FF2B5EF4-FFF2-40B4-BE49-F238E27FC236}">
                <a16:creationId xmlns:a16="http://schemas.microsoft.com/office/drawing/2014/main" id="{B28E68EE-40D0-447E-ACB2-325FB7893947}"/>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BGV / CGGE</a:t>
            </a:r>
          </a:p>
        </p:txBody>
      </p:sp>
      <p:sp>
        <p:nvSpPr>
          <p:cNvPr id="7" name="">
            <a:extLst xmlns:a="http://schemas.openxmlformats.org/drawingml/2006/main">
              <a:ext uri="{FF2B5EF4-FFF2-40B4-BE49-F238E27FC236}">
                <a16:creationId xmlns:a16="http://schemas.microsoft.com/office/drawing/2014/main" id="{B35C4C29-E852-4ACA-9417-A49C2EF4F8C6}"/>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BGV(Byte Glyph Visualization)는 바이트의 8-bit 패턴을 블록으로 표현한다.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CGGE(Character Glyph Grid Encoding)는 문자의 고정된 모양을 격자로 표현한다.</a:t>
            </a:r>
          </a:p>
        </p:txBody>
      </p:sp>
      <p:sp>
        <p:nvSpPr>
          <p:cNvPr id="8" name="">
            <a:extLst xmlns:a="http://schemas.openxmlformats.org/drawingml/2006/main">
              <a:ext uri="{FF2B5EF4-FFF2-40B4-BE49-F238E27FC236}">
                <a16:creationId xmlns:a16="http://schemas.microsoft.com/office/drawing/2014/main" id="{98658F2E-AC6F-448C-831B-6CEB2F1BD795}"/>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Token / payload</a:t>
            </a:r>
          </a:p>
        </p:txBody>
      </p:sp>
      <p:sp>
        <p:nvSpPr>
          <p:cNvPr id="9" name="">
            <a:extLst xmlns:a="http://schemas.openxmlformats.org/drawingml/2006/main">
              <a:ext uri="{FF2B5EF4-FFF2-40B4-BE49-F238E27FC236}">
                <a16:creationId xmlns:a16="http://schemas.microsoft.com/office/drawing/2014/main" id="{0D015DAA-8602-4566-8D95-8082760EC2F5}"/>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Token은 기호를 나타내는 번호이며, 여기서는 문자 또는 바이트에 대응한다.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Payload는 실제 메시지 내용이다. PAD는 빈 자리, EOS는 종료, MASK는 가림 기호다.</a:t>
            </a:r>
          </a:p>
        </p:txBody>
      </p:sp>
      <p:sp>
        <p:nvSpPr>
          <p:cNvPr id="10" name="">
            <a:extLst xmlns:a="http://schemas.openxmlformats.org/drawingml/2006/main">
              <a:ext uri="{FF2B5EF4-FFF2-40B4-BE49-F238E27FC236}">
                <a16:creationId xmlns:a16="http://schemas.microsoft.com/office/drawing/2014/main" id="{02EAF7F1-4383-4BBD-9DDC-227544009884}"/>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Prototype decoder</a:t>
            </a:r>
          </a:p>
        </p:txBody>
      </p:sp>
      <p:sp>
        <p:nvSpPr>
          <p:cNvPr id="11" name="">
            <a:extLst xmlns:a="http://schemas.openxmlformats.org/drawingml/2006/main">
              <a:ext uri="{FF2B5EF4-FFF2-40B4-BE49-F238E27FC236}">
                <a16:creationId xmlns:a16="http://schemas.microsoft.com/office/drawing/2014/main" id="{D0F3280C-D403-4CFE-9E13-E61EE7534C68}"/>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Prototype은 각 허용 기호의 기준 이미지다. 생성한 이미지와 거리 또는</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평균제곱오차가 가장 작은 기준을 골라 기호를 복원한다. 동점이면 작은 값을 고른다.</a:t>
            </a:r>
          </a:p>
        </p:txBody>
      </p:sp>
      <p:sp>
        <p:nvSpPr>
          <p:cNvPr id="12" name="">
            <a:extLst xmlns:a="http://schemas.openxmlformats.org/drawingml/2006/main">
              <a:ext uri="{FF2B5EF4-FFF2-40B4-BE49-F238E27FC236}">
                <a16:creationId xmlns:a16="http://schemas.microsoft.com/office/drawing/2014/main" id="{24511F31-01CC-4C62-B14C-E1D65642C51F}"/>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BGV는 비트 배열, CGGE는 문자 모양, Token은 기호 번호를 모델에 제공한다</a:t>
            </a:r>
          </a:p>
        </p:txBody>
      </p:sp>
    </p:spTree>
    <p:extLst>
      <p:ext uri="{BB962C8B-B14F-4D97-AF65-F5344CB8AC3E}">
        <p14:creationId xmlns:p14="http://schemas.microsoft.com/office/powerpoint/2010/main" val="15763539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99B6D8-EFC1-49C8-9928-0747C971ECC9}"/>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파이프라인과 모델 구조 용어</a:t>
            </a:r>
          </a:p>
        </p:txBody>
      </p:sp>
      <p:sp>
        <p:nvSpPr>
          <p:cNvPr id="2" name="">
            <a:extLst xmlns:a="http://schemas.openxmlformats.org/drawingml/2006/main">
              <a:ext uri="{FF2B5EF4-FFF2-40B4-BE49-F238E27FC236}">
                <a16:creationId xmlns:a16="http://schemas.microsoft.com/office/drawing/2014/main" id="{3116B66B-A1EC-46E8-8537-3D4B65C285F8}"/>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7</a:t>
            </a:r>
          </a:p>
        </p:txBody>
      </p:sp>
      <p:sp>
        <p:nvSpPr>
          <p:cNvPr id="3" name="">
            <a:extLst xmlns:a="http://schemas.openxmlformats.org/drawingml/2006/main">
              <a:ext uri="{FF2B5EF4-FFF2-40B4-BE49-F238E27FC236}">
                <a16:creationId xmlns:a16="http://schemas.microsoft.com/office/drawing/2014/main" id="{9C7555C3-988A-482F-9480-284BF546FB56}"/>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구현 명세 §6, 등록 설정 models</a:t>
            </a:r>
          </a:p>
        </p:txBody>
      </p:sp>
      <p:sp>
        <p:nvSpPr>
          <p:cNvPr id="4" name="">
            <a:extLst xmlns:a="http://schemas.openxmlformats.org/drawingml/2006/main">
              <a:ext uri="{FF2B5EF4-FFF2-40B4-BE49-F238E27FC236}">
                <a16:creationId xmlns:a16="http://schemas.microsoft.com/office/drawing/2014/main" id="{C34DF5ED-935D-45D8-AFE9-A60E3776A53C}"/>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Pipeline / parameter</a:t>
            </a:r>
          </a:p>
        </p:txBody>
      </p:sp>
      <p:sp>
        <p:nvSpPr>
          <p:cNvPr id="5" name="">
            <a:extLst xmlns:a="http://schemas.openxmlformats.org/drawingml/2006/main">
              <a:ext uri="{FF2B5EF4-FFF2-40B4-BE49-F238E27FC236}">
                <a16:creationId xmlns:a16="http://schemas.microsoft.com/office/drawing/2014/main" id="{CCE9AFE8-E390-4598-B343-7BB949BA0985}"/>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파이프라인은 입력 분포·표현·모델·생성·복호화를 묶은 비교 단위다.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Parameter는 학습하는 가중치·편향이며, hyperparameter는 사람이 정하는 학습 설정이다.</a:t>
            </a:r>
          </a:p>
        </p:txBody>
      </p:sp>
      <p:sp>
        <p:nvSpPr>
          <p:cNvPr id="6" name="">
            <a:extLst xmlns:a="http://schemas.openxmlformats.org/drawingml/2006/main">
              <a:ext uri="{FF2B5EF4-FFF2-40B4-BE49-F238E27FC236}">
                <a16:creationId xmlns:a16="http://schemas.microsoft.com/office/drawing/2014/main" id="{5C6F341C-DD4E-4874-AFB0-4F4447791192}"/>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G3-U / U-Net / 채널</a:t>
            </a:r>
          </a:p>
        </p:txBody>
      </p:sp>
      <p:sp>
        <p:nvSpPr>
          <p:cNvPr id="7" name="">
            <a:extLst xmlns:a="http://schemas.openxmlformats.org/drawingml/2006/main">
              <a:ext uri="{FF2B5EF4-FFF2-40B4-BE49-F238E27FC236}">
                <a16:creationId xmlns:a16="http://schemas.microsoft.com/office/drawing/2014/main" id="{7F3BC59B-B7E4-4ADB-B201-DA2FBDFC40FF}"/>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G3-U는 이미지 확산에 사용한 모델 식별자다. U-Net은 해상도를 줄였다가</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늘리며 앞쪽 특징을 다시 연결한다. 채널 수는 위치마다 표현하는 특징의 수다.</a:t>
            </a:r>
          </a:p>
        </p:txBody>
      </p:sp>
      <p:sp>
        <p:nvSpPr>
          <p:cNvPr id="8" name="">
            <a:extLst xmlns:a="http://schemas.openxmlformats.org/drawingml/2006/main">
              <a:ext uri="{FF2B5EF4-FFF2-40B4-BE49-F238E27FC236}">
                <a16:creationId xmlns:a16="http://schemas.microsoft.com/office/drawing/2014/main" id="{E05A5333-EB70-4313-95B1-46EDFF325813}"/>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D1-S / embedding</a:t>
            </a:r>
          </a:p>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Hidden dimension</a:t>
            </a:r>
          </a:p>
        </p:txBody>
      </p:sp>
      <p:sp>
        <p:nvSpPr>
          <p:cNvPr id="9" name="">
            <a:extLst xmlns:a="http://schemas.openxmlformats.org/drawingml/2006/main">
              <a:ext uri="{FF2B5EF4-FFF2-40B4-BE49-F238E27FC236}">
                <a16:creationId xmlns:a16="http://schemas.microsoft.com/office/drawing/2014/main" id="{00E45BF6-B09C-4E17-B680-8569BEA863BE}"/>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D1-S는 토큰용 모델 식별자다. Embedding은 기호 번호를 수치 벡터로 바꾼다.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여기서는 16차원이며, hidden 128은 중간 계산을 담당하는 은닉층의 폭이다.</a:t>
            </a:r>
          </a:p>
        </p:txBody>
      </p:sp>
      <p:sp>
        <p:nvSpPr>
          <p:cNvPr id="10" name="">
            <a:extLst xmlns:a="http://schemas.openxmlformats.org/drawingml/2006/main">
              <a:ext uri="{FF2B5EF4-FFF2-40B4-BE49-F238E27FC236}">
                <a16:creationId xmlns:a16="http://schemas.microsoft.com/office/drawing/2014/main" id="{B84FB715-CE63-4D85-AF2E-D89E10F1E06A}"/>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D1-T-L / Transformer</a:t>
            </a:r>
          </a:p>
        </p:txBody>
      </p:sp>
      <p:sp>
        <p:nvSpPr>
          <p:cNvPr id="11" name="">
            <a:extLst xmlns:a="http://schemas.openxmlformats.org/drawingml/2006/main">
              <a:ext uri="{FF2B5EF4-FFF2-40B4-BE49-F238E27FC236}">
                <a16:creationId xmlns:a16="http://schemas.microsoft.com/office/drawing/2014/main" id="{522736BC-DAC3-46F4-A52F-E8D4780B5F04}"/>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규모 확대에는 8층 Transformer를 썼다. Attention head 8개는 기호 간 관계를</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여러 방식으로 계산하고, FFN 1,024는 각 위치의 특징을 변환하는 중간층의 폭이다.</a:t>
            </a:r>
          </a:p>
        </p:txBody>
      </p:sp>
      <p:sp>
        <p:nvSpPr>
          <p:cNvPr id="12" name="">
            <a:extLst xmlns:a="http://schemas.openxmlformats.org/drawingml/2006/main">
              <a:ext uri="{FF2B5EF4-FFF2-40B4-BE49-F238E27FC236}">
                <a16:creationId xmlns:a16="http://schemas.microsoft.com/office/drawing/2014/main" id="{EB67C38B-95FB-4D8A-B148-7E58D13720B0}"/>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모델의 가중치 개수와 학습률·배치 크기는 서로 다른 종류의 파라미터다</a:t>
            </a:r>
          </a:p>
        </p:txBody>
      </p:sp>
    </p:spTree>
    <p:extLst>
      <p:ext uri="{BB962C8B-B14F-4D97-AF65-F5344CB8AC3E}">
        <p14:creationId xmlns:p14="http://schemas.microsoft.com/office/powerpoint/2010/main" val="9810011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9E3543-C7E7-4FB3-BCA6-826780E9A9F6}"/>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비교한 모델과 학습 파라미터 수</a:t>
            </a:r>
          </a:p>
        </p:txBody>
      </p:sp>
      <p:sp>
        <p:nvSpPr>
          <p:cNvPr id="2" name="">
            <a:extLst xmlns:a="http://schemas.openxmlformats.org/drawingml/2006/main">
              <a:ext uri="{FF2B5EF4-FFF2-40B4-BE49-F238E27FC236}">
                <a16:creationId xmlns:a16="http://schemas.microsoft.com/office/drawing/2014/main" id="{6F92C577-51C3-4A70-AF56-B78B0058AF44}"/>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8</a:t>
            </a:r>
          </a:p>
        </p:txBody>
      </p:sp>
      <p:sp>
        <p:nvSpPr>
          <p:cNvPr id="3" name="">
            <a:extLst xmlns:a="http://schemas.openxmlformats.org/drawingml/2006/main">
              <a:ext uri="{FF2B5EF4-FFF2-40B4-BE49-F238E27FC236}">
                <a16:creationId xmlns:a16="http://schemas.microsoft.com/office/drawing/2014/main" id="{B64B876B-B3ED-4884-814A-71043E64CE6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등록 설정 models, pipelines</a:t>
            </a:r>
          </a:p>
        </p:txBody>
      </p:sp>
      <p:graphicFrame>
        <p:nvGraphicFramePr>
          <p:cNvPr id="10" name=""/>
          <p:cNvGraphicFramePr/>
          <p:nvPr/>
        </p:nvGraphicFramePr>
        <p:xfrm>
          <a:off xmlns:a="http://schemas.openxmlformats.org/drawingml/2006/main" x="609600" y="1657350"/>
          <a:ext xmlns:a="http://schemas.openxmlformats.org/drawingml/2006/main" cx="10972800" cy="3543300"/>
        </p:xfrm>
        <a:graphic xmlns:a="http://schemas.openxmlformats.org/drawingml/2006/main">
          <a:graphicData uri="http://schemas.openxmlformats.org/drawingml/2006/table">
            <a:tbl>
              <a:tblPr firstRow="0" bandRow="0"/>
              <a:tblGrid>
                <a:gridCol w="2076450"/>
                <a:gridCol w="2286000"/>
                <a:gridCol w="4019550"/>
                <a:gridCol w="2590800"/>
              </a:tblGrid>
              <a:tr h="590550">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입력 분포</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표현 / 모델</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학습 파라미터 수</a:t>
                      </a:r>
                    </a:p>
                  </a:txBody>
                  <a:tcPr marL="91440" marR="91440" marT="45720" marB="45720" anchor="ctr">
                    <a:solidFill>
                      <a:srgbClr val="142C43"/>
                    </a:solidFill>
                  </a:tcPr>
                </a:tc>
              </a:tr>
              <a:tr h="59055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P-G-BGV</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Printable</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BGV / G3-U</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910,638</a:t>
                      </a:r>
                    </a:p>
                  </a:txBody>
                  <a:tcPr marL="91440" marR="91440" marT="45720" marB="45720" anchor="ctr">
                    <a:solidFill>
                      <a:srgbClr val="F2F5F7"/>
                    </a:solidFill>
                  </a:tcPr>
                </a:tc>
              </a:tr>
              <a:tr h="59055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Printable</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CGGE / G3-U</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513,326</a:t>
                      </a:r>
                    </a:p>
                  </a:txBody>
                  <a:tcPr marL="91440" marR="91440" marT="45720" marB="45720" anchor="ctr">
                    <a:solidFill>
                      <a:srgbClr val="FFFFFF"/>
                    </a:solidFill>
                  </a:tcPr>
                </a:tc>
              </a:tr>
              <a:tr h="59055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P-DISC</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Printable</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Token / D1-S</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508,668</a:t>
                      </a:r>
                    </a:p>
                  </a:txBody>
                  <a:tcPr marL="91440" marR="91440" marT="45720" marB="45720" anchor="ctr">
                    <a:solidFill>
                      <a:srgbClr val="F2F5F7"/>
                    </a:solidFill>
                  </a:tcPr>
                </a:tc>
              </a:tr>
              <a:tr h="59055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Random Bytes</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BGV / G3-U</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910,638</a:t>
                      </a:r>
                    </a:p>
                  </a:txBody>
                  <a:tcPr marL="91440" marR="91440" marT="45720" marB="45720" anchor="ctr">
                    <a:solidFill>
                      <a:srgbClr val="FFFFFF"/>
                    </a:solidFill>
                  </a:tcPr>
                </a:tc>
              </a:tr>
              <a:tr h="59055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R-DISC</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Random Bytes</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Token / D1-S</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1,252,572</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BBCACFE4-0EDD-4D77-84DC-F23F6AD8D09B}"/>
              </a:ext>
            </a:extLst>
          </p:cNvPr>
          <p:cNvSpPr>
            <a:spLocks xmlns:a="http://schemas.openxmlformats.org/drawingml/2006/main" noGrp="1"/>
          </p:cNvSpPr>
          <p:nvPr/>
        </p:nvSpPr>
        <p:spPr>
          <a:xfrm xmlns:a="http://schemas.openxmlformats.org/drawingml/2006/main">
            <a:off x="609600" y="55340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BGV: 비트 패턴 이미지    CGGE: 문자 모양 이미지    Token: 이산 기호</a:t>
            </a:r>
          </a:p>
        </p:txBody>
      </p:sp>
      <p:sp>
        <p:nvSpPr>
          <p:cNvPr id="6" name="">
            <a:extLst xmlns:a="http://schemas.openxmlformats.org/drawingml/2006/main">
              <a:ext uri="{FF2B5EF4-FFF2-40B4-BE49-F238E27FC236}">
                <a16:creationId xmlns:a16="http://schemas.microsoft.com/office/drawing/2014/main" id="{DD9C0A20-E423-4A74-A649-1A6A25350053}"/>
              </a:ext>
            </a:extLst>
          </p:cNvPr>
          <p:cNvSpPr>
            <a:spLocks xmlns:a="http://schemas.openxmlformats.org/drawingml/2006/main" noGrp="1"/>
          </p:cNvSpPr>
          <p:nvPr/>
        </p:nvSpPr>
        <p:spPr>
          <a:xfrm xmlns:a="http://schemas.openxmlformats.org/drawingml/2006/main">
            <a:off x="609600" y="59626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lang="ko-KR" altLang="en-US">
                <a:solidFill>
                  <a:srgbClr val="5A6B78"/>
                </a:solidFill>
                <a:latin typeface="Malgun Gothic"/>
                <a:ea typeface="Malgun Gothic"/>
                <a:cs typeface="Malgun Gothic"/>
              </a:defRPr>
            </a:pPr>
            <a:r>
              <a:rPr sz="1725" b="0" lang="ko-KR" altLang="en-US">
                <a:solidFill>
                  <a:srgbClr val="5A6B78"/>
                </a:solidFill>
                <a:latin typeface="Malgun Gothic"/>
                <a:ea typeface="Malgun Gothic"/>
                <a:cs typeface="Malgun Gothic"/>
              </a:rPr>
              <a:t>학습 파라미터 수는 모델 규모이며, 학습률·배치 크기 등의 설정과 구분된다</a:t>
            </a:r>
          </a:p>
        </p:txBody>
      </p:sp>
    </p:spTree>
    <p:extLst>
      <p:ext uri="{BB962C8B-B14F-4D97-AF65-F5344CB8AC3E}">
        <p14:creationId xmlns:p14="http://schemas.microsoft.com/office/powerpoint/2010/main" val="15162387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9947901-9168-429D-93BA-280FB691AE71}"/>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학습 단위: batch·update·seed·checkpoint</a:t>
            </a:r>
          </a:p>
        </p:txBody>
      </p:sp>
      <p:sp>
        <p:nvSpPr>
          <p:cNvPr id="2" name="">
            <a:extLst xmlns:a="http://schemas.openxmlformats.org/drawingml/2006/main">
              <a:ext uri="{FF2B5EF4-FFF2-40B4-BE49-F238E27FC236}">
                <a16:creationId xmlns:a16="http://schemas.microsoft.com/office/drawing/2014/main" id="{A6121EC6-3527-45C5-9A45-3261863ED718}"/>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9</a:t>
            </a:r>
          </a:p>
        </p:txBody>
      </p:sp>
      <p:sp>
        <p:nvSpPr>
          <p:cNvPr id="3" name="">
            <a:extLst xmlns:a="http://schemas.openxmlformats.org/drawingml/2006/main">
              <a:ext uri="{FF2B5EF4-FFF2-40B4-BE49-F238E27FC236}">
                <a16:creationId xmlns:a16="http://schemas.microsoft.com/office/drawing/2014/main" id="{14165844-231B-4001-97EE-1831448D156C}"/>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§4.2, 구현 명세 §7</a:t>
            </a:r>
          </a:p>
        </p:txBody>
      </p:sp>
      <p:sp>
        <p:nvSpPr>
          <p:cNvPr id="4" name="">
            <a:extLst xmlns:a="http://schemas.openxmlformats.org/drawingml/2006/main">
              <a:ext uri="{FF2B5EF4-FFF2-40B4-BE49-F238E27FC236}">
                <a16:creationId xmlns:a16="http://schemas.microsoft.com/office/drawing/2014/main" id="{84048F2A-48DE-4B3E-9EE3-F20E65B1031D}"/>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Batch / update</a:t>
            </a:r>
          </a:p>
        </p:txBody>
      </p:sp>
      <p:sp>
        <p:nvSpPr>
          <p:cNvPr id="5" name="">
            <a:extLst xmlns:a="http://schemas.openxmlformats.org/drawingml/2006/main">
              <a:ext uri="{FF2B5EF4-FFF2-40B4-BE49-F238E27FC236}">
                <a16:creationId xmlns:a16="http://schemas.microsoft.com/office/drawing/2014/main" id="{ABAFC6E3-E92E-467F-BE05-0DDB3419BF0E}"/>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Batch는 한 번의 가중치 갱신에 사용하는 데이터 묶음이고, update는 그 갱신이다.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Batch 256 × 40,000 updates는 run당 1,024만 학습 쌍을 추출한다는 뜻이다.</a:t>
            </a:r>
          </a:p>
        </p:txBody>
      </p:sp>
      <p:sp>
        <p:nvSpPr>
          <p:cNvPr id="6" name="">
            <a:extLst xmlns:a="http://schemas.openxmlformats.org/drawingml/2006/main">
              <a:ext uri="{FF2B5EF4-FFF2-40B4-BE49-F238E27FC236}">
                <a16:creationId xmlns:a16="http://schemas.microsoft.com/office/drawing/2014/main" id="{75F48102-23F5-4B25-AE17-DA73DE3BB4DE}"/>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새 쌍 / epoch</a:t>
            </a:r>
          </a:p>
        </p:txBody>
      </p:sp>
      <p:sp>
        <p:nvSpPr>
          <p:cNvPr id="7" name="">
            <a:extLst xmlns:a="http://schemas.openxmlformats.org/drawingml/2006/main">
              <a:ext uri="{FF2B5EF4-FFF2-40B4-BE49-F238E27FC236}">
                <a16:creationId xmlns:a16="http://schemas.microsoft.com/office/drawing/2014/main" id="{174E9E50-EE00-4DFF-B27C-447688591268}"/>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매 update마다 정한 입력 분포에서 메시지를 새로 추출한다. Epoch는 고정된</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데이터를 한 번 훑는 단위이므로, 이 실험의 학습량은 update와 추출 쌍 수로 표시한다.</a:t>
            </a:r>
          </a:p>
        </p:txBody>
      </p:sp>
      <p:sp>
        <p:nvSpPr>
          <p:cNvPr id="8" name="">
            <a:extLst xmlns:a="http://schemas.openxmlformats.org/drawingml/2006/main">
              <a:ext uri="{FF2B5EF4-FFF2-40B4-BE49-F238E27FC236}">
                <a16:creationId xmlns:a16="http://schemas.microsoft.com/office/drawing/2014/main" id="{DABE9D5C-E7EE-4B28-9CBB-F1DDB68D1278}"/>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Run / seed</a:t>
            </a:r>
          </a:p>
        </p:txBody>
      </p:sp>
      <p:sp>
        <p:nvSpPr>
          <p:cNvPr id="9" name="">
            <a:extLst xmlns:a="http://schemas.openxmlformats.org/drawingml/2006/main">
              <a:ext uri="{FF2B5EF4-FFF2-40B4-BE49-F238E27FC236}">
                <a16:creationId xmlns:a16="http://schemas.microsoft.com/office/drawing/2014/main" id="{65170523-F322-4AC8-9D66-6CDEA2A20642}"/>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Run은 한 설정으로 수행한 학습 실행이다. Seed는 난수열을 구분하는 값이다.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주 실험은 seed 0·1·2로 반복하며, 같은 source·seed끼리는 메시지 순서를 공유한다.</a:t>
            </a:r>
          </a:p>
        </p:txBody>
      </p:sp>
      <p:sp>
        <p:nvSpPr>
          <p:cNvPr id="10" name="">
            <a:extLst xmlns:a="http://schemas.openxmlformats.org/drawingml/2006/main">
              <a:ext uri="{FF2B5EF4-FFF2-40B4-BE49-F238E27FC236}">
                <a16:creationId xmlns:a16="http://schemas.microsoft.com/office/drawing/2014/main" id="{A387332B-FF68-4C22-B7E5-FE9BE3E99758}"/>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Checkpoint / 동결</a:t>
            </a:r>
          </a:p>
        </p:txBody>
      </p:sp>
      <p:sp>
        <p:nvSpPr>
          <p:cNvPr id="11" name="">
            <a:extLst xmlns:a="http://schemas.openxmlformats.org/drawingml/2006/main">
              <a:ext uri="{FF2B5EF4-FFF2-40B4-BE49-F238E27FC236}">
                <a16:creationId xmlns:a16="http://schemas.microsoft.com/office/drawing/2014/main" id="{571B652C-990E-412E-923F-20D74E350D3D}"/>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Checkpoint는 모델 가중치와 재개에 필요한 상태의 저장본이다.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이 실험은 최종 update의 저장본으로 평가하고, 시험 전 설정과 파일 식별값을 고정했다.</a:t>
            </a:r>
          </a:p>
        </p:txBody>
      </p:sp>
      <p:sp>
        <p:nvSpPr>
          <p:cNvPr id="12" name="">
            <a:extLst xmlns:a="http://schemas.openxmlformats.org/drawingml/2006/main">
              <a:ext uri="{FF2B5EF4-FFF2-40B4-BE49-F238E27FC236}">
                <a16:creationId xmlns:a16="http://schemas.microsoft.com/office/drawing/2014/main" id="{EB32F60E-9C9B-4055-955B-C2FAA184CCE5}"/>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새로 추출한 쌍 수를 학습량으로 사용하며, 서로 다른 메시지의 개수와는 구분한다</a:t>
            </a:r>
          </a:p>
        </p:txBody>
      </p:sp>
    </p:spTree>
    <p:extLst>
      <p:ext uri="{BB962C8B-B14F-4D97-AF65-F5344CB8AC3E}">
        <p14:creationId xmlns:p14="http://schemas.microsoft.com/office/powerpoint/2010/main" val="12207227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0468677-BE2A-4CE6-AB64-B637EDDCEEFC}"/>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학습률과 최적화 용어</a:t>
            </a:r>
          </a:p>
        </p:txBody>
      </p:sp>
      <p:sp>
        <p:nvSpPr>
          <p:cNvPr id="2" name="">
            <a:extLst xmlns:a="http://schemas.openxmlformats.org/drawingml/2006/main">
              <a:ext uri="{FF2B5EF4-FFF2-40B4-BE49-F238E27FC236}">
                <a16:creationId xmlns:a16="http://schemas.microsoft.com/office/drawing/2014/main" id="{6CF5684C-040F-4CC3-90F4-200B94D10B48}"/>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26BD6F15-D75F-4DA3-9F07-F1FA0C1BDE4E}"/>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등록 설정 adam·models, 구현 명세 §7</a:t>
            </a:r>
          </a:p>
        </p:txBody>
      </p:sp>
      <p:sp>
        <p:nvSpPr>
          <p:cNvPr id="4" name="">
            <a:extLst xmlns:a="http://schemas.openxmlformats.org/drawingml/2006/main">
              <a:ext uri="{FF2B5EF4-FFF2-40B4-BE49-F238E27FC236}">
                <a16:creationId xmlns:a16="http://schemas.microsoft.com/office/drawing/2014/main" id="{2DC5D147-73A0-4005-A5CB-E1EA15CA920A}"/>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기울기 / 학습률 lr</a:t>
            </a:r>
          </a:p>
        </p:txBody>
      </p:sp>
      <p:sp>
        <p:nvSpPr>
          <p:cNvPr id="5" name="">
            <a:extLst xmlns:a="http://schemas.openxmlformats.org/drawingml/2006/main">
              <a:ext uri="{FF2B5EF4-FFF2-40B4-BE49-F238E27FC236}">
                <a16:creationId xmlns:a16="http://schemas.microsoft.com/office/drawing/2014/main" id="{3DBD6899-4624-442D-9C9B-3B97ED24AC39}"/>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기울기는 가중치를 바꿀 때 손실이 얼마나 변하는지 나타낸다.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학습률은 이를 바탕으로 가중치를 수정하는 크기를 조절하며, 주 모델의 기본값은 0.001이다.</a:t>
            </a:r>
          </a:p>
        </p:txBody>
      </p:sp>
      <p:sp>
        <p:nvSpPr>
          <p:cNvPr id="6" name="">
            <a:extLst xmlns:a="http://schemas.openxmlformats.org/drawingml/2006/main">
              <a:ext uri="{FF2B5EF4-FFF2-40B4-BE49-F238E27FC236}">
                <a16:creationId xmlns:a16="http://schemas.microsoft.com/office/drawing/2014/main" id="{55857757-53FF-4017-AFAA-2367517B853B}"/>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Adam / β₁·β₂</a:t>
            </a:r>
          </a:p>
        </p:txBody>
      </p:sp>
      <p:sp>
        <p:nvSpPr>
          <p:cNvPr id="7" name="">
            <a:extLst xmlns:a="http://schemas.openxmlformats.org/drawingml/2006/main">
              <a:ext uri="{FF2B5EF4-FFF2-40B4-BE49-F238E27FC236}">
                <a16:creationId xmlns:a16="http://schemas.microsoft.com/office/drawing/2014/main" id="{3AEF841C-5990-4E17-877B-5388CFA47D0D}"/>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Adam은 기울기와 기울기 제곱의 이동평균을 사용해 갱신 크기를 조절한다.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β₁=0.9, β₂=0.999는 과거 정보의 유지 정도다. ε=10⁻⁸은 분모를 안정화하는 작은 수다.</a:t>
            </a:r>
          </a:p>
        </p:txBody>
      </p:sp>
      <p:sp>
        <p:nvSpPr>
          <p:cNvPr id="8" name="">
            <a:extLst xmlns:a="http://schemas.openxmlformats.org/drawingml/2006/main">
              <a:ext uri="{FF2B5EF4-FFF2-40B4-BE49-F238E27FC236}">
                <a16:creationId xmlns:a16="http://schemas.microsoft.com/office/drawing/2014/main" id="{48053FA4-26C2-4BBD-885D-654D1DA56C85}"/>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Warmup / clip</a:t>
            </a:r>
          </a:p>
        </p:txBody>
      </p:sp>
      <p:sp>
        <p:nvSpPr>
          <p:cNvPr id="9" name="">
            <a:extLst xmlns:a="http://schemas.openxmlformats.org/drawingml/2006/main">
              <a:ext uri="{FF2B5EF4-FFF2-40B4-BE49-F238E27FC236}">
                <a16:creationId xmlns:a16="http://schemas.microsoft.com/office/drawing/2014/main" id="{22BE0D1D-13DB-4ABE-A3AA-A166D7E05F6F}"/>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Warmup은 초기 학습률을 서서히 높이는 기간이다. Gaussian은 1,000 updates다.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Gradient clip 1.0은 기울기 벡터의 크기가 상한을 넘을 때 비례해서 줄이는 설정이다.</a:t>
            </a:r>
          </a:p>
        </p:txBody>
      </p:sp>
      <p:sp>
        <p:nvSpPr>
          <p:cNvPr id="10" name="">
            <a:extLst xmlns:a="http://schemas.openxmlformats.org/drawingml/2006/main">
              <a:ext uri="{FF2B5EF4-FFF2-40B4-BE49-F238E27FC236}">
                <a16:creationId xmlns:a16="http://schemas.microsoft.com/office/drawing/2014/main" id="{A3A0648F-EE98-473C-8091-3A43DBFA88A3}"/>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Weight decay</a:t>
            </a:r>
          </a:p>
        </p:txBody>
      </p:sp>
      <p:sp>
        <p:nvSpPr>
          <p:cNvPr id="11" name="">
            <a:extLst xmlns:a="http://schemas.openxmlformats.org/drawingml/2006/main">
              <a:ext uri="{FF2B5EF4-FFF2-40B4-BE49-F238E27FC236}">
                <a16:creationId xmlns:a16="http://schemas.microsoft.com/office/drawing/2014/main" id="{1A0EA287-3199-48F0-949D-0642FD3C9D87}"/>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큰 가중치를 억제하도록 가중치를 줄이는 규제 설정이다. 이 실험은 0으로 둔다.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D1-S는 warmup과 gradient clip을 사용하지 않으며, 규모 확대 모델은 둘 다 사용한다.</a:t>
            </a:r>
          </a:p>
        </p:txBody>
      </p:sp>
      <p:sp>
        <p:nvSpPr>
          <p:cNvPr id="12" name="">
            <a:extLst xmlns:a="http://schemas.openxmlformats.org/drawingml/2006/main">
              <a:ext uri="{FF2B5EF4-FFF2-40B4-BE49-F238E27FC236}">
                <a16:creationId xmlns:a16="http://schemas.microsoft.com/office/drawing/2014/main" id="{53DB82D1-2576-4E6B-9CD9-023AFF29A4FA}"/>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최적화 설정은 가중치를 어떻게 학습할지를 정하며, 후보 수 K와는 별개다</a:t>
            </a:r>
          </a:p>
        </p:txBody>
      </p:sp>
    </p:spTree>
    <p:extLst>
      <p:ext uri="{BB962C8B-B14F-4D97-AF65-F5344CB8AC3E}">
        <p14:creationId xmlns:p14="http://schemas.microsoft.com/office/powerpoint/2010/main" val="19951925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FD1FBE-28E4-40FD-805A-08DFBE40571C}"/>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공통 학습 파라미터</a:t>
            </a:r>
          </a:p>
        </p:txBody>
      </p:sp>
      <p:sp>
        <p:nvSpPr>
          <p:cNvPr id="2" name="">
            <a:extLst xmlns:a="http://schemas.openxmlformats.org/drawingml/2006/main">
              <a:ext uri="{FF2B5EF4-FFF2-40B4-BE49-F238E27FC236}">
                <a16:creationId xmlns:a16="http://schemas.microsoft.com/office/drawing/2014/main" id="{902E1C9A-F24A-4A6F-A44A-7112C7160C42}"/>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11</a:t>
            </a:r>
          </a:p>
        </p:txBody>
      </p:sp>
      <p:sp>
        <p:nvSpPr>
          <p:cNvPr id="3" name="">
            <a:extLst xmlns:a="http://schemas.openxmlformats.org/drawingml/2006/main">
              <a:ext uri="{FF2B5EF4-FFF2-40B4-BE49-F238E27FC236}">
                <a16:creationId xmlns:a16="http://schemas.microsoft.com/office/drawing/2014/main" id="{8D5CC8EF-F6BC-4F5C-8492-BF90657730F3}"/>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protocol.frozen.json, 등록 설정 training·adam</a:t>
            </a:r>
          </a:p>
        </p:txBody>
      </p:sp>
      <p:graphicFrame>
        <p:nvGraphicFramePr>
          <p:cNvPr id="9" name=""/>
          <p:cNvGraphicFramePr/>
          <p:nvPr/>
        </p:nvGraphicFramePr>
        <p:xfrm>
          <a:off xmlns:a="http://schemas.openxmlformats.org/drawingml/2006/main" x="609600" y="1495425"/>
          <a:ext xmlns:a="http://schemas.openxmlformats.org/drawingml/2006/main" cx="10972800" cy="4229100"/>
        </p:xfrm>
        <a:graphic xmlns:a="http://schemas.openxmlformats.org/drawingml/2006/main">
          <a:graphicData uri="http://schemas.openxmlformats.org/drawingml/2006/table">
            <a:tbl>
              <a:tblPr firstRow="0" bandRow="0"/>
              <a:tblGrid>
                <a:gridCol w="2000250"/>
                <a:gridCol w="3838575"/>
                <a:gridCol w="5133975"/>
              </a:tblGrid>
              <a:tr h="457200">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파라미터</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사용값</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역할</a:t>
                      </a:r>
                    </a:p>
                  </a:txBody>
                  <a:tcPr marL="91440" marR="91440" marT="45720" marB="45720" anchor="ctr">
                    <a:solidFill>
                      <a:srgbClr val="142C43"/>
                    </a:solidFill>
                  </a:tcPr>
                </a:tc>
              </a:tr>
              <a:tr h="57150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학습 배치 크기</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256쌍</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가중치를 한 번 갱신할 때 사용하는 쌍 수</a:t>
                      </a:r>
                    </a:p>
                  </a:txBody>
                  <a:tcPr marL="91440" marR="91440" marT="45720" marB="45720" anchor="ctr">
                    <a:solidFill>
                      <a:srgbClr val="F2F5F7"/>
                    </a:solidFill>
                  </a:tcPr>
                </a:tc>
              </a:tr>
              <a:tr h="57150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학습 횟수</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40,000 updates</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run당 총 1,024만 쌍을 새로 추출</a:t>
                      </a:r>
                    </a:p>
                  </a:txBody>
                  <a:tcPr marL="91440" marR="91440" marT="45720" marB="45720" anchor="ctr">
                    <a:solidFill>
                      <a:srgbClr val="FFFFFF"/>
                    </a:solidFill>
                  </a:tcPr>
                </a:tc>
              </a:tr>
              <a:tr h="57150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학습률 lr</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0.001</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가중치를 수정하는 크기를 조절</a:t>
                      </a:r>
                    </a:p>
                  </a:txBody>
                  <a:tcPr marL="91440" marR="91440" marT="45720" marB="45720" anchor="ctr">
                    <a:solidFill>
                      <a:srgbClr val="F2F5F7"/>
                    </a:solidFill>
                  </a:tcPr>
                </a:tc>
              </a:tr>
              <a:tr h="91440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최적화기 Adam</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β₁=0.9, β₂=0.999</a:t>
                      </a:r>
                    </a:p>
                    <a:p>
                      <a:pPr algn="l"/>
                      <a:r>
                        <a:rPr sz="1800" b="0" lang="ko-KR" altLang="en-US">
                          <a:solidFill>
                            <a:srgbClr val="203648"/>
                          </a:solidFill>
                          <a:latin typeface="Malgun Gothic"/>
                          <a:ea typeface="Malgun Gothic"/>
                          <a:cs typeface="Malgun Gothic"/>
                        </a:rPr>
                        <a:t>ε=10⁻⁸, weight decay=0</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기울기 평균과 크기를 추적해 갱신</a:t>
                      </a:r>
                    </a:p>
                  </a:txBody>
                  <a:tcPr marL="91440" marR="91440" marT="45720" marB="45720" anchor="ctr">
                    <a:solidFill>
                      <a:srgbClr val="FFFFFF"/>
                    </a:solidFill>
                  </a:tcPr>
                </a:tc>
              </a:tr>
              <a:tr h="57150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반복 seed</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0, 1, 2</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초기화·학습·생성 난수를 달리한 3회 반복</a:t>
                      </a:r>
                    </a:p>
                  </a:txBody>
                  <a:tcPr marL="91440" marR="91440" marT="45720" marB="45720" anchor="ctr">
                    <a:solidFill>
                      <a:srgbClr val="F2F5F7"/>
                    </a:solidFill>
                  </a:tcPr>
                </a:tc>
              </a:tr>
              <a:tr h="571500">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평가 checkpoint</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40,000번째 update</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사전 지정한 마지막 가중치를 사용</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816E8C9-BA60-439E-B117-6EE475B8CC01}"/>
              </a:ext>
            </a:extLst>
          </p:cNvPr>
          <p:cNvSpPr>
            <a:spLocks xmlns:a="http://schemas.openxmlformats.org/drawingml/2006/main" noGrp="1"/>
          </p:cNvSpPr>
          <p:nvPr/>
        </p:nvSpPr>
        <p:spPr>
          <a:xfrm xmlns:a="http://schemas.openxmlformats.org/drawingml/2006/main">
            <a:off x="609600" y="59245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동일 입력 분포의 파이프라인은 같은 학습 메시지를 같은 순서로 사용</a:t>
            </a:r>
          </a:p>
        </p:txBody>
      </p:sp>
    </p:spTree>
    <p:extLst>
      <p:ext uri="{BB962C8B-B14F-4D97-AF65-F5344CB8AC3E}">
        <p14:creationId xmlns:p14="http://schemas.microsoft.com/office/powerpoint/2010/main" val="474579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A6062FF-AE98-4E4E-83AE-A0DAF48CA2CB}"/>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손실 함수: CE·MSE·payload</a:t>
            </a:r>
          </a:p>
        </p:txBody>
      </p:sp>
      <p:sp>
        <p:nvSpPr>
          <p:cNvPr id="2" name="">
            <a:extLst xmlns:a="http://schemas.openxmlformats.org/drawingml/2006/main">
              <a:ext uri="{FF2B5EF4-FFF2-40B4-BE49-F238E27FC236}">
                <a16:creationId xmlns:a16="http://schemas.microsoft.com/office/drawing/2014/main" id="{4ABE39A4-2BFF-4F98-80D8-556697505A5D}"/>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12</a:t>
            </a:r>
          </a:p>
        </p:txBody>
      </p:sp>
      <p:sp>
        <p:nvSpPr>
          <p:cNvPr id="3" name="">
            <a:extLst xmlns:a="http://schemas.openxmlformats.org/drawingml/2006/main">
              <a:ext uri="{FF2B5EF4-FFF2-40B4-BE49-F238E27FC236}">
                <a16:creationId xmlns:a16="http://schemas.microsoft.com/office/drawing/2014/main" id="{4EE4AFA3-DAFE-4BA1-A62B-A985FF73631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구현 명세 §7.2–7.3</a:t>
            </a:r>
          </a:p>
        </p:txBody>
      </p:sp>
      <p:sp>
        <p:nvSpPr>
          <p:cNvPr id="4" name="">
            <a:extLst xmlns:a="http://schemas.openxmlformats.org/drawingml/2006/main">
              <a:ext uri="{FF2B5EF4-FFF2-40B4-BE49-F238E27FC236}">
                <a16:creationId xmlns:a16="http://schemas.microsoft.com/office/drawing/2014/main" id="{F65248D8-0633-41FB-B56D-5CF733B6740E}"/>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Loss / 손실 함수</a:t>
            </a:r>
          </a:p>
        </p:txBody>
      </p:sp>
      <p:sp>
        <p:nvSpPr>
          <p:cNvPr id="5" name="">
            <a:extLst xmlns:a="http://schemas.openxmlformats.org/drawingml/2006/main">
              <a:ext uri="{FF2B5EF4-FFF2-40B4-BE49-F238E27FC236}">
                <a16:creationId xmlns:a16="http://schemas.microsoft.com/office/drawing/2014/main" id="{108CDDAC-1C09-4373-8C8C-C4E47A2ED6BC}"/>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모델 예측과 정답 사이의 오차를 수치로 나타내며, 학습은 이를 줄이도록 진행한다.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이 실험은 길이 예측의 오차와 실제 메시지 내용인 payload의 오차를 더한다.</a:t>
            </a:r>
          </a:p>
        </p:txBody>
      </p:sp>
      <p:sp>
        <p:nvSpPr>
          <p:cNvPr id="6" name="">
            <a:extLst xmlns:a="http://schemas.openxmlformats.org/drawingml/2006/main">
              <a:ext uri="{FF2B5EF4-FFF2-40B4-BE49-F238E27FC236}">
                <a16:creationId xmlns:a16="http://schemas.microsoft.com/office/drawing/2014/main" id="{CEF6A955-6E88-4C2E-8879-BF95621EA540}"/>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CE / 교차 엔트로피</a:t>
            </a:r>
          </a:p>
        </p:txBody>
      </p:sp>
      <p:sp>
        <p:nvSpPr>
          <p:cNvPr id="7" name="">
            <a:extLst xmlns:a="http://schemas.openxmlformats.org/drawingml/2006/main">
              <a:ext uri="{FF2B5EF4-FFF2-40B4-BE49-F238E27FC236}">
                <a16:creationId xmlns:a16="http://schemas.microsoft.com/office/drawing/2014/main" id="{48EE26EC-35B4-4F92-8F8F-ED6858B13F1A}"/>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Cross-entropy는 정답 기호에 준 확률이 낮을수록 커지는 분류 손실이다.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예를 들어 정답 토큰의 확률을 0.1보다 0.9로 예측할 때 손실이 작다.</a:t>
            </a:r>
          </a:p>
        </p:txBody>
      </p:sp>
      <p:sp>
        <p:nvSpPr>
          <p:cNvPr id="8" name="">
            <a:extLst xmlns:a="http://schemas.openxmlformats.org/drawingml/2006/main">
              <a:ext uri="{FF2B5EF4-FFF2-40B4-BE49-F238E27FC236}">
                <a16:creationId xmlns:a16="http://schemas.microsoft.com/office/drawing/2014/main" id="{9DEFA405-2299-4B2B-A279-8E876A8684D7}"/>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MSE / 평균제곱오차</a:t>
            </a:r>
          </a:p>
        </p:txBody>
      </p:sp>
      <p:sp>
        <p:nvSpPr>
          <p:cNvPr id="9" name="">
            <a:extLst xmlns:a="http://schemas.openxmlformats.org/drawingml/2006/main">
              <a:ext uri="{FF2B5EF4-FFF2-40B4-BE49-F238E27FC236}">
                <a16:creationId xmlns:a16="http://schemas.microsoft.com/office/drawing/2014/main" id="{15657DA7-1B19-40A2-AEC2-0E33A9D473D9}"/>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Mean squared error는 예측값과 정답의 차이를 제곱해 평균한다.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예를 들어 픽셀 정답 0.8, 예측 0.5이면 그 픽셀의 제곱오차는 0.09다.</a:t>
            </a:r>
          </a:p>
        </p:txBody>
      </p:sp>
      <p:sp>
        <p:nvSpPr>
          <p:cNvPr id="10" name="">
            <a:extLst xmlns:a="http://schemas.openxmlformats.org/drawingml/2006/main">
              <a:ext uri="{FF2B5EF4-FFF2-40B4-BE49-F238E27FC236}">
                <a16:creationId xmlns:a16="http://schemas.microsoft.com/office/drawing/2014/main" id="{BF3BC233-B6D6-4D8A-938A-D4595EFE0FF2}"/>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활성 영역 / mask</a:t>
            </a:r>
          </a:p>
        </p:txBody>
      </p:sp>
      <p:sp>
        <p:nvSpPr>
          <p:cNvPr id="11" name="">
            <a:extLst xmlns:a="http://schemas.openxmlformats.org/drawingml/2006/main">
              <a:ext uri="{FF2B5EF4-FFF2-40B4-BE49-F238E27FC236}">
                <a16:creationId xmlns:a16="http://schemas.microsoft.com/office/drawing/2014/main" id="{D6B71B45-6554-4D8C-8F36-7F8528EFF16D}"/>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Gaussian은 실제 메시지가 차지하는 픽셀의 MSE를 균일하게 평균한다.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Discrete는 가린 payload 토큰의 CE를 평균한다. 빈 자리와 고정 구조는 따로 다룬다.</a:t>
            </a:r>
          </a:p>
        </p:txBody>
      </p:sp>
      <p:sp>
        <p:nvSpPr>
          <p:cNvPr id="12" name="">
            <a:extLst xmlns:a="http://schemas.openxmlformats.org/drawingml/2006/main">
              <a:ext uri="{FF2B5EF4-FFF2-40B4-BE49-F238E27FC236}">
                <a16:creationId xmlns:a16="http://schemas.microsoft.com/office/drawing/2014/main" id="{ECAA2A03-1672-44FE-9D4F-6EE3ED167E43}"/>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학습 손실이 낮다는 사실만으로 해시가 일치하는 생성 후보가 늘었다고 판단하지 않는다</a:t>
            </a:r>
          </a:p>
        </p:txBody>
      </p:sp>
    </p:spTree>
    <p:extLst>
      <p:ext uri="{BB962C8B-B14F-4D97-AF65-F5344CB8AC3E}">
        <p14:creationId xmlns:p14="http://schemas.microsoft.com/office/powerpoint/2010/main" val="15014411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C5A962A-D957-4CA2-B834-2900D950FC3E}"/>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확산 단계와 생성기: T·β·DDIM·NFE</a:t>
            </a:r>
          </a:p>
        </p:txBody>
      </p:sp>
      <p:sp>
        <p:nvSpPr>
          <p:cNvPr id="2" name="">
            <a:extLst xmlns:a="http://schemas.openxmlformats.org/drawingml/2006/main">
              <a:ext uri="{FF2B5EF4-FFF2-40B4-BE49-F238E27FC236}">
                <a16:creationId xmlns:a16="http://schemas.microsoft.com/office/drawing/2014/main" id="{3D88944C-EE04-4FBD-B8CE-BCDBBF9F5EE2}"/>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13</a:t>
            </a:r>
          </a:p>
        </p:txBody>
      </p:sp>
      <p:sp>
        <p:nvSpPr>
          <p:cNvPr id="3" name="">
            <a:extLst xmlns:a="http://schemas.openxmlformats.org/drawingml/2006/main">
              <a:ext uri="{FF2B5EF4-FFF2-40B4-BE49-F238E27FC236}">
                <a16:creationId xmlns:a16="http://schemas.microsoft.com/office/drawing/2014/main" id="{03D60CA5-45BE-4488-B0EF-9BFE1D0F1079}"/>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구현 명세 §7–8, protocol.frozen.json</a:t>
            </a:r>
          </a:p>
        </p:txBody>
      </p:sp>
      <p:sp>
        <p:nvSpPr>
          <p:cNvPr id="4" name="">
            <a:extLst xmlns:a="http://schemas.openxmlformats.org/drawingml/2006/main">
              <a:ext uri="{FF2B5EF4-FFF2-40B4-BE49-F238E27FC236}">
                <a16:creationId xmlns:a16="http://schemas.microsoft.com/office/drawing/2014/main" id="{264CD57A-82F9-4906-AAC4-D9D7E6F37B6A}"/>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T / t / β / x₀</a:t>
            </a:r>
          </a:p>
        </p:txBody>
      </p:sp>
      <p:sp>
        <p:nvSpPr>
          <p:cNvPr id="5" name="">
            <a:extLst xmlns:a="http://schemas.openxmlformats.org/drawingml/2006/main">
              <a:ext uri="{FF2B5EF4-FFF2-40B4-BE49-F238E27FC236}">
                <a16:creationId xmlns:a16="http://schemas.microsoft.com/office/drawing/2014/main" id="{80C5E355-053A-4833-9746-DD2BAC5F7E46}"/>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T=1,000은 학습 잡음 단계의 수, t는 선택한 잡음 시점이다.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β=0.0001–0.02는 각 단계의 잡음 분산 설정이며, x₀는 잡음을 넣기 전 원본 이미지다.</a:t>
            </a:r>
          </a:p>
        </p:txBody>
      </p:sp>
      <p:sp>
        <p:nvSpPr>
          <p:cNvPr id="6" name="">
            <a:extLst xmlns:a="http://schemas.openxmlformats.org/drawingml/2006/main">
              <a:ext uri="{FF2B5EF4-FFF2-40B4-BE49-F238E27FC236}">
                <a16:creationId xmlns:a16="http://schemas.microsoft.com/office/drawing/2014/main" id="{89A2823D-0C6A-42B4-8A16-E25E4CE91265}"/>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Sampler / DDIM / η</a:t>
            </a:r>
          </a:p>
        </p:txBody>
      </p:sp>
      <p:sp>
        <p:nvSpPr>
          <p:cNvPr id="7" name="">
            <a:extLst xmlns:a="http://schemas.openxmlformats.org/drawingml/2006/main">
              <a:ext uri="{FF2B5EF4-FFF2-40B4-BE49-F238E27FC236}">
                <a16:creationId xmlns:a16="http://schemas.microsoft.com/office/drawing/2014/main" id="{2CB7D2AD-00BF-4462-B9A6-00E125388798}"/>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Sampler는 모델 예측을 사용해 새 후보를 만드는 절차다. DDIM은 선택한</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시점들을 따라 이미지를 복원한다. η=0은 복원 단계마다 추가 잡음을 넣지 않는 설정이다.</a:t>
            </a:r>
          </a:p>
        </p:txBody>
      </p:sp>
      <p:sp>
        <p:nvSpPr>
          <p:cNvPr id="8" name="">
            <a:extLst xmlns:a="http://schemas.openxmlformats.org/drawingml/2006/main">
              <a:ext uri="{FF2B5EF4-FFF2-40B4-BE49-F238E27FC236}">
                <a16:creationId xmlns:a16="http://schemas.microsoft.com/office/drawing/2014/main" id="{73B4A42A-3E25-484B-881A-AB7018CDCD5E}"/>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생성 steps / NFE</a:t>
            </a:r>
          </a:p>
        </p:txBody>
      </p:sp>
      <p:sp>
        <p:nvSpPr>
          <p:cNvPr id="9" name="">
            <a:extLst xmlns:a="http://schemas.openxmlformats.org/drawingml/2006/main">
              <a:ext uri="{FF2B5EF4-FFF2-40B4-BE49-F238E27FC236}">
                <a16:creationId xmlns:a16="http://schemas.microsoft.com/office/drawing/2014/main" id="{ACC29D24-E009-4142-8760-1579F83CAA1B}"/>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생성 steps는 실제 복원 반복 수다. NFE(Number of Function Evaluations)는</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모델 평가 횟수다. Gaussian은 길이 1회+25 steps=26, Discrete는 1+32=33이다.</a:t>
            </a:r>
          </a:p>
        </p:txBody>
      </p:sp>
      <p:sp>
        <p:nvSpPr>
          <p:cNvPr id="10" name="">
            <a:extLst xmlns:a="http://schemas.openxmlformats.org/drawingml/2006/main">
              <a:ext uri="{FF2B5EF4-FFF2-40B4-BE49-F238E27FC236}">
                <a16:creationId xmlns:a16="http://schemas.microsoft.com/office/drawing/2014/main" id="{C373E8E2-3A0D-495D-AEDB-368ABB47FB39}"/>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Interval / temperature</a:t>
            </a:r>
          </a:p>
        </p:txBody>
      </p:sp>
      <p:sp>
        <p:nvSpPr>
          <p:cNvPr id="11" name="">
            <a:extLst xmlns:a="http://schemas.openxmlformats.org/drawingml/2006/main">
              <a:ext uri="{FF2B5EF4-FFF2-40B4-BE49-F238E27FC236}">
                <a16:creationId xmlns:a16="http://schemas.microsoft.com/office/drawing/2014/main" id="{A7F0D750-805E-4886-BB28-C6595CC31001}"/>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Discrete의 interval은 가린 토큰을 채우는 생성 시간의 구간이다.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Temperature는 기호 확률의 집중도를 조절한다. 1.0은 그 분포를 추가로 날카롭게 하지 않는다.</a:t>
            </a:r>
          </a:p>
        </p:txBody>
      </p:sp>
      <p:sp>
        <p:nvSpPr>
          <p:cNvPr id="12" name="">
            <a:extLst xmlns:a="http://schemas.openxmlformats.org/drawingml/2006/main">
              <a:ext uri="{FF2B5EF4-FFF2-40B4-BE49-F238E27FC236}">
                <a16:creationId xmlns:a16="http://schemas.microsoft.com/office/drawing/2014/main" id="{CB1AA0C5-F8C6-463F-B4FD-9354D2FE74F2}"/>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η=0에서도 시작 잡음과 길이 추출은 무작위이므로, 모든 후보가 같아지는 것은 아니다</a:t>
            </a:r>
          </a:p>
        </p:txBody>
      </p:sp>
    </p:spTree>
    <p:extLst>
      <p:ext uri="{BB962C8B-B14F-4D97-AF65-F5344CB8AC3E}">
        <p14:creationId xmlns:p14="http://schemas.microsoft.com/office/powerpoint/2010/main" val="171449228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10F16A-E458-47A5-9EF1-1FFBE2372F1F}"/>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Gaussian diffusion 파라미터</a:t>
            </a:r>
          </a:p>
        </p:txBody>
      </p:sp>
      <p:sp>
        <p:nvSpPr>
          <p:cNvPr id="2" name="">
            <a:extLst xmlns:a="http://schemas.openxmlformats.org/drawingml/2006/main">
              <a:ext uri="{FF2B5EF4-FFF2-40B4-BE49-F238E27FC236}">
                <a16:creationId xmlns:a16="http://schemas.microsoft.com/office/drawing/2014/main" id="{A78AC2FA-DABC-4C2E-BFDD-E370CE4B390A}"/>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14</a:t>
            </a:r>
          </a:p>
        </p:txBody>
      </p:sp>
      <p:sp>
        <p:nvSpPr>
          <p:cNvPr id="3" name="">
            <a:extLst xmlns:a="http://schemas.openxmlformats.org/drawingml/2006/main">
              <a:ext uri="{FF2B5EF4-FFF2-40B4-BE49-F238E27FC236}">
                <a16:creationId xmlns:a16="http://schemas.microsoft.com/office/drawing/2014/main" id="{E2DD6CCD-8943-48C4-905D-A4EFD22DF7DA}"/>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등록 설정 G3-U, protocol.frozen.json</a:t>
            </a:r>
          </a:p>
        </p:txBody>
      </p:sp>
      <p:graphicFrame>
        <p:nvGraphicFramePr>
          <p:cNvPr id="9" name=""/>
          <p:cNvGraphicFramePr/>
          <p:nvPr/>
        </p:nvGraphicFramePr>
        <p:xfrm>
          <a:off xmlns:a="http://schemas.openxmlformats.org/drawingml/2006/main" x="609600" y="1504950"/>
          <a:ext xmlns:a="http://schemas.openxmlformats.org/drawingml/2006/main" cx="10972800" cy="4171950"/>
        </p:xfrm>
        <a:graphic xmlns:a="http://schemas.openxmlformats.org/drawingml/2006/main">
          <a:graphicData uri="http://schemas.openxmlformats.org/drawingml/2006/table">
            <a:tbl>
              <a:tblPr firstRow="0" bandRow="0"/>
              <a:tblGrid>
                <a:gridCol w="2095500"/>
                <a:gridCol w="4362450"/>
                <a:gridCol w="4514850"/>
              </a:tblGrid>
              <a:tr h="595993">
                <a:tc>
                  <a:txBody>
                    <a:bodyPr wrap="square" lIns="133350" tIns="76200" rIns="133350" bIns="76200">
                      <a:noAutofit/>
                    </a:bodyPr>
                    <a:lstStyle/>
                    <a:p>
                      <a:pPr algn="l"/>
                      <a:r>
                        <a:rPr sz="1650" b="1" lang="ko-KR" altLang="en-US">
                          <a:solidFill>
                            <a:srgbClr val="FFFFFF"/>
                          </a:solidFill>
                          <a:latin typeface="Malgun Gothic"/>
                          <a:ea typeface="Malgun Gothic"/>
                          <a:cs typeface="Malgun Gothic"/>
                        </a:rPr>
                        <a:t>파라미터</a:t>
                      </a:r>
                    </a:p>
                  </a:txBody>
                  <a:tcPr marL="91440" marR="91440" marT="45720" marB="45720" anchor="ctr">
                    <a:solidFill>
                      <a:srgbClr val="142C43"/>
                    </a:solidFill>
                  </a:tcPr>
                </a:tc>
                <a:tc>
                  <a:txBody>
                    <a:bodyPr wrap="square" lIns="133350" tIns="76200" rIns="133350" bIns="76200">
                      <a:noAutofit/>
                    </a:bodyPr>
                    <a:lstStyle/>
                    <a:p>
                      <a:pPr algn="l"/>
                      <a:r>
                        <a:rPr sz="1650" b="1" lang="ko-KR" altLang="en-US">
                          <a:solidFill>
                            <a:srgbClr val="FFFFFF"/>
                          </a:solidFill>
                          <a:latin typeface="Malgun Gothic"/>
                          <a:ea typeface="Malgun Gothic"/>
                          <a:cs typeface="Malgun Gothic"/>
                        </a:rPr>
                        <a:t>실제 사용값</a:t>
                      </a:r>
                    </a:p>
                  </a:txBody>
                  <a:tcPr marL="91440" marR="91440" marT="45720" marB="45720" anchor="ctr">
                    <a:solidFill>
                      <a:srgbClr val="142C43"/>
                    </a:solidFill>
                  </a:tcPr>
                </a:tc>
                <a:tc>
                  <a:txBody>
                    <a:bodyPr wrap="square" lIns="133350" tIns="76200" rIns="133350" bIns="76200">
                      <a:noAutofit/>
                    </a:bodyPr>
                    <a:lstStyle/>
                    <a:p>
                      <a:pPr algn="l"/>
                      <a:r>
                        <a:rPr sz="1650"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595993">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모델 폭</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U-Net 기본 채널 32</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이미지 특징을 표현하는 채널 수</a:t>
                      </a:r>
                    </a:p>
                  </a:txBody>
                  <a:tcPr marL="91440" marR="91440" marT="45720" marB="45720" anchor="ctr">
                    <a:solidFill>
                      <a:srgbClr val="F2F5F7"/>
                    </a:solidFill>
                  </a:tcPr>
                </a:tc>
              </a:tr>
              <a:tr h="595993">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학습 확산 단계</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T=1,000 / 선형 β=0.0001–0.02</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학습 중 주입할 잡음의 수준을 정의</a:t>
                      </a:r>
                    </a:p>
                  </a:txBody>
                  <a:tcPr marL="91440" marR="91440" marT="45720" marB="45720" anchor="ctr">
                    <a:solidFill>
                      <a:srgbClr val="FFFFFF"/>
                    </a:solidFill>
                  </a:tcPr>
                </a:tc>
              </a:tr>
              <a:tr h="595993">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예측 대상 / 손실</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원본 x₀ / 길이 CE + payload MSE</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노이즈가 섞인 이미지에서 원본을 복원</a:t>
                      </a:r>
                    </a:p>
                  </a:txBody>
                  <a:tcPr marL="91440" marR="91440" marT="45720" marB="45720" anchor="ctr">
                    <a:solidFill>
                      <a:srgbClr val="F2F5F7"/>
                    </a:solidFill>
                  </a:tcPr>
                </a:tc>
              </a:tr>
              <a:tr h="595993">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학습 안정화</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warmup 1,000 / gradient clip 1.0</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초기 학습률을 높이고 큰 기울기를 제한</a:t>
                      </a:r>
                    </a:p>
                  </a:txBody>
                  <a:tcPr marL="91440" marR="91440" marT="45720" marB="45720" anchor="ctr">
                    <a:solidFill>
                      <a:srgbClr val="FFFFFF"/>
                    </a:solidFill>
                  </a:tcPr>
                </a:tc>
              </a:tr>
              <a:tr h="595993">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생성 단계</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DDIM 25 steps, η=0 / NFE=26</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후보 하나에 필요한 모델 호출 횟수</a:t>
                      </a:r>
                    </a:p>
                  </a:txBody>
                  <a:tcPr marL="91440" marR="91440" marT="45720" marB="45720" anchor="ctr">
                    <a:solidFill>
                      <a:srgbClr val="F2F5F7"/>
                    </a:solidFill>
                  </a:tcPr>
                </a:tc>
              </a:tr>
              <a:tr h="595993">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출력 변환</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x₀ 범위 [-1, 1] / 최근접 prototype</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허용 기호 중 출력에 가장 가까운 값을 선택</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8CFCA2C-DCC9-4EE2-B995-9317F4C5B458}"/>
              </a:ext>
            </a:extLst>
          </p:cNvPr>
          <p:cNvSpPr>
            <a:spLocks xmlns:a="http://schemas.openxmlformats.org/drawingml/2006/main" noGrp="1"/>
          </p:cNvSpPr>
          <p:nvPr/>
        </p:nvSpPr>
        <p:spPr>
          <a:xfrm xmlns:a="http://schemas.openxmlformats.org/drawingml/2006/main">
            <a:off x="609600" y="58102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lang="ko-KR" altLang="en-US">
                <a:solidFill>
                  <a:srgbClr val="087F82"/>
                </a:solidFill>
                <a:latin typeface="Malgun Gothic"/>
                <a:ea typeface="Malgun Gothic"/>
                <a:cs typeface="Malgun Gothic"/>
              </a:defRPr>
            </a:pPr>
            <a:r>
              <a:rPr sz="1725" b="1" lang="ko-KR" altLang="en-US">
                <a:solidFill>
                  <a:srgbClr val="087F82"/>
                </a:solidFill>
                <a:latin typeface="Malgun Gothic"/>
                <a:ea typeface="Malgun Gothic"/>
                <a:cs typeface="Malgun Gothic"/>
              </a:rPr>
              <a:t>생성 배치 256개. T=1,000은 학습 잡음 단계, 25는 생성 복원 단계</a:t>
            </a:r>
          </a:p>
          <a:p xmlns:a="http://schemas.openxmlformats.org/drawingml/2006/main">
            <a:pPr algn="l">
              <a:defRPr sz="1725" b="1" lang="ko-KR" altLang="en-US">
                <a:solidFill>
                  <a:srgbClr val="087F82"/>
                </a:solidFill>
                <a:latin typeface="Malgun Gothic"/>
                <a:ea typeface="Malgun Gothic"/>
                <a:cs typeface="Malgun Gothic"/>
              </a:defRPr>
            </a:pPr>
            <a:r>
              <a:rPr sz="1725" b="1" lang="ko-KR" altLang="en-US">
                <a:solidFill>
                  <a:srgbClr val="087F82"/>
                </a:solidFill>
                <a:latin typeface="Malgun Gothic"/>
                <a:ea typeface="Malgun Gothic"/>
                <a:cs typeface="Malgun Gothic"/>
              </a:rPr>
              <a:t>CE는 분류 오차, MSE는 픽셀의 평균제곱오차를 뜻함</a:t>
            </a:r>
          </a:p>
        </p:txBody>
      </p:sp>
    </p:spTree>
    <p:extLst>
      <p:ext uri="{BB962C8B-B14F-4D97-AF65-F5344CB8AC3E}">
        <p14:creationId xmlns:p14="http://schemas.microsoft.com/office/powerpoint/2010/main" val="1005797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8B6E3C-BA30-4CA6-87D3-9362AAB50E39}"/>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Discrete diffusion 파라미터</a:t>
            </a:r>
          </a:p>
        </p:txBody>
      </p:sp>
      <p:sp>
        <p:nvSpPr>
          <p:cNvPr id="2" name="">
            <a:extLst xmlns:a="http://schemas.openxmlformats.org/drawingml/2006/main">
              <a:ext uri="{FF2B5EF4-FFF2-40B4-BE49-F238E27FC236}">
                <a16:creationId xmlns:a16="http://schemas.microsoft.com/office/drawing/2014/main" id="{A6DEBEAB-7E34-4BA0-88EB-75DCBEE09153}"/>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15</a:t>
            </a:r>
          </a:p>
        </p:txBody>
      </p:sp>
      <p:sp>
        <p:nvSpPr>
          <p:cNvPr id="3" name="">
            <a:extLst xmlns:a="http://schemas.openxmlformats.org/drawingml/2006/main">
              <a:ext uri="{FF2B5EF4-FFF2-40B4-BE49-F238E27FC236}">
                <a16:creationId xmlns:a16="http://schemas.microsoft.com/office/drawing/2014/main" id="{E2644ED3-D13F-4D6B-BD41-49B9029FFB03}"/>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등록 설정 D1-S, protocol.frozen.json</a:t>
            </a:r>
          </a:p>
        </p:txBody>
      </p:sp>
      <p:graphicFrame>
        <p:nvGraphicFramePr>
          <p:cNvPr id="9" name=""/>
          <p:cNvGraphicFramePr/>
          <p:nvPr/>
        </p:nvGraphicFramePr>
        <p:xfrm>
          <a:off xmlns:a="http://schemas.openxmlformats.org/drawingml/2006/main" x="609600" y="1504950"/>
          <a:ext xmlns:a="http://schemas.openxmlformats.org/drawingml/2006/main" cx="10972800" cy="4171950"/>
        </p:xfrm>
        <a:graphic xmlns:a="http://schemas.openxmlformats.org/drawingml/2006/main">
          <a:graphicData uri="http://schemas.openxmlformats.org/drawingml/2006/table">
            <a:tbl>
              <a:tblPr firstRow="0" bandRow="0"/>
              <a:tblGrid>
                <a:gridCol w="2095500"/>
                <a:gridCol w="4000500"/>
                <a:gridCol w="4876800"/>
              </a:tblGrid>
              <a:tr h="595993">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파라미터</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실제 사용값</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595993">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모델 크기</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embedding 16 / hidden 128</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기호 벡터 차원과 은닉층의 폭</a:t>
                      </a:r>
                    </a:p>
                  </a:txBody>
                  <a:tcPr marL="91440" marR="91440" marT="45720" marB="45720" anchor="ctr">
                    <a:solidFill>
                      <a:srgbClr val="F2F5F7"/>
                    </a:solidFill>
                  </a:tcPr>
                </a:tc>
              </a:tr>
              <a:tr h="595993">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학습 방식</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길이 CE + 가린 토큰의 CE</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가린 기호를 조건에 맞게 예측</a:t>
                      </a:r>
                    </a:p>
                  </a:txBody>
                  <a:tcPr marL="91440" marR="91440" marT="45720" marB="45720" anchor="ctr">
                    <a:solidFill>
                      <a:srgbClr val="FFFFFF"/>
                    </a:solidFill>
                  </a:tcPr>
                </a:tc>
              </a:tr>
              <a:tr h="595993">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학습률 규칙</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lr=0.001 / warmup·clip 없음</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학습 동안 같은 학습률 유지</a:t>
                      </a:r>
                    </a:p>
                  </a:txBody>
                  <a:tcPr marL="91440" marR="91440" marT="45720" marB="45720" anchor="ctr">
                    <a:solidFill>
                      <a:srgbClr val="F2F5F7"/>
                    </a:solidFill>
                  </a:tcPr>
                </a:tc>
              </a:tr>
              <a:tr h="595993">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생성 구간</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32 intervals / NFE=33</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길이 결정 1회와 토큰 복원 32회</a:t>
                      </a:r>
                    </a:p>
                  </a:txBody>
                  <a:tcPr marL="91440" marR="91440" marT="45720" marB="45720" anchor="ctr">
                    <a:solidFill>
                      <a:srgbClr val="FFFFFF"/>
                    </a:solidFill>
                  </a:tcPr>
                </a:tc>
              </a:tr>
              <a:tr h="595993">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Temperature</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1.0</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출력 확률의 집중도를 추가로 변경하지 않음</a:t>
                      </a:r>
                    </a:p>
                  </a:txBody>
                  <a:tcPr marL="91440" marR="91440" marT="45720" marB="45720" anchor="ctr">
                    <a:solidFill>
                      <a:srgbClr val="F2F5F7"/>
                    </a:solidFill>
                  </a:tcPr>
                </a:tc>
              </a:tr>
              <a:tr h="595993">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생성 배치</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P-DISC 2,048 / R-DISC 256</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한 번에 병렬 처리하는 후보 개수</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62654F1-EA42-435B-83CD-96DA39815614}"/>
              </a:ext>
            </a:extLst>
          </p:cNvPr>
          <p:cNvSpPr>
            <a:spLocks xmlns:a="http://schemas.openxmlformats.org/drawingml/2006/main" noGrp="1"/>
          </p:cNvSpPr>
          <p:nvPr/>
        </p:nvSpPr>
        <p:spPr>
          <a:xfrm xmlns:a="http://schemas.openxmlformats.org/drawingml/2006/main">
            <a:off x="609600" y="5895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배치 크기는 처리량 설정이며, target별 평가 예산 K=100과는 다르다</a:t>
            </a:r>
          </a:p>
        </p:txBody>
      </p:sp>
    </p:spTree>
    <p:extLst>
      <p:ext uri="{BB962C8B-B14F-4D97-AF65-F5344CB8AC3E}">
        <p14:creationId xmlns:p14="http://schemas.microsoft.com/office/powerpoint/2010/main" val="6192731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33F02A-962D-4EC4-9151-05C407B13C10}"/>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실험군과 대조군</a:t>
            </a:r>
          </a:p>
        </p:txBody>
      </p:sp>
      <p:sp>
        <p:nvSpPr>
          <p:cNvPr id="2" name="">
            <a:extLst xmlns:a="http://schemas.openxmlformats.org/drawingml/2006/main">
              <a:ext uri="{FF2B5EF4-FFF2-40B4-BE49-F238E27FC236}">
                <a16:creationId xmlns:a16="http://schemas.microsoft.com/office/drawing/2014/main" id="{8E9F2DF9-1650-4C8C-A1D2-3E34DF228F3D}"/>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16</a:t>
            </a:r>
          </a:p>
        </p:txBody>
      </p:sp>
      <p:sp>
        <p:nvSpPr>
          <p:cNvPr id="3" name="">
            <a:extLst xmlns:a="http://schemas.openxmlformats.org/drawingml/2006/main">
              <a:ext uri="{FF2B5EF4-FFF2-40B4-BE49-F238E27FC236}">
                <a16:creationId xmlns:a16="http://schemas.microsoft.com/office/drawing/2014/main" id="{14AEA966-04DF-44D5-943F-9EC7C48DF999}"/>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§6, §8–10</a:t>
            </a:r>
          </a:p>
        </p:txBody>
      </p:sp>
      <p:graphicFrame>
        <p:nvGraphicFramePr>
          <p:cNvPr id="9" name=""/>
          <p:cNvGraphicFramePr/>
          <p:nvPr/>
        </p:nvGraphicFramePr>
        <p:xfrm>
          <a:off xmlns:a="http://schemas.openxmlformats.org/drawingml/2006/main" x="609600" y="1657350"/>
          <a:ext xmlns:a="http://schemas.openxmlformats.org/drawingml/2006/main" cx="10972800" cy="3562350"/>
        </p:xfrm>
        <a:graphic xmlns:a="http://schemas.openxmlformats.org/drawingml/2006/main">
          <a:graphicData uri="http://schemas.openxmlformats.org/drawingml/2006/table">
            <a:tbl>
              <a:tblPr firstRow="0" bandRow="0"/>
              <a:tblGrid>
                <a:gridCol w="1809750"/>
                <a:gridCol w="4810125"/>
                <a:gridCol w="4352925"/>
              </a:tblGrid>
              <a:tr h="712470">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방법</a:t>
                      </a:r>
                    </a:p>
                  </a:txBody>
                  <a:tcPr marL="91440" marR="91440" marT="45720" marB="45720" anchor="ctr">
                    <a:solidFill>
                      <a:srgbClr val="142C43"/>
                    </a:solidFill>
                  </a:tcPr>
                </a:tc>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후보 생성 방법</a:t>
                      </a:r>
                    </a:p>
                  </a:txBody>
                  <a:tcPr marL="91440" marR="91440" marT="45720" marB="45720" anchor="ctr">
                    <a:solidFill>
                      <a:srgbClr val="142C43"/>
                    </a:solidFill>
                  </a:tcPr>
                </a:tc>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비교 목적</a:t>
                      </a:r>
                    </a:p>
                  </a:txBody>
                  <a:tcPr marL="91440" marR="91440" marT="45720" marB="45720" anchor="ctr">
                    <a:solidFill>
                      <a:srgbClr val="142C43"/>
                    </a:solidFill>
                  </a:tcPr>
                </a:tc>
              </a:tr>
              <a:tr h="71247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Main</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올바른 해시 조건으로 학습·생성</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검증하려는 조건부 생성</a:t>
                      </a:r>
                    </a:p>
                  </a:txBody>
                  <a:tcPr marL="91440" marR="91440" marT="45720" marB="45720" anchor="ctr">
                    <a:solidFill>
                      <a:srgbClr val="F2F5F7"/>
                    </a:solidFill>
                  </a:tcPr>
                </a:tc>
              </a:tr>
              <a:tr h="71247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Random</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입력 분포에서 무작위 생성</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학습 없는 직접 탐색의 기준</a:t>
                      </a:r>
                    </a:p>
                  </a:txBody>
                  <a:tcPr marL="91440" marR="91440" marT="45720" marB="45720" anchor="ctr">
                    <a:solidFill>
                      <a:srgbClr val="FFFFFF"/>
                    </a:solidFill>
                  </a:tcPr>
                </a:tc>
              </a:tr>
              <a:tr h="71247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Shuffled</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조건 대응을 섞어 학습한 모델</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올바른 입력·조건 대응 학습의 효과</a:t>
                      </a:r>
                    </a:p>
                  </a:txBody>
                  <a:tcPr marL="91440" marR="91440" marT="45720" marB="45720" anchor="ctr">
                    <a:solidFill>
                      <a:srgbClr val="F2F5F7"/>
                    </a:solidFill>
                  </a:tcPr>
                </a:tc>
              </a:tr>
              <a:tr h="71247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MC</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Main에 다른 목표 조건 입력</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생성 시 입력 조건을 쓰는지 확인</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BC8A734-8835-42D5-A225-9D8C7BF5B142}"/>
              </a:ext>
            </a:extLst>
          </p:cNvPr>
          <p:cNvSpPr>
            <a:spLocks xmlns:a="http://schemas.openxmlformats.org/drawingml/2006/main" noGrp="1"/>
          </p:cNvSpPr>
          <p:nvPr/>
        </p:nvSpPr>
        <p:spPr>
          <a:xfrm xmlns:a="http://schemas.openxmlformats.org/drawingml/2006/main">
            <a:off x="609600" y="56007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주 효과: ΔR = Main - Random,  ΔS = Main - Shuffled</a:t>
            </a:r>
          </a:p>
        </p:txBody>
      </p:sp>
    </p:spTree>
    <p:extLst>
      <p:ext uri="{BB962C8B-B14F-4D97-AF65-F5344CB8AC3E}">
        <p14:creationId xmlns:p14="http://schemas.microsoft.com/office/powerpoint/2010/main" val="96918983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20C4975-B854-437C-A49D-644FFEA3DFCA}"/>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평가 단위: target·trial·candidate·K</a:t>
            </a:r>
          </a:p>
        </p:txBody>
      </p:sp>
      <p:sp>
        <p:nvSpPr>
          <p:cNvPr id="2" name="">
            <a:extLst xmlns:a="http://schemas.openxmlformats.org/drawingml/2006/main">
              <a:ext uri="{FF2B5EF4-FFF2-40B4-BE49-F238E27FC236}">
                <a16:creationId xmlns:a16="http://schemas.microsoft.com/office/drawing/2014/main" id="{048025F7-FE9E-4C6A-86CA-565ADA1A8A2F}"/>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17</a:t>
            </a:r>
          </a:p>
        </p:txBody>
      </p:sp>
      <p:sp>
        <p:nvSpPr>
          <p:cNvPr id="3" name="">
            <a:extLst xmlns:a="http://schemas.openxmlformats.org/drawingml/2006/main">
              <a:ext uri="{FF2B5EF4-FFF2-40B4-BE49-F238E27FC236}">
                <a16:creationId xmlns:a16="http://schemas.microsoft.com/office/drawing/2014/main" id="{9D624337-959A-45B0-8D60-940E338FCCE8}"/>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§6.1, 구현 명세 §10</a:t>
            </a:r>
          </a:p>
        </p:txBody>
      </p:sp>
      <p:sp>
        <p:nvSpPr>
          <p:cNvPr id="4" name="">
            <a:extLst xmlns:a="http://schemas.openxmlformats.org/drawingml/2006/main">
              <a:ext uri="{FF2B5EF4-FFF2-40B4-BE49-F238E27FC236}">
                <a16:creationId xmlns:a16="http://schemas.microsoft.com/office/drawing/2014/main" id="{D58BF886-22FA-4B68-92A9-B2A5C95F1702}"/>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Target / trial</a:t>
            </a:r>
          </a:p>
        </p:txBody>
      </p:sp>
      <p:sp>
        <p:nvSpPr>
          <p:cNvPr id="5" name="">
            <a:extLst xmlns:a="http://schemas.openxmlformats.org/drawingml/2006/main">
              <a:ext uri="{FF2B5EF4-FFF2-40B4-BE49-F238E27FC236}">
                <a16:creationId xmlns:a16="http://schemas.microsoft.com/office/drawing/2014/main" id="{A709BA96-EB80-46C2-83E0-84535D609087}"/>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Target은 시험할 목표 해시값이고, trial은 그 값에 대한 한 번의 탐색 평가다.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1,024개 목표값에서 뽑은 값을 다시 뽑을 수 있는 복원추출을 하므로, 목표값이 반복될 수 있다.</a:t>
            </a:r>
          </a:p>
        </p:txBody>
      </p:sp>
      <p:sp>
        <p:nvSpPr>
          <p:cNvPr id="6" name="">
            <a:extLst xmlns:a="http://schemas.openxmlformats.org/drawingml/2006/main">
              <a:ext uri="{FF2B5EF4-FFF2-40B4-BE49-F238E27FC236}">
                <a16:creationId xmlns:a16="http://schemas.microsoft.com/office/drawing/2014/main" id="{ED01D996-DA2F-48C1-8137-2E5485469203}"/>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Candidate / K</a:t>
            </a:r>
          </a:p>
        </p:txBody>
      </p:sp>
      <p:sp>
        <p:nvSpPr>
          <p:cNvPr id="7" name="">
            <a:extLst xmlns:a="http://schemas.openxmlformats.org/drawingml/2006/main">
              <a:ext uri="{FF2B5EF4-FFF2-40B4-BE49-F238E27FC236}">
                <a16:creationId xmlns:a16="http://schemas.microsoft.com/office/drawing/2014/main" id="{6CD47253-8EF7-47BB-A488-9FC1CA29C16B}"/>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Candidate는 모델 또는 Random이 만든 입력 후보다. K=100은 trial·seed별로</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허용하는 시도 수다. 중복 후보와 형식이 잘못된 후보도 시도 수를 소비한다.</a:t>
            </a:r>
          </a:p>
        </p:txBody>
      </p:sp>
      <p:sp>
        <p:nvSpPr>
          <p:cNvPr id="8" name="">
            <a:extLst xmlns:a="http://schemas.openxmlformats.org/drawingml/2006/main">
              <a:ext uri="{FF2B5EF4-FFF2-40B4-BE49-F238E27FC236}">
                <a16:creationId xmlns:a16="http://schemas.microsoft.com/office/drawing/2014/main" id="{D83D3445-6D2E-4F35-8DE5-2786A1ACF54F}"/>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Success@100</a:t>
            </a:r>
          </a:p>
        </p:txBody>
      </p:sp>
      <p:sp>
        <p:nvSpPr>
          <p:cNvPr id="9" name="">
            <a:extLst xmlns:a="http://schemas.openxmlformats.org/drawingml/2006/main">
              <a:ext uri="{FF2B5EF4-FFF2-40B4-BE49-F238E27FC236}">
                <a16:creationId xmlns:a16="http://schemas.microsoft.com/office/drawing/2014/main" id="{82444045-BB39-4B23-AEF7-EA3CFB257F9F}"/>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후보 100개 중 하나 이상이 목표값과 일치한 trial의 비율이다.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가상 예: 100 trials 중 3 trials에서 일치 후보가 나오면 Success@100은 3%다.</a:t>
            </a:r>
          </a:p>
        </p:txBody>
      </p:sp>
      <p:sp>
        <p:nvSpPr>
          <p:cNvPr id="10" name="">
            <a:extLst xmlns:a="http://schemas.openxmlformats.org/drawingml/2006/main">
              <a:ext uri="{FF2B5EF4-FFF2-40B4-BE49-F238E27FC236}">
                <a16:creationId xmlns:a16="http://schemas.microsoft.com/office/drawing/2014/main" id="{234EA066-3FDC-4251-BFE3-3B488F5D8918}"/>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Seed 평균 / 짝 비교</a:t>
            </a:r>
          </a:p>
        </p:txBody>
      </p:sp>
      <p:sp>
        <p:nvSpPr>
          <p:cNvPr id="11" name="">
            <a:extLst xmlns:a="http://schemas.openxmlformats.org/drawingml/2006/main">
              <a:ext uri="{FF2B5EF4-FFF2-40B4-BE49-F238E27FC236}">
                <a16:creationId xmlns:a16="http://schemas.microsoft.com/office/drawing/2014/main" id="{9ADC5C98-3E92-41B5-9925-43B294A8D2C1}"/>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각 trial에서 3개 seed의 Main과 대조군 성공 여부 차이를 평균한다.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그 뒤 trial 전체의 평균과 불확실성을 구한다. 모든 방법은 같은 trial 목록을 사용한다.</a:t>
            </a:r>
          </a:p>
        </p:txBody>
      </p:sp>
      <p:sp>
        <p:nvSpPr>
          <p:cNvPr id="12" name="">
            <a:extLst xmlns:a="http://schemas.openxmlformats.org/drawingml/2006/main">
              <a:ext uri="{FF2B5EF4-FFF2-40B4-BE49-F238E27FC236}">
                <a16:creationId xmlns:a16="http://schemas.microsoft.com/office/drawing/2014/main" id="{2ADF900B-B673-46AE-9DE1-6E6DD88F0A03}"/>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생성 배치 256·2,048개는 병렬 처리 크기이며, trial별 시도 수 K=100과는 다르다</a:t>
            </a:r>
          </a:p>
        </p:txBody>
      </p:sp>
    </p:spTree>
    <p:extLst>
      <p:ext uri="{BB962C8B-B14F-4D97-AF65-F5344CB8AC3E}">
        <p14:creationId xmlns:p14="http://schemas.microsoft.com/office/powerpoint/2010/main" val="64608136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6325EAB-8C1E-49DC-94D4-25BA79A86212}"/>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효과 크기: Δ·퍼센트포인트·δ</a:t>
            </a:r>
          </a:p>
        </p:txBody>
      </p:sp>
      <p:sp>
        <p:nvSpPr>
          <p:cNvPr id="2" name="">
            <a:extLst xmlns:a="http://schemas.openxmlformats.org/drawingml/2006/main">
              <a:ext uri="{FF2B5EF4-FFF2-40B4-BE49-F238E27FC236}">
                <a16:creationId xmlns:a16="http://schemas.microsoft.com/office/drawing/2014/main" id="{D3537F52-F64B-4211-8D50-29CEF256E4B1}"/>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18</a:t>
            </a:r>
          </a:p>
        </p:txBody>
      </p:sp>
      <p:sp>
        <p:nvSpPr>
          <p:cNvPr id="3" name="">
            <a:extLst xmlns:a="http://schemas.openxmlformats.org/drawingml/2006/main">
              <a:ext uri="{FF2B5EF4-FFF2-40B4-BE49-F238E27FC236}">
                <a16:creationId xmlns:a16="http://schemas.microsoft.com/office/drawing/2014/main" id="{F34FD73B-0F6C-4EC0-911D-0B9D162F9628}"/>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§6.2, decision.json의 intervals</a:t>
            </a:r>
          </a:p>
        </p:txBody>
      </p:sp>
      <p:sp>
        <p:nvSpPr>
          <p:cNvPr id="4" name="">
            <a:extLst xmlns:a="http://schemas.openxmlformats.org/drawingml/2006/main">
              <a:ext uri="{FF2B5EF4-FFF2-40B4-BE49-F238E27FC236}">
                <a16:creationId xmlns:a16="http://schemas.microsoft.com/office/drawing/2014/main" id="{BA72616C-EFB3-4BB9-838C-289DA890C4B0}"/>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ΔR / ΔS</a:t>
            </a:r>
          </a:p>
        </p:txBody>
      </p:sp>
      <p:sp>
        <p:nvSpPr>
          <p:cNvPr id="5" name="">
            <a:extLst xmlns:a="http://schemas.openxmlformats.org/drawingml/2006/main">
              <a:ext uri="{FF2B5EF4-FFF2-40B4-BE49-F238E27FC236}">
                <a16:creationId xmlns:a16="http://schemas.microsoft.com/office/drawing/2014/main" id="{350AC96B-E348-4FCC-8AD8-B75A24796B38}"/>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ΔR은 Main 성공률에서 Random 성공률을 뺀 값이다.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ΔS는 Main에서 Shuffled를 뺀 값이다. 양수이면 Main의 성공률이 더 높다.</a:t>
            </a:r>
          </a:p>
        </p:txBody>
      </p:sp>
      <p:sp>
        <p:nvSpPr>
          <p:cNvPr id="6" name="">
            <a:extLst xmlns:a="http://schemas.openxmlformats.org/drawingml/2006/main">
              <a:ext uri="{FF2B5EF4-FFF2-40B4-BE49-F238E27FC236}">
                <a16:creationId xmlns:a16="http://schemas.microsoft.com/office/drawing/2014/main" id="{9BFE145F-81F6-45CF-8B29-B781582481B0}"/>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 / %p</a:t>
            </a:r>
          </a:p>
        </p:txBody>
      </p:sp>
      <p:sp>
        <p:nvSpPr>
          <p:cNvPr id="7" name="">
            <a:extLst xmlns:a="http://schemas.openxmlformats.org/drawingml/2006/main">
              <a:ext uri="{FF2B5EF4-FFF2-40B4-BE49-F238E27FC236}">
                <a16:creationId xmlns:a16="http://schemas.microsoft.com/office/drawing/2014/main" id="{AB11A6BC-B6EF-446A-ACB9-3354B58FB66C}"/>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%는 성공률 자체이고, %p는 두 성공률의 차이를 나타내는 퍼센트포인트다.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가상 예: 2.4%에서 2.9%로 증가하면 +0.5%p이며, 상대 증가는 약 20.8%다.</a:t>
            </a:r>
          </a:p>
        </p:txBody>
      </p:sp>
      <p:sp>
        <p:nvSpPr>
          <p:cNvPr id="8" name="">
            <a:extLst xmlns:a="http://schemas.openxmlformats.org/drawingml/2006/main">
              <a:ext uri="{FF2B5EF4-FFF2-40B4-BE49-F238E27FC236}">
                <a16:creationId xmlns:a16="http://schemas.microsoft.com/office/drawing/2014/main" id="{03EF57DD-013B-4966-A26A-26D3C9841E95}"/>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δ / 최소 관심 효과</a:t>
            </a:r>
          </a:p>
        </p:txBody>
      </p:sp>
      <p:sp>
        <p:nvSpPr>
          <p:cNvPr id="9" name="">
            <a:extLst xmlns:a="http://schemas.openxmlformats.org/drawingml/2006/main">
              <a:ext uri="{FF2B5EF4-FFF2-40B4-BE49-F238E27FC236}">
                <a16:creationId xmlns:a16="http://schemas.microsoft.com/office/drawing/2014/main" id="{47726741-401E-42D8-BEA5-357AA7E4AC77}"/>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δ=0.005는 성공률 차이 +0.5%p를 의미한다. 실험 전에 배제 여부를</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판단할 개선 크기로 정했다. δ는 오차 범위나 통계적 유의수준과는 다른 값이다.</a:t>
            </a:r>
          </a:p>
        </p:txBody>
      </p:sp>
      <p:sp>
        <p:nvSpPr>
          <p:cNvPr id="10" name="">
            <a:extLst xmlns:a="http://schemas.openxmlformats.org/drawingml/2006/main">
              <a:ext uri="{FF2B5EF4-FFF2-40B4-BE49-F238E27FC236}">
                <a16:creationId xmlns:a16="http://schemas.microsoft.com/office/drawing/2014/main" id="{5716BC0F-76A6-4B42-B3E8-E7E2630052C6}"/>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추정값 / 상한</a:t>
            </a:r>
          </a:p>
        </p:txBody>
      </p:sp>
      <p:sp>
        <p:nvSpPr>
          <p:cNvPr id="11" name="">
            <a:extLst xmlns:a="http://schemas.openxmlformats.org/drawingml/2006/main">
              <a:ext uri="{FF2B5EF4-FFF2-40B4-BE49-F238E27FC236}">
                <a16:creationId xmlns:a16="http://schemas.microsoft.com/office/drawing/2014/main" id="{EF00EB18-8C51-4027-B556-C291D0340A01}"/>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추정값은 관측한 효과의 중심값이고, 상한은 등록된 구간의 높은 쪽 끝값이다.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실측 예: P-DISC의 ΔS는 +0.069%p, 구간 상한은 +0.378%p다.</a:t>
            </a:r>
          </a:p>
        </p:txBody>
      </p:sp>
      <p:sp>
        <p:nvSpPr>
          <p:cNvPr id="12" name="">
            <a:extLst xmlns:a="http://schemas.openxmlformats.org/drawingml/2006/main">
              <a:ext uri="{FF2B5EF4-FFF2-40B4-BE49-F238E27FC236}">
                <a16:creationId xmlns:a16="http://schemas.microsoft.com/office/drawing/2014/main" id="{F4A49209-D52E-4545-A68B-582E7A852E9B}"/>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+0.378%p가 +0.5%p보다 작으므로, 등록된 구간은 최소 관심 효과를 포함하지 않는다</a:t>
            </a:r>
          </a:p>
        </p:txBody>
      </p:sp>
    </p:spTree>
    <p:extLst>
      <p:ext uri="{BB962C8B-B14F-4D97-AF65-F5344CB8AC3E}">
        <p14:creationId xmlns:p14="http://schemas.microsoft.com/office/powerpoint/2010/main" val="7703844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E7870FD-60CB-46D1-86AF-07A6A2B93715}"/>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불확실성: 표준오차·신뢰구간·순차 분석</a:t>
            </a:r>
          </a:p>
        </p:txBody>
      </p:sp>
      <p:sp>
        <p:nvSpPr>
          <p:cNvPr id="2" name="">
            <a:extLst xmlns:a="http://schemas.openxmlformats.org/drawingml/2006/main">
              <a:ext uri="{FF2B5EF4-FFF2-40B4-BE49-F238E27FC236}">
                <a16:creationId xmlns:a16="http://schemas.microsoft.com/office/drawing/2014/main" id="{0AC206C2-2D5A-4F7E-B02A-1AD1CB729766}"/>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19</a:t>
            </a:r>
          </a:p>
        </p:txBody>
      </p:sp>
      <p:sp>
        <p:nvSpPr>
          <p:cNvPr id="3" name="">
            <a:extLst xmlns:a="http://schemas.openxmlformats.org/drawingml/2006/main">
              <a:ext uri="{FF2B5EF4-FFF2-40B4-BE49-F238E27FC236}">
                <a16:creationId xmlns:a16="http://schemas.microsoft.com/office/drawing/2014/main" id="{D7B9E516-2E53-4608-8BD1-B712D34C4217}"/>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§6.2–6.3, 구현 명세 §11</a:t>
            </a:r>
          </a:p>
        </p:txBody>
      </p:sp>
      <p:sp>
        <p:nvSpPr>
          <p:cNvPr id="4" name="">
            <a:extLst xmlns:a="http://schemas.openxmlformats.org/drawingml/2006/main">
              <a:ext uri="{FF2B5EF4-FFF2-40B4-BE49-F238E27FC236}">
                <a16:creationId xmlns:a16="http://schemas.microsoft.com/office/drawing/2014/main" id="{A116E344-24DD-436C-8BB3-70FBB9FBDDA2}"/>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SE / 표준오차</a:t>
            </a:r>
          </a:p>
        </p:txBody>
      </p:sp>
      <p:sp>
        <p:nvSpPr>
          <p:cNvPr id="5" name="">
            <a:extLst xmlns:a="http://schemas.openxmlformats.org/drawingml/2006/main">
              <a:ext uri="{FF2B5EF4-FFF2-40B4-BE49-F238E27FC236}">
                <a16:creationId xmlns:a16="http://schemas.microsoft.com/office/drawing/2014/main" id="{BFF321F2-A608-44BC-9474-86B13D65CF35}"/>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Standard error는 효과 추정값의 표본 변동을 나타내는 크기다.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여기서는 trial별 짝 차이의 표준편차를 trial 수의 제곱근으로 나눈다.</a:t>
            </a:r>
          </a:p>
        </p:txBody>
      </p:sp>
      <p:sp>
        <p:nvSpPr>
          <p:cNvPr id="6" name="">
            <a:extLst xmlns:a="http://schemas.openxmlformats.org/drawingml/2006/main">
              <a:ext uri="{FF2B5EF4-FFF2-40B4-BE49-F238E27FC236}">
                <a16:creationId xmlns:a16="http://schemas.microsoft.com/office/drawing/2014/main" id="{A154610C-BAC0-4A74-AD77-96905923F9E9}"/>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신뢰구간 / α</a:t>
            </a:r>
          </a:p>
        </p:txBody>
      </p:sp>
      <p:sp>
        <p:nvSpPr>
          <p:cNvPr id="7" name="">
            <a:extLst xmlns:a="http://schemas.openxmlformats.org/drawingml/2006/main">
              <a:ext uri="{FF2B5EF4-FFF2-40B4-BE49-F238E27FC236}">
                <a16:creationId xmlns:a16="http://schemas.microsoft.com/office/drawing/2014/main" id="{0E04BBB5-0E84-442B-AF52-9723FB730F0F}"/>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신뢰구간은 정한 절차와 가정 아래 효과의 불확실성을 표현하는 구간이다.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α=0.05는 전체 오류 확률의 목표 상한이다. 관측한 효과가 95% 확률로 참이라는 뜻은 아니다.</a:t>
            </a:r>
          </a:p>
        </p:txBody>
      </p:sp>
      <p:sp>
        <p:nvSpPr>
          <p:cNvPr id="8" name="">
            <a:extLst xmlns:a="http://schemas.openxmlformats.org/drawingml/2006/main">
              <a:ext uri="{FF2B5EF4-FFF2-40B4-BE49-F238E27FC236}">
                <a16:creationId xmlns:a16="http://schemas.microsoft.com/office/drawing/2014/main" id="{D6F768EC-EA98-4533-927B-2032CAA22F06}"/>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동시 구간 / 보정</a:t>
            </a:r>
          </a:p>
        </p:txBody>
      </p:sp>
      <p:sp>
        <p:nvSpPr>
          <p:cNvPr id="9" name="">
            <a:extLst xmlns:a="http://schemas.openxmlformats.org/drawingml/2006/main">
              <a:ext uri="{FF2B5EF4-FFF2-40B4-BE49-F238E27FC236}">
                <a16:creationId xmlns:a16="http://schemas.microsoft.com/office/drawing/2014/main" id="{366A7BE3-CDB4-432C-AE96-9D2E27428462}"/>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모델 5개, 대조군 2개, 양쪽 구간, 여러 분석 시점을 함께 고려한다.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Bonferroni 보정은 오류 예산을 나누어 여러 비교에서 잘못 결론 낼 위험을 제한한다.</a:t>
            </a:r>
          </a:p>
        </p:txBody>
      </p:sp>
      <p:sp>
        <p:nvSpPr>
          <p:cNvPr id="10" name="">
            <a:extLst xmlns:a="http://schemas.openxmlformats.org/drawingml/2006/main">
              <a:ext uri="{FF2B5EF4-FFF2-40B4-BE49-F238E27FC236}">
                <a16:creationId xmlns:a16="http://schemas.microsoft.com/office/drawing/2014/main" id="{6D0C5CA2-0795-4E27-8B77-83C656EB6C88}"/>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Look / 순차 분석</a:t>
            </a:r>
          </a:p>
        </p:txBody>
      </p:sp>
      <p:sp>
        <p:nvSpPr>
          <p:cNvPr id="11" name="">
            <a:extLst xmlns:a="http://schemas.openxmlformats.org/drawingml/2006/main">
              <a:ext uri="{FF2B5EF4-FFF2-40B4-BE49-F238E27FC236}">
                <a16:creationId xmlns:a16="http://schemas.microsoft.com/office/drawing/2014/main" id="{DE76F699-F6B5-4723-A3D6-2CBA79993B10}"/>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Look은 누적 결과를 분석하는 시점이다. 8,192 trials마다 최대 3회 분석한다.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이번에는 2차 분석의 16,384 trials에서 모든 파이프라인을 판정하고 함께 종료했다.</a:t>
            </a:r>
          </a:p>
        </p:txBody>
      </p:sp>
      <p:sp>
        <p:nvSpPr>
          <p:cNvPr id="12" name="">
            <a:extLst xmlns:a="http://schemas.openxmlformats.org/drawingml/2006/main">
              <a:ext uri="{FF2B5EF4-FFF2-40B4-BE49-F238E27FC236}">
                <a16:creationId xmlns:a16="http://schemas.microsoft.com/office/drawing/2014/main" id="{DD074E2B-996F-4610-A6CF-617D7378388D}"/>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보고한 구간은 여러 비교와 중간 분석을 보정한 동시 구간이다</a:t>
            </a:r>
          </a:p>
        </p:txBody>
      </p:sp>
    </p:spTree>
    <p:extLst>
      <p:ext uri="{BB962C8B-B14F-4D97-AF65-F5344CB8AC3E}">
        <p14:creationId xmlns:p14="http://schemas.microsoft.com/office/powerpoint/2010/main" val="212102628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E5F1C0-804B-47A4-8844-A3B79426F5CD}"/>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평가 파라미터와 판정 기준</a:t>
            </a:r>
          </a:p>
        </p:txBody>
      </p:sp>
      <p:sp>
        <p:nvSpPr>
          <p:cNvPr id="2" name="">
            <a:extLst xmlns:a="http://schemas.openxmlformats.org/drawingml/2006/main">
              <a:ext uri="{FF2B5EF4-FFF2-40B4-BE49-F238E27FC236}">
                <a16:creationId xmlns:a16="http://schemas.microsoft.com/office/drawing/2014/main" id="{3CCAB32D-B194-4FBA-BE36-8FAC467C7625}"/>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20</a:t>
            </a:r>
          </a:p>
        </p:txBody>
      </p:sp>
      <p:sp>
        <p:nvSpPr>
          <p:cNvPr id="3" name="">
            <a:extLst xmlns:a="http://schemas.openxmlformats.org/drawingml/2006/main">
              <a:ext uri="{FF2B5EF4-FFF2-40B4-BE49-F238E27FC236}">
                <a16:creationId xmlns:a16="http://schemas.microsoft.com/office/drawing/2014/main" id="{3F419CA2-3F1D-40CA-9B3F-9A83D99E5D51}"/>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등록 설정 stage_c, 연구 계획 §6</a:t>
            </a:r>
          </a:p>
        </p:txBody>
      </p:sp>
      <p:graphicFrame>
        <p:nvGraphicFramePr>
          <p:cNvPr id="10" name=""/>
          <p:cNvGraphicFramePr/>
          <p:nvPr/>
        </p:nvGraphicFramePr>
        <p:xfrm>
          <a:off xmlns:a="http://schemas.openxmlformats.org/drawingml/2006/main" x="609600" y="1533525"/>
          <a:ext xmlns:a="http://schemas.openxmlformats.org/drawingml/2006/main" cx="10972800" cy="3038475"/>
        </p:xfrm>
        <a:graphic xmlns:a="http://schemas.openxmlformats.org/drawingml/2006/main">
          <a:graphicData uri="http://schemas.openxmlformats.org/drawingml/2006/table">
            <a:tbl>
              <a:tblPr firstRow="0" bandRow="0"/>
              <a:tblGrid>
                <a:gridCol w="2076450"/>
                <a:gridCol w="4048125"/>
                <a:gridCol w="4848225"/>
              </a:tblGrid>
              <a:tr h="607695">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파라미터</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사용값</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607695">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후보 예산 K</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trial·seed별 100개</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100개 안에 한 번 이상 일치하면 성공</a:t>
                      </a:r>
                    </a:p>
                  </a:txBody>
                  <a:tcPr marL="91440" marR="91440" marT="45720" marB="45720" anchor="ctr">
                    <a:solidFill>
                      <a:srgbClr val="F2F5F7"/>
                    </a:solidFill>
                  </a:tcPr>
                </a:tc>
              </a:tr>
              <a:tr h="607695">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최소 관심 효과 δ</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0.005 = +0.5%p</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성공률 2.4%에서 2.9%로 증가하는 폭</a:t>
                      </a:r>
                    </a:p>
                  </a:txBody>
                  <a:tcPr marL="91440" marR="91440" marT="45720" marB="45720" anchor="ctr">
                    <a:solidFill>
                      <a:srgbClr val="FFFFFF"/>
                    </a:solidFill>
                  </a:tcPr>
                </a:tc>
              </a:tr>
              <a:tr h="607695">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순차 분석</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8,192 trials씩 최대 3회</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누적 결과에 따라 함께 종료 여부 결정</a:t>
                      </a:r>
                    </a:p>
                  </a:txBody>
                  <a:tcPr marL="91440" marR="91440" marT="45720" marB="45720" anchor="ctr">
                    <a:solidFill>
                      <a:srgbClr val="F2F5F7"/>
                    </a:solidFill>
                  </a:tcPr>
                </a:tc>
              </a:tr>
              <a:tr h="607695">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전체 유의수준 α</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0.05 / 동시 95% 구간</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5개 모델·2개 대조·중간 분석을 보정</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568CBB6-0BDD-4FEF-A607-5B865CE3EBB7}"/>
              </a:ext>
            </a:extLst>
          </p:cNvPr>
          <p:cNvSpPr>
            <a:spLocks xmlns:a="http://schemas.openxmlformats.org/drawingml/2006/main" noGrp="1"/>
          </p:cNvSpPr>
          <p:nvPr/>
        </p:nvSpPr>
        <p:spPr>
          <a:xfrm xmlns:a="http://schemas.openxmlformats.org/drawingml/2006/main">
            <a:off x="609600" y="5010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lang="ko-KR" altLang="en-US">
                <a:solidFill>
                  <a:srgbClr val="203648"/>
                </a:solidFill>
                <a:latin typeface="Malgun Gothic"/>
                <a:ea typeface="Malgun Gothic"/>
                <a:cs typeface="Malgun Gothic"/>
              </a:defRPr>
            </a:pPr>
            <a:r>
              <a:rPr sz="2025" b="0" lang="ko-KR" altLang="en-US">
                <a:solidFill>
                  <a:srgbClr val="203648"/>
                </a:solidFill>
                <a:latin typeface="Malgun Gothic"/>
                <a:ea typeface="Malgun Gothic"/>
                <a:cs typeface="Malgun Gothic"/>
              </a:rPr>
              <a:t>양성: ΔR·ΔS의 하한이 모두 0 초과. 이후 별도 W4 재현</a:t>
            </a:r>
          </a:p>
        </p:txBody>
      </p:sp>
      <p:sp>
        <p:nvSpPr>
          <p:cNvPr id="6" name="">
            <a:extLst xmlns:a="http://schemas.openxmlformats.org/drawingml/2006/main">
              <a:ext uri="{FF2B5EF4-FFF2-40B4-BE49-F238E27FC236}">
                <a16:creationId xmlns:a16="http://schemas.microsoft.com/office/drawing/2014/main" id="{6F8F261C-65EE-4CDA-BFAC-C7F8F2E5AA6C}"/>
              </a:ext>
            </a:extLst>
          </p:cNvPr>
          <p:cNvSpPr>
            <a:spLocks xmlns:a="http://schemas.openxmlformats.org/drawingml/2006/main" noGrp="1"/>
          </p:cNvSpPr>
          <p:nvPr/>
        </p:nvSpPr>
        <p:spPr>
          <a:xfrm xmlns:a="http://schemas.openxmlformats.org/drawingml/2006/main">
            <a:off x="609600" y="5619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한계 기각: 양성이 아니고, 두 상한이 모두 +0.5%p 미만</a:t>
            </a:r>
          </a:p>
        </p:txBody>
      </p:sp>
    </p:spTree>
    <p:extLst>
      <p:ext uri="{BB962C8B-B14F-4D97-AF65-F5344CB8AC3E}">
        <p14:creationId xmlns:p14="http://schemas.microsoft.com/office/powerpoint/2010/main" val="5543090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990A0A-92F2-41B7-872A-516FF829B3DF}"/>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실험 수행 범위</a:t>
            </a:r>
          </a:p>
        </p:txBody>
      </p:sp>
      <p:sp>
        <p:nvSpPr>
          <p:cNvPr id="2" name="">
            <a:extLst xmlns:a="http://schemas.openxmlformats.org/drawingml/2006/main">
              <a:ext uri="{FF2B5EF4-FFF2-40B4-BE49-F238E27FC236}">
                <a16:creationId xmlns:a16="http://schemas.microsoft.com/office/drawing/2014/main" id="{D8DBA84F-6181-4EC1-A2D1-F8257F29184B}"/>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21</a:t>
            </a:r>
          </a:p>
        </p:txBody>
      </p:sp>
      <p:sp>
        <p:nvSpPr>
          <p:cNvPr id="3" name="">
            <a:extLst xmlns:a="http://schemas.openxmlformats.org/drawingml/2006/main">
              <a:ext uri="{FF2B5EF4-FFF2-40B4-BE49-F238E27FC236}">
                <a16:creationId xmlns:a16="http://schemas.microsoft.com/office/drawing/2014/main" id="{ABFB4473-B633-4339-BB90-766C7F9853FD}"/>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 budget.json</a:t>
            </a:r>
          </a:p>
        </p:txBody>
      </p:sp>
      <p:graphicFrame>
        <p:nvGraphicFramePr>
          <p:cNvPr id="9" name=""/>
          <p:cNvGraphicFramePr/>
          <p:nvPr/>
        </p:nvGraphicFramePr>
        <p:xfrm>
          <a:off xmlns:a="http://schemas.openxmlformats.org/drawingml/2006/main" x="609600" y="1657350"/>
          <a:ext xmlns:a="http://schemas.openxmlformats.org/drawingml/2006/main" cx="10972800" cy="3686175"/>
        </p:xfrm>
        <a:graphic xmlns:a="http://schemas.openxmlformats.org/drawingml/2006/main">
          <a:graphicData uri="http://schemas.openxmlformats.org/drawingml/2006/table">
            <a:tbl>
              <a:tblPr firstRow="0" bandRow="0"/>
              <a:tblGrid>
                <a:gridCol w="2000250"/>
                <a:gridCol w="4686300"/>
                <a:gridCol w="1562100"/>
                <a:gridCol w="2724150"/>
              </a:tblGrid>
              <a:tr h="614363">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단계</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실험 목적</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사용 시간</a:t>
                      </a:r>
                    </a:p>
                  </a:txBody>
                  <a:tcPr marL="91440" marR="91440" marT="45720" marB="45720" anchor="ctr">
                    <a:solidFill>
                      <a:srgbClr val="142C43"/>
                    </a:solidFill>
                  </a:tcPr>
                </a:tc>
                <a:tc>
                  <a:txBody>
                    <a:bodyPr wrap="square" lIns="133350" tIns="76200" rIns="133350" bIns="76200">
                      <a:noAutofit/>
                    </a:bodyPr>
                    <a:lstStyle/>
                    <a:p>
                      <a:pPr algn="l"/>
                      <a:r>
                        <a:rPr sz="1725" b="1" lang="ko-KR" altLang="en-US">
                          <a:solidFill>
                            <a:srgbClr val="FFFFFF"/>
                          </a:solidFill>
                          <a:latin typeface="Malgun Gothic"/>
                          <a:ea typeface="Malgun Gothic"/>
                          <a:cs typeface="Malgun Gothic"/>
                        </a:rPr>
                        <a:t>결과</a:t>
                      </a:r>
                    </a:p>
                  </a:txBody>
                  <a:tcPr marL="91440" marR="91440" marT="45720" marB="45720" anchor="ctr">
                    <a:solidFill>
                      <a:srgbClr val="142C43"/>
                    </a:solidFill>
                  </a:tcPr>
                </a:tc>
              </a:tr>
              <a:tr h="614363">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적격성 검사</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학습 가능한 조건의 사용 능력</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15.7시간</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5개 모두 통과</a:t>
                      </a:r>
                    </a:p>
                  </a:txBody>
                  <a:tcPr marL="91440" marR="91440" marT="45720" marB="45720" anchor="ctr">
                    <a:solidFill>
                      <a:srgbClr val="F2F5F7"/>
                    </a:solidFill>
                  </a:tcPr>
                </a:tc>
              </a:tr>
              <a:tr h="614363">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주 실험</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정규 MD5 W3에서 생성 효과</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41.2시간</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2차 분석에서 종료</a:t>
                      </a:r>
                    </a:p>
                  </a:txBody>
                  <a:tcPr marL="91440" marR="91440" marT="45720" marB="45720" anchor="ctr">
                    <a:solidFill>
                      <a:srgbClr val="FFFFFF"/>
                    </a:solidFill>
                  </a:tcPr>
                </a:tc>
              </a:tr>
              <a:tr h="614363">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재현 시험</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양성 결과의 W4 재현</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미실행</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양성 파이프라인 없음</a:t>
                      </a:r>
                    </a:p>
                  </a:txBody>
                  <a:tcPr marL="91440" marR="91440" marT="45720" marB="45720" anchor="ctr">
                    <a:solidFill>
                      <a:srgbClr val="F2F5F7"/>
                    </a:solidFill>
                  </a:tcPr>
                </a:tc>
              </a:tr>
              <a:tr h="614363">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양성 대조</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r=4 W1의 약한 해시 구조 이용</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5.0시간</a:t>
                      </a:r>
                    </a:p>
                  </a:txBody>
                  <a:tcPr marL="91440" marR="91440" marT="45720" marB="45720" anchor="ctr">
                    <a:solidFill>
                      <a:srgbClr val="FFFFFF"/>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5개 모두 구조 이용</a:t>
                      </a:r>
                    </a:p>
                  </a:txBody>
                  <a:tcPr marL="91440" marR="91440" marT="45720" marB="45720" anchor="ctr">
                    <a:solidFill>
                      <a:srgbClr val="FFFFFF"/>
                    </a:solidFill>
                  </a:tcPr>
                </a:tc>
              </a:tr>
              <a:tr h="614363">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규모 확대</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큰 모델과 더 많은 학습량</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5.4시간</a:t>
                      </a:r>
                    </a:p>
                  </a:txBody>
                  <a:tcPr marL="91440" marR="91440" marT="45720" marB="45720" anchor="ctr">
                    <a:solidFill>
                      <a:srgbClr val="F2F5F7"/>
                    </a:solidFill>
                  </a:tcPr>
                </a:tc>
                <a:tc>
                  <a:txBody>
                    <a:bodyPr wrap="square" lIns="133350" tIns="76200" rIns="133350" bIns="76200">
                      <a:noAutofit/>
                    </a:bodyPr>
                    <a:lstStyle/>
                    <a:p>
                      <a:pPr algn="l"/>
                      <a:r>
                        <a:rPr sz="1800" b="0" lang="ko-KR" altLang="en-US">
                          <a:solidFill>
                            <a:srgbClr val="203648"/>
                          </a:solidFill>
                          <a:latin typeface="Malgun Gothic"/>
                          <a:ea typeface="Malgun Gothic"/>
                          <a:cs typeface="Malgun Gothic"/>
                        </a:rPr>
                        <a:t>추가 신호 없음</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5D45B055-27DC-4312-A6F9-75B9EA2F24DC}"/>
              </a:ext>
            </a:extLst>
          </p:cNvPr>
          <p:cNvSpPr>
            <a:spLocks xmlns:a="http://schemas.openxmlformats.org/drawingml/2006/main" noGrp="1"/>
          </p:cNvSpPr>
          <p:nvPr/>
        </p:nvSpPr>
        <p:spPr>
          <a:xfrm xmlns:a="http://schemas.openxmlformats.org/drawingml/2006/main">
            <a:off x="609600" y="563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lang="ko-KR" altLang="en-US">
                <a:solidFill>
                  <a:srgbClr val="087F82"/>
                </a:solidFill>
                <a:latin typeface="Malgun Gothic"/>
                <a:ea typeface="Malgun Gothic"/>
                <a:cs typeface="Malgun Gothic"/>
              </a:defRPr>
            </a:pPr>
            <a:r>
              <a:rPr sz="2250" b="1" lang="ko-KR" altLang="en-US">
                <a:solidFill>
                  <a:srgbClr val="087F82"/>
                </a:solidFill>
                <a:latin typeface="Malgun Gothic"/>
                <a:ea typeface="Malgun Gothic"/>
                <a:cs typeface="Malgun Gothic"/>
              </a:rPr>
              <a:t>총 67.3시간, 모든 필수 단계 완료</a:t>
            </a:r>
          </a:p>
        </p:txBody>
      </p:sp>
    </p:spTree>
    <p:extLst>
      <p:ext uri="{BB962C8B-B14F-4D97-AF65-F5344CB8AC3E}">
        <p14:creationId xmlns:p14="http://schemas.microsoft.com/office/powerpoint/2010/main" val="10232498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BBF9185-0631-4777-A834-7A811372B089}"/>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대조 실험과 적격성 검사의 역할</a:t>
            </a:r>
          </a:p>
        </p:txBody>
      </p:sp>
      <p:sp>
        <p:nvSpPr>
          <p:cNvPr id="2" name="">
            <a:extLst xmlns:a="http://schemas.openxmlformats.org/drawingml/2006/main">
              <a:ext uri="{FF2B5EF4-FFF2-40B4-BE49-F238E27FC236}">
                <a16:creationId xmlns:a16="http://schemas.microsoft.com/office/drawing/2014/main" id="{50B93F56-0F61-48A4-A7B4-33DC3EEB7E1E}"/>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22</a:t>
            </a:r>
          </a:p>
        </p:txBody>
      </p:sp>
      <p:sp>
        <p:nvSpPr>
          <p:cNvPr id="3" name="">
            <a:extLst xmlns:a="http://schemas.openxmlformats.org/drawingml/2006/main">
              <a:ext uri="{FF2B5EF4-FFF2-40B4-BE49-F238E27FC236}">
                <a16:creationId xmlns:a16="http://schemas.microsoft.com/office/drawing/2014/main" id="{C09D540A-E0A4-4C6D-9B44-C4A4A6E064B4}"/>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§5–8, A.json, P.json</a:t>
            </a:r>
          </a:p>
        </p:txBody>
      </p:sp>
      <p:sp>
        <p:nvSpPr>
          <p:cNvPr id="4" name="">
            <a:extLst xmlns:a="http://schemas.openxmlformats.org/drawingml/2006/main">
              <a:ext uri="{FF2B5EF4-FFF2-40B4-BE49-F238E27FC236}">
                <a16:creationId xmlns:a16="http://schemas.microsoft.com/office/drawing/2014/main" id="{59BF2857-4C4C-4857-975B-923F7EE9D125}"/>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Main / Random</a:t>
            </a:r>
          </a:p>
        </p:txBody>
      </p:sp>
      <p:sp>
        <p:nvSpPr>
          <p:cNvPr id="5" name="">
            <a:extLst xmlns:a="http://schemas.openxmlformats.org/drawingml/2006/main">
              <a:ext uri="{FF2B5EF4-FFF2-40B4-BE49-F238E27FC236}">
                <a16:creationId xmlns:a16="http://schemas.microsoft.com/office/drawing/2014/main" id="{05BD417C-025E-4EE5-AC95-10C8607814A1}"/>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Main은 올바른 해시 조건으로 학습한 모델이다. Random은 학습하지 않고</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사전 입력 분포(prior)에서 길이와 기호를 뽑는다. 두 방법의 생성 성공률을 비교한다.</a:t>
            </a:r>
          </a:p>
        </p:txBody>
      </p:sp>
      <p:sp>
        <p:nvSpPr>
          <p:cNvPr id="6" name="">
            <a:extLst xmlns:a="http://schemas.openxmlformats.org/drawingml/2006/main">
              <a:ext uri="{FF2B5EF4-FFF2-40B4-BE49-F238E27FC236}">
                <a16:creationId xmlns:a16="http://schemas.microsoft.com/office/drawing/2014/main" id="{076D550B-0CDA-4BBA-BBFF-40CA678292CE}"/>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Shuffled / MC</a:t>
            </a:r>
          </a:p>
        </p:txBody>
      </p:sp>
      <p:sp>
        <p:nvSpPr>
          <p:cNvPr id="7" name="">
            <a:extLst xmlns:a="http://schemas.openxmlformats.org/drawingml/2006/main">
              <a:ext uri="{FF2B5EF4-FFF2-40B4-BE49-F238E27FC236}">
                <a16:creationId xmlns:a16="http://schemas.microsoft.com/office/drawing/2014/main" id="{3ADD80E2-182A-4279-B11A-CC2D403B0DD4}"/>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Shuffled는 학습 중 입력과 조건의 대응을 섞는다. MC는 학습을 바꾸지 않고</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같은 Main에 다른 target 조건을 입력한다. 각각 학습 대응과 생성 조건의 역할을 점검한다.</a:t>
            </a:r>
          </a:p>
        </p:txBody>
      </p:sp>
      <p:sp>
        <p:nvSpPr>
          <p:cNvPr id="8" name="">
            <a:extLst xmlns:a="http://schemas.openxmlformats.org/drawingml/2006/main">
              <a:ext uri="{FF2B5EF4-FFF2-40B4-BE49-F238E27FC236}">
                <a16:creationId xmlns:a16="http://schemas.microsoft.com/office/drawing/2014/main" id="{3E27D6F5-C78D-440A-8ADC-A275340697DB}"/>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Synthetic / 적격성</a:t>
            </a:r>
          </a:p>
        </p:txBody>
      </p:sp>
      <p:sp>
        <p:nvSpPr>
          <p:cNvPr id="9" name="">
            <a:extLst xmlns:a="http://schemas.openxmlformats.org/drawingml/2006/main">
              <a:ext uri="{FF2B5EF4-FFF2-40B4-BE49-F238E27FC236}">
                <a16:creationId xmlns:a16="http://schemas.microsoft.com/office/drawing/2014/main" id="{A1A2B5A1-1968-46B4-8957-A213026D79F5}"/>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Synthetic은 해시 대신 접두 기호처럼 학습 가능한 조건을 만든 과제다.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반전 조건은 목표 12 bits의 0과 1을 뒤집는다. 적격성 검사는 정상·반전 요청에</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맞춰 유효한 입력을 생성하는지 확인한다.</a:t>
            </a:r>
          </a:p>
        </p:txBody>
      </p:sp>
      <p:sp>
        <p:nvSpPr>
          <p:cNvPr id="10" name="">
            <a:extLst xmlns:a="http://schemas.openxmlformats.org/drawingml/2006/main">
              <a:ext uri="{FF2B5EF4-FFF2-40B4-BE49-F238E27FC236}">
                <a16:creationId xmlns:a16="http://schemas.microsoft.com/office/drawing/2014/main" id="{B9B8FA28-433B-4EDA-BA9F-A35012B857B5}"/>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양성 대조 / 재현</a:t>
            </a:r>
          </a:p>
        </p:txBody>
      </p:sp>
      <p:sp>
        <p:nvSpPr>
          <p:cNvPr id="11" name="">
            <a:extLst xmlns:a="http://schemas.openxmlformats.org/drawingml/2006/main">
              <a:ext uri="{FF2B5EF4-FFF2-40B4-BE49-F238E27FC236}">
                <a16:creationId xmlns:a16="http://schemas.microsoft.com/office/drawing/2014/main" id="{81B48FA8-B8F0-4CB6-A7B7-1530C77F28F8}"/>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양성 대조는 구조를 이용할 수 있는 쉬운 과제로 실험 장치를 확인하는 절차다.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여기서는 r=4를 썼다. 재현은 주 실험의 양성이 별도 위치 W4에서도 나타나는지 확인한다.</a:t>
            </a:r>
          </a:p>
        </p:txBody>
      </p:sp>
      <p:sp>
        <p:nvSpPr>
          <p:cNvPr id="12" name="">
            <a:extLst xmlns:a="http://schemas.openxmlformats.org/drawingml/2006/main">
              <a:ext uri="{FF2B5EF4-FFF2-40B4-BE49-F238E27FC236}">
                <a16:creationId xmlns:a16="http://schemas.microsoft.com/office/drawing/2014/main" id="{C8B9B33D-2AD7-47A2-A71B-1343630FE698}"/>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학습 가능한 조건과 약한 해시의 성공은 정규 MD5에서의 성공을 직접 보장하지 않는다</a:t>
            </a:r>
          </a:p>
        </p:txBody>
      </p:sp>
    </p:spTree>
    <p:extLst>
      <p:ext uri="{BB962C8B-B14F-4D97-AF65-F5344CB8AC3E}">
        <p14:creationId xmlns:p14="http://schemas.microsoft.com/office/powerpoint/2010/main" val="32437737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5E3907-B7A6-40C4-BD9C-4EC51BB68FC6}"/>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조건 사용 적격성은 5개 모두 통과</a:t>
            </a:r>
          </a:p>
        </p:txBody>
      </p:sp>
      <p:sp>
        <p:nvSpPr>
          <p:cNvPr id="2" name="">
            <a:extLst xmlns:a="http://schemas.openxmlformats.org/drawingml/2006/main">
              <a:ext uri="{FF2B5EF4-FFF2-40B4-BE49-F238E27FC236}">
                <a16:creationId xmlns:a16="http://schemas.microsoft.com/office/drawing/2014/main" id="{2992FCE3-1FE6-4F16-A9A1-3F91B1E713FC}"/>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23</a:t>
            </a:r>
          </a:p>
        </p:txBody>
      </p:sp>
      <p:sp>
        <p:nvSpPr>
          <p:cNvPr id="3" name="">
            <a:extLst xmlns:a="http://schemas.openxmlformats.org/drawingml/2006/main">
              <a:ext uri="{FF2B5EF4-FFF2-40B4-BE49-F238E27FC236}">
                <a16:creationId xmlns:a16="http://schemas.microsoft.com/office/drawing/2014/main" id="{DAA9FDAE-A864-486C-A32C-BDF75BD1F497}"/>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A.json</a:t>
            </a:r>
          </a:p>
        </p:txBody>
      </p:sp>
      <p:graphicFrame>
        <p:nvGraphicFramePr>
          <p:cNvPr id="10" name=""/>
          <p:cNvGraphicFramePr/>
          <p:nvPr/>
        </p:nvGraphicFramePr>
        <p:xfrm>
          <a:off xmlns:a="http://schemas.openxmlformats.org/drawingml/2006/main" x="609600" y="1657350"/>
          <a:ext xmlns:a="http://schemas.openxmlformats.org/drawingml/2006/main" cx="10972800" cy="3524250"/>
        </p:xfrm>
        <a:graphic xmlns:a="http://schemas.openxmlformats.org/drawingml/2006/main">
          <a:graphicData uri="http://schemas.openxmlformats.org/drawingml/2006/table">
            <a:tbl>
              <a:tblPr firstRow="0" bandRow="0"/>
              <a:tblGrid>
                <a:gridCol w="2571750"/>
                <a:gridCol w="2343150"/>
                <a:gridCol w="2343150"/>
                <a:gridCol w="3714750"/>
              </a:tblGrid>
              <a:tr h="587375">
                <a:tc>
                  <a:txBody>
                    <a:bodyPr wrap="square" lIns="133350" tIns="76200" rIns="133350" bIns="76200">
                      <a:noAutofit/>
                    </a:bodyPr>
                    <a:lstStyle/>
                    <a:p>
                      <a:pPr algn="l"/>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정상 조건</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반전 조건</a:t>
                      </a:r>
                    </a:p>
                  </a:txBody>
                  <a:tcPr marL="91440" marR="91440" marT="45720" marB="45720" anchor="ctr">
                    <a:solidFill>
                      <a:srgbClr val="142C43"/>
                    </a:solidFill>
                  </a:tcPr>
                </a:tc>
                <a:tc>
                  <a:txBody>
                    <a:bodyPr wrap="square" lIns="133350" tIns="76200" rIns="133350" bIns="76200">
                      <a:noAutofit/>
                    </a:bodyPr>
                    <a:lstStyle/>
                    <a:p>
                      <a:pPr algn="l"/>
                      <a:r>
                        <a:rPr sz="1875" b="1" lang="ko-KR" altLang="en-US">
                          <a:solidFill>
                            <a:srgbClr val="FFFFFF"/>
                          </a:solidFill>
                          <a:latin typeface="Malgun Gothic"/>
                          <a:ea typeface="Malgun Gothic"/>
                          <a:cs typeface="Malgun Gothic"/>
                        </a:rPr>
                        <a:t>반복 결과</a:t>
                      </a:r>
                    </a:p>
                  </a:txBody>
                  <a:tcPr marL="91440" marR="91440" marT="45720" marB="45720" anchor="ctr">
                    <a:solidFill>
                      <a:srgbClr val="142C43"/>
                    </a:solidFill>
                  </a:tcPr>
                </a:tc>
              </a:tr>
              <a:tr h="5873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P-G-BGV</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seed 3개 모두 통과</a:t>
                      </a:r>
                    </a:p>
                  </a:txBody>
                  <a:tcPr marL="91440" marR="91440" marT="45720" marB="45720" anchor="ctr">
                    <a:solidFill>
                      <a:srgbClr val="F2F5F7"/>
                    </a:solidFill>
                  </a:tcPr>
                </a:tc>
              </a:tr>
              <a:tr h="5873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FFFFF"/>
                    </a:solidFill>
                  </a:tcPr>
                </a:tc>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seed 3개 모두 통과</a:t>
                      </a:r>
                    </a:p>
                  </a:txBody>
                  <a:tcPr marL="91440" marR="91440" marT="45720" marB="45720" anchor="ctr">
                    <a:solidFill>
                      <a:srgbClr val="FFFFFF"/>
                    </a:solidFill>
                  </a:tcPr>
                </a:tc>
              </a:tr>
              <a:tr h="5873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seed 3개 모두 통과</a:t>
                      </a:r>
                    </a:p>
                  </a:txBody>
                  <a:tcPr marL="91440" marR="91440" marT="45720" marB="45720" anchor="ctr">
                    <a:solidFill>
                      <a:srgbClr val="F2F5F7"/>
                    </a:solidFill>
                  </a:tcPr>
                </a:tc>
              </a:tr>
              <a:tr h="5873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FFFFF"/>
                    </a:solidFill>
                  </a:tcPr>
                </a:tc>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seed 3개 모두 통과</a:t>
                      </a:r>
                    </a:p>
                  </a:txBody>
                  <a:tcPr marL="91440" marR="91440" marT="45720" marB="45720" anchor="ctr">
                    <a:solidFill>
                      <a:srgbClr val="FFFFFF"/>
                    </a:solidFill>
                  </a:tcPr>
                </a:tc>
              </a:tr>
              <a:tr h="5873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512 / 512</a:t>
                      </a:r>
                    </a:p>
                  </a:txBody>
                  <a:tcPr marL="91440" marR="91440" marT="45720" marB="45720" anchor="ctr">
                    <a:solidFill>
                      <a:srgbClr val="F2F5F7"/>
                    </a:solidFill>
                  </a:tcPr>
                </a:tc>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seed 3개 모두 통과</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BF3A804F-654A-44F4-8D33-43329C680A83}"/>
              </a:ext>
            </a:extLst>
          </p:cNvPr>
          <p:cNvSpPr>
            <a:spLocks xmlns:a="http://schemas.openxmlformats.org/drawingml/2006/main" noGrp="1"/>
          </p:cNvSpPr>
          <p:nvPr/>
        </p:nvSpPr>
        <p:spPr>
          <a:xfrm xmlns:a="http://schemas.openxmlformats.org/drawingml/2006/main">
            <a:off x="609600" y="55435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학습 가능한 접두 기호 조건에서 정상·반전 요청 모두 만족</a:t>
            </a:r>
          </a:p>
        </p:txBody>
      </p:sp>
      <p:sp>
        <p:nvSpPr>
          <p:cNvPr id="6" name="">
            <a:extLst xmlns:a="http://schemas.openxmlformats.org/drawingml/2006/main">
              <a:ext uri="{FF2B5EF4-FFF2-40B4-BE49-F238E27FC236}">
                <a16:creationId xmlns:a16="http://schemas.microsoft.com/office/drawing/2014/main" id="{17A5D337-1CC4-4C4A-9233-31ECDD6ADB42}"/>
              </a:ext>
            </a:extLst>
          </p:cNvPr>
          <p:cNvSpPr>
            <a:spLocks xmlns:a="http://schemas.openxmlformats.org/drawingml/2006/main" noGrp="1"/>
          </p:cNvSpPr>
          <p:nvPr/>
        </p:nvSpPr>
        <p:spPr>
          <a:xfrm xmlns:a="http://schemas.openxmlformats.org/drawingml/2006/main">
            <a:off x="609600" y="5972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lang="ko-KR" altLang="en-US">
                <a:solidFill>
                  <a:srgbClr val="5A6B78"/>
                </a:solidFill>
                <a:latin typeface="Malgun Gothic"/>
                <a:ea typeface="Malgun Gothic"/>
                <a:cs typeface="Malgun Gothic"/>
              </a:defRPr>
            </a:pPr>
            <a:r>
              <a:rPr sz="1800" b="0" lang="ko-KR" altLang="en-US">
                <a:solidFill>
                  <a:srgbClr val="5A6B78"/>
                </a:solidFill>
                <a:latin typeface="Malgun Gothic"/>
                <a:ea typeface="Malgun Gothic"/>
                <a:cs typeface="Malgun Gothic"/>
              </a:rPr>
              <a:t>총 15회 학습이 보완 학습 없이 적격성 검사를 통과</a:t>
            </a:r>
          </a:p>
        </p:txBody>
      </p:sp>
    </p:spTree>
    <p:extLst>
      <p:ext uri="{BB962C8B-B14F-4D97-AF65-F5344CB8AC3E}">
        <p14:creationId xmlns:p14="http://schemas.microsoft.com/office/powerpoint/2010/main" val="32816344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8B7365-C82E-4F6A-81AE-CCC2B8FC5BE9}"/>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정규 MD5 성공률은 대조군과 비슷한 수준</a:t>
            </a:r>
          </a:p>
        </p:txBody>
      </p:sp>
      <p:sp>
        <p:nvSpPr>
          <p:cNvPr id="2" name="">
            <a:extLst xmlns:a="http://schemas.openxmlformats.org/drawingml/2006/main">
              <a:ext uri="{FF2B5EF4-FFF2-40B4-BE49-F238E27FC236}">
                <a16:creationId xmlns:a16="http://schemas.microsoft.com/office/drawing/2014/main" id="{DC917859-F200-4122-9FA1-93B16E27DA2A}"/>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24</a:t>
            </a:r>
          </a:p>
        </p:txBody>
      </p:sp>
      <p:sp>
        <p:nvSpPr>
          <p:cNvPr id="3" name="">
            <a:extLst xmlns:a="http://schemas.openxmlformats.org/drawingml/2006/main">
              <a:ext uri="{FF2B5EF4-FFF2-40B4-BE49-F238E27FC236}">
                <a16:creationId xmlns:a16="http://schemas.microsoft.com/office/drawing/2014/main" id="{05E24401-453C-4846-8C3A-E6D1634566EB}"/>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decision.json의 seed_estimates</a:t>
            </a:r>
          </a:p>
        </p:txBody>
      </p:sp>
      <p:graphicFrame>
        <p:nvGraphicFramePr>
          <p:cNvPr id="9" name="Chart"/>
          <p:cNvGraphicFramePr/>
          <p:nvPr/>
        </p:nvGraphicFramePr>
        <p:xfrm>
          <a:off xmlns:a="http://schemas.openxmlformats.org/drawingml/2006/main" x="609600" y="1638300"/>
          <a:ext xmlns:a="http://schemas.openxmlformats.org/drawingml/2006/main" cx="10972800" cy="4048125"/>
        </p:xfrm>
        <a:graphic xmlns:a="http://schemas.openxmlformats.org/drawingml/2006/main">
          <a:graphicData uri="http://schemas.openxmlformats.org/drawingml/2006/chart">
            <c:chart xmlns:r="http://schemas.openxmlformats.org/officeDocument/2006/relationships" xmlns:c="http://schemas.openxmlformats.org/drawingml/2006/chart" r:id="Rd4cf8b6fde324a0a"/>
          </a:graphicData>
        </a:graphic>
      </p:graphicFrame>
      <p:sp>
        <p:nvSpPr>
          <p:cNvPr id="5" name="">
            <a:extLst xmlns:a="http://schemas.openxmlformats.org/drawingml/2006/main">
              <a:ext uri="{FF2B5EF4-FFF2-40B4-BE49-F238E27FC236}">
                <a16:creationId xmlns:a16="http://schemas.microsoft.com/office/drawing/2014/main" id="{6FA0D273-8061-429B-B5D5-6B7813A5A78B}"/>
              </a:ext>
            </a:extLst>
          </p:cNvPr>
          <p:cNvSpPr>
            <a:spLocks xmlns:a="http://schemas.openxmlformats.org/drawingml/2006/main" noGrp="1"/>
          </p:cNvSpPr>
          <p:nvPr/>
        </p:nvSpPr>
        <p:spPr>
          <a:xfrm xmlns:a="http://schemas.openxmlformats.org/drawingml/2006/main">
            <a:off x="609600" y="5915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5A6B78"/>
                </a:solidFill>
                <a:latin typeface="Malgun Gothic"/>
                <a:ea typeface="Malgun Gothic"/>
                <a:cs typeface="Malgun Gothic"/>
              </a:defRPr>
            </a:pPr>
            <a:r>
              <a:rPr sz="1875" b="0" lang="ko-KR" altLang="en-US">
                <a:solidFill>
                  <a:srgbClr val="5A6B78"/>
                </a:solidFill>
                <a:latin typeface="Malgun Gothic"/>
                <a:ea typeface="Malgun Gothic"/>
                <a:cs typeface="Malgun Gothic"/>
              </a:rPr>
              <a:t>Success@100, 3개 seed 평균(반올림). 균등 무작위 참고값 2.412%</a:t>
            </a:r>
          </a:p>
        </p:txBody>
      </p:sp>
    </p:spTree>
    <p:extLst>
      <p:ext uri="{BB962C8B-B14F-4D97-AF65-F5344CB8AC3E}">
        <p14:creationId xmlns:p14="http://schemas.microsoft.com/office/powerpoint/2010/main" val="132949417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6DB72B-FCB9-498B-92EC-B135D845F679}"/>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모든 개선 효과의 상한이 +0.5%p 미만</a:t>
            </a:r>
          </a:p>
        </p:txBody>
      </p:sp>
      <p:sp>
        <p:nvSpPr>
          <p:cNvPr id="2" name="">
            <a:extLst xmlns:a="http://schemas.openxmlformats.org/drawingml/2006/main">
              <a:ext uri="{FF2B5EF4-FFF2-40B4-BE49-F238E27FC236}">
                <a16:creationId xmlns:a16="http://schemas.microsoft.com/office/drawing/2014/main" id="{6D5AFCA1-1CA7-4448-B0AF-6201F3BED609}"/>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25</a:t>
            </a:r>
          </a:p>
        </p:txBody>
      </p:sp>
      <p:sp>
        <p:nvSpPr>
          <p:cNvPr id="3" name="">
            <a:extLst xmlns:a="http://schemas.openxmlformats.org/drawingml/2006/main">
              <a:ext uri="{FF2B5EF4-FFF2-40B4-BE49-F238E27FC236}">
                <a16:creationId xmlns:a16="http://schemas.microsoft.com/office/drawing/2014/main" id="{8168E7F2-BAAB-43C7-A46F-BE22E20DCADA}"/>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decision.json의 intervals, C.json</a:t>
            </a:r>
          </a:p>
        </p:txBody>
      </p:sp>
      <p:graphicFrame>
        <p:nvGraphicFramePr>
          <p:cNvPr id="9" name=""/>
          <p:cNvGraphicFramePr/>
          <p:nvPr/>
        </p:nvGraphicFramePr>
        <p:xfrm>
          <a:off xmlns:a="http://schemas.openxmlformats.org/drawingml/2006/main" x="609600" y="1438275"/>
          <a:ext xmlns:a="http://schemas.openxmlformats.org/drawingml/2006/main" cx="10972800" cy="4133850"/>
        </p:xfrm>
        <a:graphic xmlns:a="http://schemas.openxmlformats.org/drawingml/2006/main">
          <a:graphicData uri="http://schemas.openxmlformats.org/drawingml/2006/table">
            <a:tbl>
              <a:tblPr firstRow="0" bandRow="0"/>
              <a:tblGrid>
                <a:gridCol w="2590800"/>
                <a:gridCol w="4191000"/>
                <a:gridCol w="4191000"/>
              </a:tblGrid>
              <a:tr h="514350">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33350" bIns="76200">
                      <a:noAutofit/>
                    </a:bodyPr>
                    <a:lstStyle/>
                    <a:p>
                      <a:pPr algn="ctr"/>
                      <a:r>
                        <a:rPr sz="1800" b="1" lang="ko-KR" altLang="en-US">
                          <a:solidFill>
                            <a:srgbClr val="FFFFFF"/>
                          </a:solidFill>
                          <a:latin typeface="Malgun Gothic"/>
                          <a:ea typeface="Malgun Gothic"/>
                          <a:cs typeface="Malgun Gothic"/>
                        </a:rPr>
                        <a:t>Main - Random</a:t>
                      </a:r>
                    </a:p>
                  </a:txBody>
                  <a:tcPr marL="91440" marR="91440" marT="45720" marB="45720" anchor="ctr">
                    <a:solidFill>
                      <a:srgbClr val="142C43"/>
                    </a:solidFill>
                  </a:tcPr>
                </a:tc>
                <a:tc>
                  <a:txBody>
                    <a:bodyPr wrap="square" lIns="133350" tIns="76200" rIns="133350" bIns="76200">
                      <a:noAutofit/>
                    </a:bodyPr>
                    <a:lstStyle/>
                    <a:p>
                      <a:pPr algn="ctr"/>
                      <a:r>
                        <a:rPr sz="1800" b="1" lang="ko-KR" altLang="en-US">
                          <a:solidFill>
                            <a:srgbClr val="FFFFFF"/>
                          </a:solidFill>
                          <a:latin typeface="Malgun Gothic"/>
                          <a:ea typeface="Malgun Gothic"/>
                          <a:cs typeface="Malgun Gothic"/>
                        </a:rPr>
                        <a:t>Main - Shuffled</a:t>
                      </a:r>
                    </a:p>
                  </a:txBody>
                  <a:tcPr marL="91440" marR="91440" marT="45720" marB="45720" anchor="ctr">
                    <a:solidFill>
                      <a:srgbClr val="142C43"/>
                    </a:solidFill>
                  </a:tcPr>
                </a:tc>
              </a:tr>
              <a:tr h="72390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P-G-BGV</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-0.185</a:t>
                      </a:r>
                    </a:p>
                    <a:p>
                      <a:pPr algn="ctr"/>
                      <a:r>
                        <a:rPr sz="1875" b="0" lang="ko-KR" altLang="en-US">
                          <a:solidFill>
                            <a:srgbClr val="203648"/>
                          </a:solidFill>
                          <a:latin typeface="Malgun Gothic"/>
                          <a:ea typeface="Malgun Gothic"/>
                          <a:cs typeface="Malgun Gothic"/>
                        </a:rPr>
                        <a:t>[-0.487, +0.117]</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-0.092</a:t>
                      </a:r>
                    </a:p>
                    <a:p>
                      <a:pPr algn="ctr"/>
                      <a:r>
                        <a:rPr sz="1875" b="0" lang="ko-KR" altLang="en-US">
                          <a:solidFill>
                            <a:srgbClr val="203648"/>
                          </a:solidFill>
                          <a:latin typeface="Malgun Gothic"/>
                          <a:ea typeface="Malgun Gothic"/>
                          <a:cs typeface="Malgun Gothic"/>
                        </a:rPr>
                        <a:t>[-0.389, +0.206]</a:t>
                      </a:r>
                    </a:p>
                  </a:txBody>
                  <a:tcPr marL="91440" marR="91440" marT="45720" marB="45720" anchor="ctr">
                    <a:solidFill>
                      <a:srgbClr val="F2F5F7"/>
                    </a:solidFill>
                  </a:tcPr>
                </a:tc>
              </a:tr>
              <a:tr h="72390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-0.004</a:t>
                      </a:r>
                    </a:p>
                    <a:p>
                      <a:pPr algn="ctr"/>
                      <a:r>
                        <a:rPr sz="1875" b="0" lang="ko-KR" altLang="en-US">
                          <a:solidFill>
                            <a:srgbClr val="203648"/>
                          </a:solidFill>
                          <a:latin typeface="Malgun Gothic"/>
                          <a:ea typeface="Malgun Gothic"/>
                          <a:cs typeface="Malgun Gothic"/>
                        </a:rPr>
                        <a:t>[-0.313, +0.305]</a:t>
                      </a:r>
                    </a:p>
                  </a:txBody>
                  <a:tcPr marL="91440" marR="91440" marT="45720" marB="45720" anchor="ctr">
                    <a:solidFill>
                      <a:srgbClr val="FFFFFF"/>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+0.059</a:t>
                      </a:r>
                    </a:p>
                    <a:p>
                      <a:pPr algn="ctr"/>
                      <a:r>
                        <a:rPr sz="1875" b="0" lang="ko-KR" altLang="en-US">
                          <a:solidFill>
                            <a:srgbClr val="203648"/>
                          </a:solidFill>
                          <a:latin typeface="Malgun Gothic"/>
                          <a:ea typeface="Malgun Gothic"/>
                          <a:cs typeface="Malgun Gothic"/>
                        </a:rPr>
                        <a:t>[-0.246, +0.364]</a:t>
                      </a:r>
                    </a:p>
                  </a:txBody>
                  <a:tcPr marL="91440" marR="91440" marT="45720" marB="45720" anchor="ctr">
                    <a:solidFill>
                      <a:srgbClr val="FFFFFF"/>
                    </a:solidFill>
                  </a:tcPr>
                </a:tc>
              </a:tr>
              <a:tr h="72390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P-DISC</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+0.057</a:t>
                      </a:r>
                    </a:p>
                    <a:p>
                      <a:pPr algn="ctr"/>
                      <a:r>
                        <a:rPr sz="1875" b="0" lang="ko-KR" altLang="en-US">
                          <a:solidFill>
                            <a:srgbClr val="203648"/>
                          </a:solidFill>
                          <a:latin typeface="Malgun Gothic"/>
                          <a:ea typeface="Malgun Gothic"/>
                          <a:cs typeface="Malgun Gothic"/>
                        </a:rPr>
                        <a:t>[-0.252, +0.366]</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+0.069</a:t>
                      </a:r>
                    </a:p>
                    <a:p>
                      <a:pPr algn="ctr"/>
                      <a:r>
                        <a:rPr sz="1875" b="0" lang="ko-KR" altLang="en-US">
                          <a:solidFill>
                            <a:srgbClr val="203648"/>
                          </a:solidFill>
                          <a:latin typeface="Malgun Gothic"/>
                          <a:ea typeface="Malgun Gothic"/>
                          <a:cs typeface="Malgun Gothic"/>
                        </a:rPr>
                        <a:t>[-0.239, +0.378]</a:t>
                      </a:r>
                    </a:p>
                  </a:txBody>
                  <a:tcPr marL="91440" marR="91440" marT="45720" marB="45720" anchor="ctr">
                    <a:solidFill>
                      <a:srgbClr val="F2F5F7"/>
                    </a:solidFill>
                  </a:tcPr>
                </a:tc>
              </a:tr>
              <a:tr h="72390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-0.039</a:t>
                      </a:r>
                    </a:p>
                    <a:p>
                      <a:pPr algn="ctr"/>
                      <a:r>
                        <a:rPr sz="1875" b="0" lang="ko-KR" altLang="en-US">
                          <a:solidFill>
                            <a:srgbClr val="203648"/>
                          </a:solidFill>
                          <a:latin typeface="Malgun Gothic"/>
                          <a:ea typeface="Malgun Gothic"/>
                          <a:cs typeface="Malgun Gothic"/>
                        </a:rPr>
                        <a:t>[-0.343, +0.265]</a:t>
                      </a:r>
                    </a:p>
                  </a:txBody>
                  <a:tcPr marL="91440" marR="91440" marT="45720" marB="45720" anchor="ctr">
                    <a:solidFill>
                      <a:srgbClr val="FFFFFF"/>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-0.020</a:t>
                      </a:r>
                    </a:p>
                    <a:p>
                      <a:pPr algn="ctr"/>
                      <a:r>
                        <a:rPr sz="1875" b="0" lang="ko-KR" altLang="en-US">
                          <a:solidFill>
                            <a:srgbClr val="203648"/>
                          </a:solidFill>
                          <a:latin typeface="Malgun Gothic"/>
                          <a:ea typeface="Malgun Gothic"/>
                          <a:cs typeface="Malgun Gothic"/>
                        </a:rPr>
                        <a:t>[-0.325, +0.285]</a:t>
                      </a:r>
                    </a:p>
                  </a:txBody>
                  <a:tcPr marL="91440" marR="91440" marT="45720" marB="45720" anchor="ctr">
                    <a:solidFill>
                      <a:srgbClr val="FFFFFF"/>
                    </a:solidFill>
                  </a:tcPr>
                </a:tc>
              </a:tr>
              <a:tr h="72390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R-DISC</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-0.035</a:t>
                      </a:r>
                    </a:p>
                    <a:p>
                      <a:pPr algn="ctr"/>
                      <a:r>
                        <a:rPr sz="1875" b="0" lang="ko-KR" altLang="en-US">
                          <a:solidFill>
                            <a:srgbClr val="203648"/>
                          </a:solidFill>
                          <a:latin typeface="Malgun Gothic"/>
                          <a:ea typeface="Malgun Gothic"/>
                          <a:cs typeface="Malgun Gothic"/>
                        </a:rPr>
                        <a:t>[-0.338, +0.269]</a:t>
                      </a:r>
                    </a:p>
                  </a:txBody>
                  <a:tcPr marL="91440" marR="91440" marT="45720" marB="45720" anchor="ctr">
                    <a:solidFill>
                      <a:srgbClr val="F2F5F7"/>
                    </a:solidFill>
                  </a:tcPr>
                </a:tc>
                <a:tc>
                  <a:txBody>
                    <a:bodyPr wrap="square" lIns="133350" tIns="76200" rIns="133350" bIns="76200">
                      <a:noAutofit/>
                    </a:bodyPr>
                    <a:lstStyle/>
                    <a:p>
                      <a:pPr algn="ctr"/>
                      <a:r>
                        <a:rPr sz="1875" b="0" lang="ko-KR" altLang="en-US">
                          <a:solidFill>
                            <a:srgbClr val="203648"/>
                          </a:solidFill>
                          <a:latin typeface="Malgun Gothic"/>
                          <a:ea typeface="Malgun Gothic"/>
                          <a:cs typeface="Malgun Gothic"/>
                        </a:rPr>
                        <a:t>0.000</a:t>
                      </a:r>
                    </a:p>
                    <a:p>
                      <a:pPr algn="ctr"/>
                      <a:r>
                        <a:rPr sz="1875" b="0" lang="ko-KR" altLang="en-US">
                          <a:solidFill>
                            <a:srgbClr val="203648"/>
                          </a:solidFill>
                          <a:latin typeface="Malgun Gothic"/>
                          <a:ea typeface="Malgun Gothic"/>
                          <a:cs typeface="Malgun Gothic"/>
                        </a:rPr>
                        <a:t>[-0.305, +0.305]</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61464FAC-7213-426F-B9F9-7E2A606ECD25}"/>
              </a:ext>
            </a:extLst>
          </p:cNvPr>
          <p:cNvSpPr>
            <a:spLocks xmlns:a="http://schemas.openxmlformats.org/drawingml/2006/main" noGrp="1"/>
          </p:cNvSpPr>
          <p:nvPr/>
        </p:nvSpPr>
        <p:spPr>
          <a:xfrm xmlns:a="http://schemas.openxmlformats.org/drawingml/2006/main">
            <a:off x="609600" y="58769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효과 추정값 [동시 95% 구간], 단위 %p. 최대 상한은 +0.378%p</a:t>
            </a:r>
          </a:p>
        </p:txBody>
      </p:sp>
    </p:spTree>
    <p:extLst>
      <p:ext uri="{BB962C8B-B14F-4D97-AF65-F5344CB8AC3E}">
        <p14:creationId xmlns:p14="http://schemas.microsoft.com/office/powerpoint/2010/main" val="177204029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37FA0A-6580-4EEC-8684-6EAECDFD4C62}"/>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두 번째 분석에서 모든 파이프라인의 판정 완료</a:t>
            </a:r>
          </a:p>
        </p:txBody>
      </p:sp>
      <p:sp>
        <p:nvSpPr>
          <p:cNvPr id="2" name="">
            <a:extLst xmlns:a="http://schemas.openxmlformats.org/drawingml/2006/main">
              <a:ext uri="{FF2B5EF4-FFF2-40B4-BE49-F238E27FC236}">
                <a16:creationId xmlns:a16="http://schemas.microsoft.com/office/drawing/2014/main" id="{3F2209D5-1145-4946-8101-E9CF5E647797}"/>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26</a:t>
            </a:r>
          </a:p>
        </p:txBody>
      </p:sp>
      <p:sp>
        <p:nvSpPr>
          <p:cNvPr id="3" name="">
            <a:extLst xmlns:a="http://schemas.openxmlformats.org/drawingml/2006/main">
              <a:ext uri="{FF2B5EF4-FFF2-40B4-BE49-F238E27FC236}">
                <a16:creationId xmlns:a16="http://schemas.microsoft.com/office/drawing/2014/main" id="{DC4A7C2B-0C54-4C8A-BF05-0A4B68166601}"/>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C.json의 looks, decision.json</a:t>
            </a:r>
          </a:p>
        </p:txBody>
      </p:sp>
      <p:graphicFrame>
        <p:nvGraphicFramePr>
          <p:cNvPr id="10" name=""/>
          <p:cNvGraphicFramePr/>
          <p:nvPr/>
        </p:nvGraphicFramePr>
        <p:xfrm>
          <a:off xmlns:a="http://schemas.openxmlformats.org/drawingml/2006/main" x="609600" y="1733550"/>
          <a:ext xmlns:a="http://schemas.openxmlformats.org/drawingml/2006/main" cx="10972800" cy="2371725"/>
        </p:xfrm>
        <a:graphic xmlns:a="http://schemas.openxmlformats.org/drawingml/2006/main">
          <a:graphicData uri="http://schemas.openxmlformats.org/drawingml/2006/table">
            <a:tbl>
              <a:tblPr firstRow="0" bandRow="0"/>
              <a:tblGrid>
                <a:gridCol w="2152650"/>
                <a:gridCol w="2686050"/>
                <a:gridCol w="1847850"/>
                <a:gridCol w="1847850"/>
                <a:gridCol w="2438400"/>
              </a:tblGrid>
              <a:tr h="790575">
                <a:tc>
                  <a:txBody>
                    <a:bodyPr wrap="square" lIns="133350" tIns="76200" rIns="133350" bIns="76200">
                      <a:noAutofit/>
                    </a:bodyPr>
                    <a:lstStyle/>
                    <a:p>
                      <a:pPr algn="l"/>
                      <a:r>
                        <a:rPr sz="1875" b="1" lang="ko-KR" altLang="en-US">
                          <a:solidFill>
                            <a:srgbClr val="FFFFFF"/>
                          </a:solidFill>
                          <a:latin typeface="Malgun Gothic"/>
                          <a:ea typeface="Malgun Gothic"/>
                          <a:cs typeface="Malgun Gothic"/>
                        </a:rPr>
                        <a:t>분석 시점</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누적 trials / seed</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한계 기각</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미결</a:t>
                      </a:r>
                    </a:p>
                  </a:txBody>
                  <a:tcPr marL="91440" marR="91440" marT="45720" marB="45720" anchor="ctr">
                    <a:solidFill>
                      <a:srgbClr val="142C43"/>
                    </a:solidFill>
                  </a:tcPr>
                </a:tc>
                <a:tc>
                  <a:txBody>
                    <a:bodyPr wrap="square" lIns="133350" tIns="76200" rIns="133350" bIns="76200">
                      <a:noAutofit/>
                    </a:bodyPr>
                    <a:lstStyle/>
                    <a:p>
                      <a:pPr algn="l"/>
                      <a:r>
                        <a:rPr sz="1875" b="1" lang="ko-KR" altLang="en-US">
                          <a:solidFill>
                            <a:srgbClr val="FFFFFF"/>
                          </a:solidFill>
                          <a:latin typeface="Malgun Gothic"/>
                          <a:ea typeface="Malgun Gothic"/>
                          <a:cs typeface="Malgun Gothic"/>
                        </a:rPr>
                        <a:t>진행</a:t>
                      </a:r>
                    </a:p>
                  </a:txBody>
                  <a:tcPr marL="91440" marR="91440" marT="45720" marB="45720" anchor="ctr">
                    <a:solidFill>
                      <a:srgbClr val="142C43"/>
                    </a:solidFill>
                  </a:tcPr>
                </a:tc>
              </a:tr>
              <a:tr h="7905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1차 분석</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8,192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2 / 5</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3 / 5</a:t>
                      </a:r>
                    </a:p>
                  </a:txBody>
                  <a:tcPr marL="91440" marR="91440" marT="45720" marB="45720" anchor="ctr">
                    <a:solidFill>
                      <a:srgbClr val="F2F5F7"/>
                    </a:solidFill>
                  </a:tcPr>
                </a:tc>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계속</a:t>
                      </a:r>
                    </a:p>
                  </a:txBody>
                  <a:tcPr marL="91440" marR="91440" marT="45720" marB="45720" anchor="ctr">
                    <a:solidFill>
                      <a:srgbClr val="F2F5F7"/>
                    </a:solidFill>
                  </a:tcPr>
                </a:tc>
              </a:tr>
              <a:tr h="79057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2차 분석</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16,384</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5 / 5</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 / 5</a:t>
                      </a:r>
                    </a:p>
                  </a:txBody>
                  <a:tcPr marL="91440" marR="91440" marT="45720" marB="45720" anchor="ctr">
                    <a:solidFill>
                      <a:srgbClr val="FFFFFF"/>
                    </a:solidFill>
                  </a:tcPr>
                </a:tc>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공동 종료</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D3EEC72-297F-44A2-B390-DD00E1CEE152}"/>
              </a:ext>
            </a:extLst>
          </p:cNvPr>
          <p:cNvSpPr>
            <a:spLocks xmlns:a="http://schemas.openxmlformats.org/drawingml/2006/main" noGrp="1"/>
          </p:cNvSpPr>
          <p:nvPr/>
        </p:nvSpPr>
        <p:spPr>
          <a:xfrm xmlns:a="http://schemas.openxmlformats.org/drawingml/2006/main">
            <a:off x="609600" y="4591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lang="ko-KR" altLang="en-US">
                <a:solidFill>
                  <a:srgbClr val="087F82"/>
                </a:solidFill>
                <a:latin typeface="Malgun Gothic"/>
                <a:ea typeface="Malgun Gothic"/>
                <a:cs typeface="Malgun Gothic"/>
              </a:defRPr>
            </a:pPr>
            <a:r>
              <a:rPr sz="2625" b="1" lang="ko-KR" altLang="en-US">
                <a:solidFill>
                  <a:srgbClr val="087F82"/>
                </a:solidFill>
                <a:latin typeface="Malgun Gothic"/>
                <a:ea typeface="Malgun Gothic"/>
                <a:cs typeface="Malgun Gothic"/>
              </a:rPr>
              <a:t>주 실험 사용 시간 41.2시간 / 상한 80시간</a:t>
            </a:r>
          </a:p>
        </p:txBody>
      </p:sp>
      <p:sp>
        <p:nvSpPr>
          <p:cNvPr id="6" name="">
            <a:extLst xmlns:a="http://schemas.openxmlformats.org/drawingml/2006/main">
              <a:ext uri="{FF2B5EF4-FFF2-40B4-BE49-F238E27FC236}">
                <a16:creationId xmlns:a16="http://schemas.microsoft.com/office/drawing/2014/main" id="{F40D8E7A-0587-4C47-9DD6-3DF58EBD260E}"/>
              </a:ext>
            </a:extLst>
          </p:cNvPr>
          <p:cNvSpPr>
            <a:spLocks xmlns:a="http://schemas.openxmlformats.org/drawingml/2006/main" noGrp="1"/>
          </p:cNvSpPr>
          <p:nvPr/>
        </p:nvSpPr>
        <p:spPr>
          <a:xfrm xmlns:a="http://schemas.openxmlformats.org/drawingml/2006/main">
            <a:off x="609600" y="53625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등록된 효과 상한 기준을 충족해 종료했으며, 예산 소진 기록은 없다</a:t>
            </a:r>
          </a:p>
        </p:txBody>
      </p:sp>
    </p:spTree>
    <p:extLst>
      <p:ext uri="{BB962C8B-B14F-4D97-AF65-F5344CB8AC3E}">
        <p14:creationId xmlns:p14="http://schemas.microsoft.com/office/powerpoint/2010/main" val="105076919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C3CFEC-939D-41B2-AD55-90931E51BD5B}"/>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약화한 MD5에서는 5개 모두 생성 이득 확인</a:t>
            </a:r>
          </a:p>
        </p:txBody>
      </p:sp>
      <p:sp>
        <p:nvSpPr>
          <p:cNvPr id="2" name="">
            <a:extLst xmlns:a="http://schemas.openxmlformats.org/drawingml/2006/main">
              <a:ext uri="{FF2B5EF4-FFF2-40B4-BE49-F238E27FC236}">
                <a16:creationId xmlns:a16="http://schemas.microsoft.com/office/drawing/2014/main" id="{211ECC06-0064-44BF-91AD-4D18AFA8C99E}"/>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27</a:t>
            </a:r>
          </a:p>
        </p:txBody>
      </p:sp>
      <p:sp>
        <p:nvSpPr>
          <p:cNvPr id="3" name="">
            <a:extLst xmlns:a="http://schemas.openxmlformats.org/drawingml/2006/main">
              <a:ext uri="{FF2B5EF4-FFF2-40B4-BE49-F238E27FC236}">
                <a16:creationId xmlns:a16="http://schemas.microsoft.com/office/drawing/2014/main" id="{4F32538E-288C-42AB-B35E-C4E61AD32741}"/>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P.json, decision.json의 C2</a:t>
            </a:r>
          </a:p>
        </p:txBody>
      </p:sp>
      <p:graphicFrame>
        <p:nvGraphicFramePr>
          <p:cNvPr id="10" name=""/>
          <p:cNvGraphicFramePr/>
          <p:nvPr/>
        </p:nvGraphicFramePr>
        <p:xfrm>
          <a:off xmlns:a="http://schemas.openxmlformats.org/drawingml/2006/main" x="609600" y="1609725"/>
          <a:ext xmlns:a="http://schemas.openxmlformats.org/drawingml/2006/main" cx="10972800" cy="3543300"/>
        </p:xfrm>
        <a:graphic xmlns:a="http://schemas.openxmlformats.org/drawingml/2006/main">
          <a:graphicData uri="http://schemas.openxmlformats.org/drawingml/2006/table">
            <a:tbl>
              <a:tblPr firstRow="0" bandRow="0"/>
              <a:tblGrid>
                <a:gridCol w="3200400"/>
                <a:gridCol w="2590800"/>
                <a:gridCol w="2590800"/>
                <a:gridCol w="2590800"/>
              </a:tblGrid>
              <a:tr h="590550">
                <a:tc>
                  <a:txBody>
                    <a:bodyPr wrap="square" lIns="133350" tIns="76200" rIns="133350" bIns="76200">
                      <a:noAutofit/>
                    </a:bodyPr>
                    <a:lstStyle/>
                    <a:p>
                      <a:pPr algn="l"/>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Main</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Random</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MC</a:t>
                      </a:r>
                    </a:p>
                  </a:txBody>
                  <a:tcPr marL="91440" marR="91440" marT="45720" marB="45720" anchor="ctr">
                    <a:solidFill>
                      <a:srgbClr val="142C43"/>
                    </a:solidFill>
                  </a:tcPr>
                </a:tc>
              </a:tr>
              <a:tr h="590550">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P-G-BGV</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18.042%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2.173%</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0.171%</a:t>
                      </a:r>
                    </a:p>
                  </a:txBody>
                  <a:tcPr marL="91440" marR="91440" marT="45720" marB="45720" anchor="ctr">
                    <a:solidFill>
                      <a:srgbClr val="F2F5F7"/>
                    </a:solidFill>
                  </a:tcPr>
                </a:tc>
              </a:tr>
              <a:tr h="590550">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15.137%</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2.173%</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1.416%</a:t>
                      </a:r>
                    </a:p>
                  </a:txBody>
                  <a:tcPr marL="91440" marR="91440" marT="45720" marB="45720" anchor="ctr">
                    <a:solidFill>
                      <a:srgbClr val="FFFFFF"/>
                    </a:solidFill>
                  </a:tcPr>
                </a:tc>
              </a:tr>
              <a:tr h="590550">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18.042%</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2.173%</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0.171%</a:t>
                      </a:r>
                    </a:p>
                  </a:txBody>
                  <a:tcPr marL="91440" marR="91440" marT="45720" marB="45720" anchor="ctr">
                    <a:solidFill>
                      <a:srgbClr val="F2F5F7"/>
                    </a:solidFill>
                  </a:tcPr>
                </a:tc>
              </a:tr>
              <a:tr h="590550">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99.976%</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2.246%</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0.684%</a:t>
                      </a:r>
                    </a:p>
                  </a:txBody>
                  <a:tcPr marL="91440" marR="91440" marT="45720" marB="45720" anchor="ctr">
                    <a:solidFill>
                      <a:srgbClr val="FFFFFF"/>
                    </a:solidFill>
                  </a:tcPr>
                </a:tc>
              </a:tr>
              <a:tr h="590550">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100.000%</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2.246%</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0.146%</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921EE4CC-6108-495B-BE30-5A2EDBC297FE}"/>
              </a:ext>
            </a:extLst>
          </p:cNvPr>
          <p:cNvSpPr>
            <a:spLocks xmlns:a="http://schemas.openxmlformats.org/drawingml/2006/main" noGrp="1"/>
          </p:cNvSpPr>
          <p:nvPr/>
        </p:nvSpPr>
        <p:spPr>
          <a:xfrm xmlns:a="http://schemas.openxmlformats.org/drawingml/2006/main">
            <a:off x="609600" y="55340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Success@100. MD5 내부 계산을 4단계로 줄인 별도의 양성 대조</a:t>
            </a:r>
          </a:p>
        </p:txBody>
      </p:sp>
      <p:sp>
        <p:nvSpPr>
          <p:cNvPr id="6" name="">
            <a:extLst xmlns:a="http://schemas.openxmlformats.org/drawingml/2006/main">
              <a:ext uri="{FF2B5EF4-FFF2-40B4-BE49-F238E27FC236}">
                <a16:creationId xmlns:a16="http://schemas.microsoft.com/office/drawing/2014/main" id="{6B1C6204-A28B-4A9E-974E-95047EC5D1EB}"/>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lang="ko-KR" altLang="en-US">
                <a:solidFill>
                  <a:srgbClr val="5A6B78"/>
                </a:solidFill>
                <a:latin typeface="Malgun Gothic"/>
                <a:ea typeface="Malgun Gothic"/>
                <a:cs typeface="Malgun Gothic"/>
              </a:defRPr>
            </a:pPr>
            <a:r>
              <a:rPr sz="1800" b="0" lang="ko-KR" altLang="en-US">
                <a:solidFill>
                  <a:srgbClr val="5A6B78"/>
                </a:solidFill>
                <a:latin typeface="Malgun Gothic"/>
                <a:ea typeface="Malgun Gothic"/>
                <a:cs typeface="Malgun Gothic"/>
              </a:rPr>
              <a:t>4,096 trials, K=100, seed 0. 정규 MD5 결과로 일반화하지 않는다</a:t>
            </a:r>
          </a:p>
        </p:txBody>
      </p:sp>
    </p:spTree>
    <p:extLst>
      <p:ext uri="{BB962C8B-B14F-4D97-AF65-F5344CB8AC3E}">
        <p14:creationId xmlns:p14="http://schemas.microsoft.com/office/powerpoint/2010/main" val="103985838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A9629EA-BDCD-493B-AD57-D9D1ECD741B6}"/>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CLP와 z 점수의 해석</a:t>
            </a:r>
          </a:p>
        </p:txBody>
      </p:sp>
      <p:sp>
        <p:nvSpPr>
          <p:cNvPr id="2" name="">
            <a:extLst xmlns:a="http://schemas.openxmlformats.org/drawingml/2006/main">
              <a:ext uri="{FF2B5EF4-FFF2-40B4-BE49-F238E27FC236}">
                <a16:creationId xmlns:a16="http://schemas.microsoft.com/office/drawing/2014/main" id="{5316BCAB-D66E-4602-AB39-C3F08B597A05}"/>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28</a:t>
            </a:r>
          </a:p>
        </p:txBody>
      </p:sp>
      <p:sp>
        <p:nvSpPr>
          <p:cNvPr id="3" name="">
            <a:extLst xmlns:a="http://schemas.openxmlformats.org/drawingml/2006/main">
              <a:ext uri="{FF2B5EF4-FFF2-40B4-BE49-F238E27FC236}">
                <a16:creationId xmlns:a16="http://schemas.microsoft.com/office/drawing/2014/main" id="{B9CF283A-3F8F-4ECE-BBAD-FCABE47A8891}"/>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§10, 구현 명세 §9</a:t>
            </a:r>
          </a:p>
        </p:txBody>
      </p:sp>
      <p:sp>
        <p:nvSpPr>
          <p:cNvPr id="4" name="">
            <a:extLst xmlns:a="http://schemas.openxmlformats.org/drawingml/2006/main">
              <a:ext uri="{FF2B5EF4-FFF2-40B4-BE49-F238E27FC236}">
                <a16:creationId xmlns:a16="http://schemas.microsoft.com/office/drawing/2014/main" id="{FF041CB7-E142-4A32-93AB-C77D75636CBE}"/>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CLP</a:t>
            </a:r>
          </a:p>
        </p:txBody>
      </p:sp>
      <p:sp>
        <p:nvSpPr>
          <p:cNvPr id="5" name="">
            <a:extLst xmlns:a="http://schemas.openxmlformats.org/drawingml/2006/main">
              <a:ext uri="{FF2B5EF4-FFF2-40B4-BE49-F238E27FC236}">
                <a16:creationId xmlns:a16="http://schemas.microsoft.com/office/drawing/2014/main" id="{5CD38273-01CC-4662-9E46-5F654B60F3AD}"/>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Conditional Likelihood Probe는 올바른 입력·조건 쌍을 모델이 더 선호하는지</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살펴보는 진단이다. 조건을 서로 바꾼 쌍과 모델 점수를 비교한다.</a:t>
            </a:r>
          </a:p>
        </p:txBody>
      </p:sp>
      <p:sp>
        <p:nvSpPr>
          <p:cNvPr id="6" name="">
            <a:extLst xmlns:a="http://schemas.openxmlformats.org/drawingml/2006/main">
              <a:ext uri="{FF2B5EF4-FFF2-40B4-BE49-F238E27FC236}">
                <a16:creationId xmlns:a16="http://schemas.microsoft.com/office/drawing/2014/main" id="{4143A372-4789-4D72-8026-CF869C763937}"/>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모델 점수 s / 차이 D</a:t>
            </a:r>
          </a:p>
        </p:txBody>
      </p:sp>
      <p:sp>
        <p:nvSpPr>
          <p:cNvPr id="7" name="">
            <a:extLst xmlns:a="http://schemas.openxmlformats.org/drawingml/2006/main">
              <a:ext uri="{FF2B5EF4-FFF2-40B4-BE49-F238E27FC236}">
                <a16:creationId xmlns:a16="http://schemas.microsoft.com/office/drawing/2014/main" id="{3109D579-57CF-4E11-9841-9256FDB0E509}"/>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점수는 학습 손실의 음수로 구성한다. 두 입력의 올바른 대응 점수 합에서</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교환한 대응 점수 합을 뺀 D가 양수이면 올바른 조건을 선호한다.</a:t>
            </a:r>
          </a:p>
        </p:txBody>
      </p:sp>
      <p:sp>
        <p:nvSpPr>
          <p:cNvPr id="8" name="">
            <a:extLst xmlns:a="http://schemas.openxmlformats.org/drawingml/2006/main">
              <a:ext uri="{FF2B5EF4-FFF2-40B4-BE49-F238E27FC236}">
                <a16:creationId xmlns:a16="http://schemas.microsoft.com/office/drawing/2014/main" id="{568585FA-8BE2-4ABB-853B-6233EDEDD7AF}"/>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Draw / z</a:t>
            </a:r>
          </a:p>
        </p:txBody>
      </p:sp>
      <p:sp>
        <p:nvSpPr>
          <p:cNvPr id="9" name="">
            <a:extLst xmlns:a="http://schemas.openxmlformats.org/drawingml/2006/main">
              <a:ext uri="{FF2B5EF4-FFF2-40B4-BE49-F238E27FC236}">
                <a16:creationId xmlns:a16="http://schemas.microsoft.com/office/drawing/2014/main" id="{B9AF58A0-3FB0-447B-A05D-2731F09C37F8}"/>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점수 계산의 잡음 추출 8회를 평균해 변동을 줄인다. z=평균 D / SE이며,</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차이가 표준오차의 몇 배인지 나타낸다. z가 높을수록 조건 대응의 신호가 강하다.</a:t>
            </a:r>
          </a:p>
        </p:txBody>
      </p:sp>
      <p:sp>
        <p:nvSpPr>
          <p:cNvPr id="10" name="">
            <a:extLst xmlns:a="http://schemas.openxmlformats.org/drawingml/2006/main">
              <a:ext uri="{FF2B5EF4-FFF2-40B4-BE49-F238E27FC236}">
                <a16:creationId xmlns:a16="http://schemas.microsoft.com/office/drawing/2014/main" id="{D60525E1-D825-485E-8111-C8C6593C5B71}"/>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INFO / 보조 진단</a:t>
            </a:r>
          </a:p>
        </p:txBody>
      </p:sp>
      <p:sp>
        <p:nvSpPr>
          <p:cNvPr id="11" name="">
            <a:extLst xmlns:a="http://schemas.openxmlformats.org/drawingml/2006/main">
              <a:ext uri="{FF2B5EF4-FFF2-40B4-BE49-F238E27FC236}">
                <a16:creationId xmlns:a16="http://schemas.microsoft.com/office/drawing/2014/main" id="{723E2F97-132D-4C99-AB97-B5702CE0CD4A}"/>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정규 MD5와 r=4의 신호 기준은 z&gt;2.878이다. 규모 확대는 z&gt;3.2905다.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CLP는 생성 성공률이나 실제 해시 일치를 직접 측정하지 않으므로 주 판정을 바꾸지 않는다.</a:t>
            </a:r>
          </a:p>
        </p:txBody>
      </p:sp>
      <p:sp>
        <p:nvSpPr>
          <p:cNvPr id="12" name="">
            <a:extLst xmlns:a="http://schemas.openxmlformats.org/drawingml/2006/main">
              <a:ext uri="{FF2B5EF4-FFF2-40B4-BE49-F238E27FC236}">
                <a16:creationId xmlns:a16="http://schemas.microsoft.com/office/drawing/2014/main" id="{1FE81C49-9CE1-4BC6-9551-AA952C371D60}"/>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정규 MD5의 실측 z는 -0.36–0.32로, 등록된 조건 정보 신호 기준을 충족하지 못했다</a:t>
            </a:r>
          </a:p>
        </p:txBody>
      </p:sp>
    </p:spTree>
    <p:extLst>
      <p:ext uri="{BB962C8B-B14F-4D97-AF65-F5344CB8AC3E}">
        <p14:creationId xmlns:p14="http://schemas.microsoft.com/office/powerpoint/2010/main" val="59853830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A917CD-AEBE-49CB-ACAB-73F361239A1E}"/>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정규 MD5에서 조건 정보 신호를 확인하지 못함</a:t>
            </a:r>
          </a:p>
        </p:txBody>
      </p:sp>
      <p:sp>
        <p:nvSpPr>
          <p:cNvPr id="2" name="">
            <a:extLst xmlns:a="http://schemas.openxmlformats.org/drawingml/2006/main">
              <a:ext uri="{FF2B5EF4-FFF2-40B4-BE49-F238E27FC236}">
                <a16:creationId xmlns:a16="http://schemas.microsoft.com/office/drawing/2014/main" id="{B7C1FD92-4F89-4CC6-A7CC-2500A82E5D7C}"/>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29</a:t>
            </a:r>
          </a:p>
        </p:txBody>
      </p:sp>
      <p:sp>
        <p:nvSpPr>
          <p:cNvPr id="3" name="">
            <a:extLst xmlns:a="http://schemas.openxmlformats.org/drawingml/2006/main">
              <a:ext uri="{FF2B5EF4-FFF2-40B4-BE49-F238E27FC236}">
                <a16:creationId xmlns:a16="http://schemas.microsoft.com/office/drawing/2014/main" id="{0A058C38-48A4-427A-8B64-71BE9884CC12}"/>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decision.json의 CLP_64, C2.clp, contrasts</a:t>
            </a:r>
          </a:p>
        </p:txBody>
      </p:sp>
      <p:graphicFrame>
        <p:nvGraphicFramePr>
          <p:cNvPr id="10" name=""/>
          <p:cNvGraphicFramePr/>
          <p:nvPr/>
        </p:nvGraphicFramePr>
        <p:xfrm>
          <a:off xmlns:a="http://schemas.openxmlformats.org/drawingml/2006/main" x="609600" y="1581150"/>
          <a:ext xmlns:a="http://schemas.openxmlformats.org/drawingml/2006/main" cx="10972800" cy="3314700"/>
        </p:xfrm>
        <a:graphic xmlns:a="http://schemas.openxmlformats.org/drawingml/2006/main">
          <a:graphicData uri="http://schemas.openxmlformats.org/drawingml/2006/table">
            <a:tbl>
              <a:tblPr firstRow="0" bandRow="0"/>
              <a:tblGrid>
                <a:gridCol w="3657600"/>
                <a:gridCol w="3657600"/>
                <a:gridCol w="3657600"/>
              </a:tblGrid>
              <a:tr h="552450">
                <a:tc>
                  <a:txBody>
                    <a:bodyPr wrap="square" lIns="133350" tIns="76200" rIns="133350" bIns="76200">
                      <a:noAutofit/>
                    </a:bodyPr>
                    <a:lstStyle/>
                    <a:p>
                      <a:pPr algn="l"/>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r=4 CLP z</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정규 MD5 CLP z</a:t>
                      </a:r>
                    </a:p>
                  </a:txBody>
                  <a:tcPr marL="91440" marR="91440" marT="45720" marB="45720" anchor="ctr">
                    <a:solidFill>
                      <a:srgbClr val="142C43"/>
                    </a:solidFill>
                  </a:tcPr>
                </a:tc>
              </a:tr>
              <a:tr h="552450">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P-G-BGV</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187.34</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0.10</a:t>
                      </a:r>
                    </a:p>
                  </a:txBody>
                  <a:tcPr marL="91440" marR="91440" marT="45720" marB="45720" anchor="ctr">
                    <a:solidFill>
                      <a:srgbClr val="F2F5F7"/>
                    </a:solidFill>
                  </a:tcPr>
                </a:tc>
              </a:tr>
              <a:tr h="552450">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114.31</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0.12</a:t>
                      </a:r>
                    </a:p>
                  </a:txBody>
                  <a:tcPr marL="91440" marR="91440" marT="45720" marB="45720" anchor="ctr">
                    <a:solidFill>
                      <a:srgbClr val="FFFFFF"/>
                    </a:solidFill>
                  </a:tcPr>
                </a:tc>
              </a:tr>
              <a:tr h="552450">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181.76</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0.32</a:t>
                      </a:r>
                    </a:p>
                  </a:txBody>
                  <a:tcPr marL="91440" marR="91440" marT="45720" marB="45720" anchor="ctr">
                    <a:solidFill>
                      <a:srgbClr val="F2F5F7"/>
                    </a:solidFill>
                  </a:tcPr>
                </a:tc>
              </a:tr>
              <a:tr h="552450">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197.35</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0.25</a:t>
                      </a:r>
                    </a:p>
                  </a:txBody>
                  <a:tcPr marL="91440" marR="91440" marT="45720" marB="45720" anchor="ctr">
                    <a:solidFill>
                      <a:srgbClr val="FFFFFF"/>
                    </a:solidFill>
                  </a:tcPr>
                </a:tc>
              </a:tr>
              <a:tr h="552450">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183.25</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-0.36</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09E37A12-DDF1-4053-9470-B0C2051219E0}"/>
              </a:ext>
            </a:extLst>
          </p:cNvPr>
          <p:cNvSpPr>
            <a:spLocks xmlns:a="http://schemas.openxmlformats.org/drawingml/2006/main" noGrp="1"/>
          </p:cNvSpPr>
          <p:nvPr/>
        </p:nvSpPr>
        <p:spPr>
          <a:xfrm xmlns:a="http://schemas.openxmlformats.org/drawingml/2006/main">
            <a:off x="609600" y="52863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CLP: 올바른 조건과 바꾼 조건의 모델 점수를 비교하는 보조 진단</a:t>
            </a:r>
          </a:p>
        </p:txBody>
      </p:sp>
      <p:sp>
        <p:nvSpPr>
          <p:cNvPr id="6" name="">
            <a:extLst xmlns:a="http://schemas.openxmlformats.org/drawingml/2006/main">
              <a:ext uri="{FF2B5EF4-FFF2-40B4-BE49-F238E27FC236}">
                <a16:creationId xmlns:a16="http://schemas.microsoft.com/office/drawing/2014/main" id="{DEC7F7F4-3083-4A3D-9767-BE72B127F6F4}"/>
              </a:ext>
            </a:extLst>
          </p:cNvPr>
          <p:cNvSpPr>
            <a:spLocks xmlns:a="http://schemas.openxmlformats.org/drawingml/2006/main" noGrp="1"/>
          </p:cNvSpPr>
          <p:nvPr/>
        </p:nvSpPr>
        <p:spPr>
          <a:xfrm xmlns:a="http://schemas.openxmlformats.org/drawingml/2006/main">
            <a:off x="609600" y="5800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5A6B78"/>
                </a:solidFill>
                <a:latin typeface="Malgun Gothic"/>
                <a:ea typeface="Malgun Gothic"/>
                <a:cs typeface="Malgun Gothic"/>
              </a:defRPr>
            </a:pPr>
            <a:r>
              <a:rPr sz="1875" b="0" lang="ko-KR" altLang="en-US">
                <a:solidFill>
                  <a:srgbClr val="5A6B78"/>
                </a:solidFill>
                <a:latin typeface="Malgun Gothic"/>
                <a:ea typeface="Malgun Gothic"/>
                <a:cs typeface="Malgun Gothic"/>
              </a:rPr>
              <a:t>정규 MD5의 z는 -0.36–0.32로, 신호 기준 z&gt;2.878을 충족하지 못함</a:t>
            </a:r>
          </a:p>
        </p:txBody>
      </p:sp>
    </p:spTree>
    <p:extLst>
      <p:ext uri="{BB962C8B-B14F-4D97-AF65-F5344CB8AC3E}">
        <p14:creationId xmlns:p14="http://schemas.microsoft.com/office/powerpoint/2010/main" val="100689440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5B3995C-0559-40E5-82EE-C64A206E3383}"/>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계산 비용: 처리량·ρ·손익분기</a:t>
            </a:r>
          </a:p>
        </p:txBody>
      </p:sp>
      <p:sp>
        <p:nvSpPr>
          <p:cNvPr id="2" name="">
            <a:extLst xmlns:a="http://schemas.openxmlformats.org/drawingml/2006/main">
              <a:ext uri="{FF2B5EF4-FFF2-40B4-BE49-F238E27FC236}">
                <a16:creationId xmlns:a16="http://schemas.microsoft.com/office/drawing/2014/main" id="{F6AE9A6C-7056-4464-B095-395B600F1E88}"/>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30</a:t>
            </a:r>
          </a:p>
        </p:txBody>
      </p:sp>
      <p:sp>
        <p:nvSpPr>
          <p:cNvPr id="3" name="">
            <a:extLst xmlns:a="http://schemas.openxmlformats.org/drawingml/2006/main">
              <a:ext uri="{FF2B5EF4-FFF2-40B4-BE49-F238E27FC236}">
                <a16:creationId xmlns:a16="http://schemas.microsoft.com/office/drawing/2014/main" id="{D779B585-F680-4A62-8C84-E78475DA64F3}"/>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decision.json의 C4, 최종 실행 보고서 §2·§7</a:t>
            </a:r>
          </a:p>
        </p:txBody>
      </p:sp>
      <p:sp>
        <p:nvSpPr>
          <p:cNvPr id="4" name="">
            <a:extLst xmlns:a="http://schemas.openxmlformats.org/drawingml/2006/main">
              <a:ext uri="{FF2B5EF4-FFF2-40B4-BE49-F238E27FC236}">
                <a16:creationId xmlns:a16="http://schemas.microsoft.com/office/drawing/2014/main" id="{0842EFEC-6D68-4235-9A00-4DC6452DB533}"/>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처리량 / burst</a:t>
            </a:r>
          </a:p>
        </p:txBody>
      </p:sp>
      <p:sp>
        <p:nvSpPr>
          <p:cNvPr id="5" name="">
            <a:extLst xmlns:a="http://schemas.openxmlformats.org/drawingml/2006/main">
              <a:ext uri="{FF2B5EF4-FFF2-40B4-BE49-F238E27FC236}">
                <a16:creationId xmlns:a16="http://schemas.microsoft.com/office/drawing/2014/main" id="{52B515F7-9F33-49B6-8637-34CC9EEA2561}"/>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처리량은 1초 동안 처리하는 후보 수다. Burst는 짧은 구간의 생성 처리량,</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지속 처리량은 기록·검증을 포함한 긴 실행의 처리량이다. 비용 비율에는 burst를 썼다.</a:t>
            </a:r>
          </a:p>
        </p:txBody>
      </p:sp>
      <p:sp>
        <p:nvSpPr>
          <p:cNvPr id="6" name="">
            <a:extLst xmlns:a="http://schemas.openxmlformats.org/drawingml/2006/main">
              <a:ext uri="{FF2B5EF4-FFF2-40B4-BE49-F238E27FC236}">
                <a16:creationId xmlns:a16="http://schemas.microsoft.com/office/drawing/2014/main" id="{DCA89AE4-CB8F-4DC4-993A-E50A816728F7}"/>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ρ / 비용 비율</a:t>
            </a:r>
          </a:p>
        </p:txBody>
      </p:sp>
      <p:sp>
        <p:nvSpPr>
          <p:cNvPr id="7" name="">
            <a:extLst xmlns:a="http://schemas.openxmlformats.org/drawingml/2006/main">
              <a:ext uri="{FF2B5EF4-FFF2-40B4-BE49-F238E27FC236}">
                <a16:creationId xmlns:a16="http://schemas.microsoft.com/office/drawing/2014/main" id="{066C4603-35D5-41C5-A3DF-28335FF03A1F}"/>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ρ는 직접 무작위 탐색 처리량을 모델의 후보 생성 처리량으로 나눈 값이다.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P-DISC의 ρ=78.4는 같은 후보 수를 만드는 모델 생성 시간이 약 78.4배라는 뜻이다.</a:t>
            </a:r>
          </a:p>
        </p:txBody>
      </p:sp>
      <p:sp>
        <p:nvSpPr>
          <p:cNvPr id="8" name="">
            <a:extLst xmlns:a="http://schemas.openxmlformats.org/drawingml/2006/main">
              <a:ext uri="{FF2B5EF4-FFF2-40B4-BE49-F238E27FC236}">
                <a16:creationId xmlns:a16="http://schemas.microsoft.com/office/drawing/2014/main" id="{6897EAF1-48C8-44A0-AA9A-283B946E8EB9}"/>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후보당 확률 / 손익분기</a:t>
            </a:r>
          </a:p>
        </p:txBody>
      </p:sp>
      <p:sp>
        <p:nvSpPr>
          <p:cNvPr id="9" name="">
            <a:extLst xmlns:a="http://schemas.openxmlformats.org/drawingml/2006/main">
              <a:ext uri="{FF2B5EF4-FFF2-40B4-BE49-F238E27FC236}">
                <a16:creationId xmlns:a16="http://schemas.microsoft.com/office/drawing/2014/main" id="{B60FE7FE-F3B3-460B-AEB8-7520655B2D62}"/>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후보 1개의 무작위 성공확률은 균등 해시 가정에서 2⁻¹²(약 0.0244%)다.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생성 비용의 손익분기 확률은 ρ×2⁻¹²이며, P-DISC에서는 약 1.91%다.</a:t>
            </a:r>
          </a:p>
        </p:txBody>
      </p:sp>
      <p:sp>
        <p:nvSpPr>
          <p:cNvPr id="10" name="">
            <a:extLst xmlns:a="http://schemas.openxmlformats.org/drawingml/2006/main">
              <a:ext uri="{FF2B5EF4-FFF2-40B4-BE49-F238E27FC236}">
                <a16:creationId xmlns:a16="http://schemas.microsoft.com/office/drawing/2014/main" id="{88E09D28-2D89-49E8-A873-FC93574E84BB}"/>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Success@100 / 학습비</a:t>
            </a:r>
          </a:p>
        </p:txBody>
      </p:sp>
      <p:sp>
        <p:nvSpPr>
          <p:cNvPr id="11" name="">
            <a:extLst xmlns:a="http://schemas.openxmlformats.org/drawingml/2006/main">
              <a:ext uri="{FF2B5EF4-FFF2-40B4-BE49-F238E27FC236}">
                <a16:creationId xmlns:a16="http://schemas.microsoft.com/office/drawing/2014/main" id="{2B81A2FB-A394-4614-9F9E-422E106DEC9A}"/>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Success@100은 100개를 묶은 trial의 성공률이므로 후보당 1.91%와 직접 비교하지 않는다.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총 계산 비용을 논하려면 학습비도 고려해야 하며, 제시한 손익분기는 생성 비용 기준이다.</a:t>
            </a:r>
          </a:p>
        </p:txBody>
      </p:sp>
      <p:sp>
        <p:nvSpPr>
          <p:cNvPr id="12" name="">
            <a:extLst xmlns:a="http://schemas.openxmlformats.org/drawingml/2006/main">
              <a:ext uri="{FF2B5EF4-FFF2-40B4-BE49-F238E27FC236}">
                <a16:creationId xmlns:a16="http://schemas.microsoft.com/office/drawing/2014/main" id="{01B956AD-2306-4801-9120-6870E89C648C}"/>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후보를 적게 써도, 후보 하나의 생성 비용이 크면 계산상의 이득을 얻기 어렵다</a:t>
            </a:r>
          </a:p>
        </p:txBody>
      </p:sp>
    </p:spTree>
    <p:extLst>
      <p:ext uri="{BB962C8B-B14F-4D97-AF65-F5344CB8AC3E}">
        <p14:creationId xmlns:p14="http://schemas.microsoft.com/office/powerpoint/2010/main" val="174335767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920DD5-144C-44B3-AFB7-81C674C92F1C}"/>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생성 비용을 상쇄할 성공률 향상이 없었다</a:t>
            </a:r>
          </a:p>
        </p:txBody>
      </p:sp>
      <p:sp>
        <p:nvSpPr>
          <p:cNvPr id="2" name="">
            <a:extLst xmlns:a="http://schemas.openxmlformats.org/drawingml/2006/main">
              <a:ext uri="{FF2B5EF4-FFF2-40B4-BE49-F238E27FC236}">
                <a16:creationId xmlns:a16="http://schemas.microsoft.com/office/drawing/2014/main" id="{83D0CAB4-68E4-45F6-BEBE-92929EF404FC}"/>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31</a:t>
            </a:r>
          </a:p>
        </p:txBody>
      </p:sp>
      <p:sp>
        <p:nvSpPr>
          <p:cNvPr id="3" name="">
            <a:extLst xmlns:a="http://schemas.openxmlformats.org/drawingml/2006/main">
              <a:ext uri="{FF2B5EF4-FFF2-40B4-BE49-F238E27FC236}">
                <a16:creationId xmlns:a16="http://schemas.microsoft.com/office/drawing/2014/main" id="{A9C57F50-3084-4377-BC8B-88E1C77638B8}"/>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decision.json의 C4, 최종 실행 보고서</a:t>
            </a:r>
          </a:p>
        </p:txBody>
      </p:sp>
      <p:graphicFrame>
        <p:nvGraphicFramePr>
          <p:cNvPr id="10" name=""/>
          <p:cNvGraphicFramePr/>
          <p:nvPr/>
        </p:nvGraphicFramePr>
        <p:xfrm>
          <a:off xmlns:a="http://schemas.openxmlformats.org/drawingml/2006/main" x="609600" y="1657350"/>
          <a:ext xmlns:a="http://schemas.openxmlformats.org/drawingml/2006/main" cx="10972800" cy="3486150"/>
        </p:xfrm>
        <a:graphic xmlns:a="http://schemas.openxmlformats.org/drawingml/2006/main">
          <a:graphicData uri="http://schemas.openxmlformats.org/drawingml/2006/table">
            <a:tbl>
              <a:tblPr firstRow="0" bandRow="0"/>
              <a:tblGrid>
                <a:gridCol w="2857500"/>
                <a:gridCol w="3733800"/>
                <a:gridCol w="4381500"/>
              </a:tblGrid>
              <a:tr h="581025">
                <a:tc>
                  <a:txBody>
                    <a:bodyPr wrap="square" lIns="133350" tIns="76200" rIns="133350" bIns="76200">
                      <a:noAutofit/>
                    </a:bodyPr>
                    <a:lstStyle/>
                    <a:p>
                      <a:pPr algn="l"/>
                      <a:r>
                        <a:rPr sz="1875" b="1" lang="ko-KR" altLang="en-US">
                          <a:solidFill>
                            <a:srgbClr val="FFFFFF"/>
                          </a:solidFill>
                          <a:latin typeface="Malgun Gothic"/>
                          <a:ea typeface="Malgun Gothic"/>
                          <a:cs typeface="Malgun Gothic"/>
                        </a:rPr>
                        <a:t>파이프라인</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생성 비용 비율 ρ</a:t>
                      </a:r>
                    </a:p>
                  </a:txBody>
                  <a:tcPr marL="91440" marR="91440" marT="45720" marB="45720" anchor="ctr">
                    <a:solidFill>
                      <a:srgbClr val="142C43"/>
                    </a:solidFill>
                  </a:tcPr>
                </a:tc>
                <a:tc>
                  <a:txBody>
                    <a:bodyPr wrap="square" lIns="133350" tIns="76200" rIns="133350" bIns="76200">
                      <a:noAutofit/>
                    </a:bodyPr>
                    <a:lstStyle/>
                    <a:p>
                      <a:pPr algn="ctr"/>
                      <a:r>
                        <a:rPr sz="1875" b="1" lang="ko-KR" altLang="en-US">
                          <a:solidFill>
                            <a:srgbClr val="FFFFFF"/>
                          </a:solidFill>
                          <a:latin typeface="Malgun Gothic"/>
                          <a:ea typeface="Malgun Gothic"/>
                          <a:cs typeface="Malgun Gothic"/>
                        </a:rPr>
                        <a:t>손익분기 후보당 성공확률</a:t>
                      </a:r>
                    </a:p>
                  </a:txBody>
                  <a:tcPr marL="91440" marR="91440" marT="45720" marB="45720" anchor="ctr">
                    <a:solidFill>
                      <a:srgbClr val="142C43"/>
                    </a:solidFill>
                  </a:tcPr>
                </a:tc>
              </a:tr>
              <a:tr h="5810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P-G-BGV</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2,891.3배</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70.59%</a:t>
                      </a:r>
                    </a:p>
                  </a:txBody>
                  <a:tcPr marL="91440" marR="91440" marT="45720" marB="45720" anchor="ctr">
                    <a:solidFill>
                      <a:srgbClr val="F2F5F7"/>
                    </a:solidFill>
                  </a:tcPr>
                </a:tc>
              </a:tr>
              <a:tr h="5810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P-G-CGGE</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1,545.7배</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37.74%</a:t>
                      </a:r>
                    </a:p>
                  </a:txBody>
                  <a:tcPr marL="91440" marR="91440" marT="45720" marB="45720" anchor="ctr">
                    <a:solidFill>
                      <a:srgbClr val="FFFFFF"/>
                    </a:solidFill>
                  </a:tcPr>
                </a:tc>
              </a:tr>
              <a:tr h="5810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P-DISC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78.4배</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1.91%</a:t>
                      </a:r>
                    </a:p>
                  </a:txBody>
                  <a:tcPr marL="91440" marR="91440" marT="45720" marB="45720" anchor="ctr">
                    <a:solidFill>
                      <a:srgbClr val="F2F5F7"/>
                    </a:solidFill>
                  </a:tcPr>
                </a:tc>
              </a:tr>
              <a:tr h="5810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R-G-BGV</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3,024.7배</a:t>
                      </a:r>
                    </a:p>
                  </a:txBody>
                  <a:tcPr marL="91440" marR="91440" marT="45720" marB="45720" anchor="ctr">
                    <a:solidFill>
                      <a:srgbClr val="FFFFFF"/>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73.85%</a:t>
                      </a:r>
                    </a:p>
                  </a:txBody>
                  <a:tcPr marL="91440" marR="91440" marT="45720" marB="45720" anchor="ctr">
                    <a:solidFill>
                      <a:srgbClr val="FFFFFF"/>
                    </a:solidFill>
                  </a:tcPr>
                </a:tc>
              </a:tr>
              <a:tr h="581025">
                <a:tc>
                  <a:txBody>
                    <a:bodyPr wrap="square" lIns="133350" tIns="76200" rIns="133350" bIns="76200">
                      <a:noAutofit/>
                    </a:bodyPr>
                    <a:lstStyle/>
                    <a:p>
                      <a:pPr algn="l"/>
                      <a:r>
                        <a:rPr sz="1950" b="0" lang="ko-KR" altLang="en-US">
                          <a:solidFill>
                            <a:srgbClr val="203648"/>
                          </a:solidFill>
                          <a:latin typeface="Malgun Gothic"/>
                          <a:ea typeface="Malgun Gothic"/>
                          <a:cs typeface="Malgun Gothic"/>
                        </a:rPr>
                        <a:t>R-DISC</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200.6배</a:t>
                      </a:r>
                    </a:p>
                  </a:txBody>
                  <a:tcPr marL="91440" marR="91440" marT="45720" marB="45720" anchor="ctr">
                    <a:solidFill>
                      <a:srgbClr val="F2F5F7"/>
                    </a:solidFill>
                  </a:tcPr>
                </a:tc>
                <a:tc>
                  <a:txBody>
                    <a:bodyPr wrap="square" lIns="133350" tIns="76200" rIns="133350" bIns="76200">
                      <a:noAutofit/>
                    </a:bodyPr>
                    <a:lstStyle/>
                    <a:p>
                      <a:pPr algn="ctr"/>
                      <a:r>
                        <a:rPr sz="1950" b="0" lang="ko-KR" altLang="en-US">
                          <a:solidFill>
                            <a:srgbClr val="203648"/>
                          </a:solidFill>
                          <a:latin typeface="Malgun Gothic"/>
                          <a:ea typeface="Malgun Gothic"/>
                          <a:cs typeface="Malgun Gothic"/>
                        </a:rPr>
                        <a:t>4.90%</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C6DD39DC-7974-4304-8570-7E6CAC63A713}"/>
              </a:ext>
            </a:extLst>
          </p:cNvPr>
          <p:cNvSpPr>
            <a:spLocks xmlns:a="http://schemas.openxmlformats.org/drawingml/2006/main" noGrp="1"/>
          </p:cNvSpPr>
          <p:nvPr/>
        </p:nvSpPr>
        <p:spPr>
          <a:xfrm xmlns:a="http://schemas.openxmlformats.org/drawingml/2006/main">
            <a:off x="609600" y="54292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직접 탐색 대비 비용 비율. 후보 1개의 성공확률 기준이며 Success@100과 다름</a:t>
            </a:r>
          </a:p>
        </p:txBody>
      </p:sp>
      <p:sp>
        <p:nvSpPr>
          <p:cNvPr id="6" name="">
            <a:extLst xmlns:a="http://schemas.openxmlformats.org/drawingml/2006/main">
              <a:ext uri="{FF2B5EF4-FFF2-40B4-BE49-F238E27FC236}">
                <a16:creationId xmlns:a16="http://schemas.microsoft.com/office/drawing/2014/main" id="{F82B376B-D360-4111-926C-3505940538CA}"/>
              </a:ext>
            </a:extLst>
          </p:cNvPr>
          <p:cNvSpPr>
            <a:spLocks xmlns:a="http://schemas.openxmlformats.org/drawingml/2006/main" noGrp="1"/>
          </p:cNvSpPr>
          <p:nvPr/>
        </p:nvSpPr>
        <p:spPr>
          <a:xfrm xmlns:a="http://schemas.openxmlformats.org/drawingml/2006/main">
            <a:off x="609600" y="601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lang="ko-KR" altLang="en-US">
                <a:solidFill>
                  <a:srgbClr val="5A6B78"/>
                </a:solidFill>
                <a:latin typeface="Malgun Gothic"/>
                <a:ea typeface="Malgun Gothic"/>
                <a:cs typeface="Malgun Gothic"/>
              </a:defRPr>
            </a:pPr>
            <a:r>
              <a:rPr sz="1725" b="0" lang="ko-KR" altLang="en-US">
                <a:solidFill>
                  <a:srgbClr val="5A6B78"/>
                </a:solidFill>
                <a:latin typeface="Malgun Gothic"/>
                <a:ea typeface="Malgun Gothic"/>
                <a:cs typeface="Malgun Gothic"/>
              </a:rPr>
              <a:t>학습비를 제외해도 등록된 계산 우위 판정은 5개 모두 NO_ADVANTAGE</a:t>
            </a:r>
          </a:p>
        </p:txBody>
      </p:sp>
    </p:spTree>
    <p:extLst>
      <p:ext uri="{BB962C8B-B14F-4D97-AF65-F5344CB8AC3E}">
        <p14:creationId xmlns:p14="http://schemas.microsoft.com/office/powerpoint/2010/main" val="176750090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21E2C5-4E75-4EDD-BEC6-D60ABFEA5F3B}"/>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모델 규모와 학습량 확대에서도 추가 신호 없음</a:t>
            </a:r>
          </a:p>
        </p:txBody>
      </p:sp>
      <p:sp>
        <p:nvSpPr>
          <p:cNvPr id="2" name="">
            <a:extLst xmlns:a="http://schemas.openxmlformats.org/drawingml/2006/main">
              <a:ext uri="{FF2B5EF4-FFF2-40B4-BE49-F238E27FC236}">
                <a16:creationId xmlns:a16="http://schemas.microsoft.com/office/drawing/2014/main" id="{131589B9-1E5E-4044-A3D5-EBC323508085}"/>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32</a:t>
            </a:r>
          </a:p>
        </p:txBody>
      </p:sp>
      <p:sp>
        <p:nvSpPr>
          <p:cNvPr id="3" name="">
            <a:extLst xmlns:a="http://schemas.openxmlformats.org/drawingml/2006/main">
              <a:ext uri="{FF2B5EF4-FFF2-40B4-BE49-F238E27FC236}">
                <a16:creationId xmlns:a16="http://schemas.microsoft.com/office/drawing/2014/main" id="{6380EDFD-915A-4EA7-A65E-DF99572E40E5}"/>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S.json, 등록 설정 D1-T-L·stage_s</a:t>
            </a:r>
          </a:p>
        </p:txBody>
      </p:sp>
      <p:graphicFrame>
        <p:nvGraphicFramePr>
          <p:cNvPr id="9" name=""/>
          <p:cNvGraphicFramePr/>
          <p:nvPr/>
        </p:nvGraphicFramePr>
        <p:xfrm>
          <a:off xmlns:a="http://schemas.openxmlformats.org/drawingml/2006/main" x="609600" y="1562100"/>
          <a:ext xmlns:a="http://schemas.openxmlformats.org/drawingml/2006/main" cx="10972800" cy="4057650"/>
        </p:xfrm>
        <a:graphic xmlns:a="http://schemas.openxmlformats.org/drawingml/2006/main">
          <a:graphicData uri="http://schemas.openxmlformats.org/drawingml/2006/table">
            <a:tbl>
              <a:tblPr firstRow="0" bandRow="0"/>
              <a:tblGrid>
                <a:gridCol w="2000250"/>
                <a:gridCol w="4991100"/>
                <a:gridCol w="3981450"/>
              </a:tblGrid>
              <a:tr h="457200">
                <a:tc>
                  <a:txBody>
                    <a:bodyPr wrap="square" lIns="133350" tIns="76200" rIns="133350" bIns="76200">
                      <a:noAutofit/>
                    </a:bodyPr>
                    <a:lstStyle/>
                    <a:p>
                      <a:pPr algn="l"/>
                      <a:r>
                        <a:rPr sz="1650" b="1" lang="ko-KR" altLang="en-US">
                          <a:solidFill>
                            <a:srgbClr val="FFFFFF"/>
                          </a:solidFill>
                          <a:latin typeface="Malgun Gothic"/>
                          <a:ea typeface="Malgun Gothic"/>
                          <a:cs typeface="Malgun Gothic"/>
                        </a:rPr>
                        <a:t>항목</a:t>
                      </a:r>
                    </a:p>
                  </a:txBody>
                  <a:tcPr marL="91440" marR="91440" marT="45720" marB="45720" anchor="ctr">
                    <a:solidFill>
                      <a:srgbClr val="142C43"/>
                    </a:solidFill>
                  </a:tcPr>
                </a:tc>
                <a:tc>
                  <a:txBody>
                    <a:bodyPr wrap="square" lIns="133350" tIns="76200" rIns="133350" bIns="76200">
                      <a:noAutofit/>
                    </a:bodyPr>
                    <a:lstStyle/>
                    <a:p>
                      <a:pPr algn="l"/>
                      <a:r>
                        <a:rPr sz="1650" b="1" lang="ko-KR" altLang="en-US">
                          <a:solidFill>
                            <a:srgbClr val="FFFFFF"/>
                          </a:solidFill>
                          <a:latin typeface="Malgun Gothic"/>
                          <a:ea typeface="Malgun Gothic"/>
                          <a:cs typeface="Malgun Gothic"/>
                        </a:rPr>
                        <a:t>설정 또는 결과</a:t>
                      </a:r>
                    </a:p>
                  </a:txBody>
                  <a:tcPr marL="91440" marR="91440" marT="45720" marB="45720" anchor="ctr">
                    <a:solidFill>
                      <a:srgbClr val="142C43"/>
                    </a:solidFill>
                  </a:tcPr>
                </a:tc>
                <a:tc>
                  <a:txBody>
                    <a:bodyPr wrap="square" lIns="133350" tIns="76200" rIns="133350" bIns="76200">
                      <a:noAutofit/>
                    </a:bodyPr>
                    <a:lstStyle/>
                    <a:p>
                      <a:pPr algn="l"/>
                      <a:r>
                        <a:rPr sz="1650" b="1" lang="ko-KR" altLang="en-US">
                          <a:solidFill>
                            <a:srgbClr val="FFFFFF"/>
                          </a:solidFill>
                          <a:latin typeface="Malgun Gothic"/>
                          <a:ea typeface="Malgun Gothic"/>
                          <a:cs typeface="Malgun Gothic"/>
                        </a:rPr>
                        <a:t>의미</a:t>
                      </a:r>
                    </a:p>
                  </a:txBody>
                  <a:tcPr marL="91440" marR="91440" marT="45720" marB="45720" anchor="ctr">
                    <a:solidFill>
                      <a:srgbClr val="142C43"/>
                    </a:solidFill>
                  </a:tcPr>
                </a:tc>
              </a:tr>
              <a:tr h="857250">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모델 규모</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D1-T-L / 6,415,308개</a:t>
                      </a:r>
                    </a:p>
                    <a:p>
                      <a:pPr algn="l"/>
                      <a:r>
                        <a:rPr sz="1725" b="0" lang="ko-KR" altLang="en-US">
                          <a:solidFill>
                            <a:srgbClr val="203648"/>
                          </a:solidFill>
                          <a:latin typeface="Malgun Gothic"/>
                          <a:ea typeface="Malgun Gothic"/>
                          <a:cs typeface="Malgun Gothic"/>
                        </a:rPr>
                        <a:t>8층, 8 heads, 차원 256, FFN 1,024</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주 실험 P-DISC보다 약 12.6배</a:t>
                      </a:r>
                    </a:p>
                  </a:txBody>
                  <a:tcPr marL="91440" marR="91440" marT="45720" marB="45720" anchor="ctr">
                    <a:solidFill>
                      <a:srgbClr val="F2F5F7"/>
                    </a:solidFill>
                  </a:tcPr>
                </a:tc>
              </a:tr>
              <a:tr h="609600">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학습량</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160,000 updates × batch 256</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4,096만 쌍, 주 실험의 4배</a:t>
                      </a:r>
                    </a:p>
                  </a:txBody>
                  <a:tcPr marL="91440" marR="91440" marT="45720" marB="45720" anchor="ctr">
                    <a:solidFill>
                      <a:srgbClr val="FFFFFF"/>
                    </a:solidFill>
                  </a:tcPr>
                </a:tc>
              </a:tr>
              <a:tr h="609600">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학습률 / 안정화</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0.00075 / warmup 1,000 / clip 1.0</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seed 0으로 한 번 확대 실험</a:t>
                      </a:r>
                    </a:p>
                  </a:txBody>
                  <a:tcPr marL="91440" marR="91440" marT="45720" marB="45720" anchor="ctr">
                    <a:solidFill>
                      <a:srgbClr val="F2F5F7"/>
                    </a:solidFill>
                  </a:tcPr>
                </a:tc>
              </a:tr>
              <a:tr h="666750">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조건 정보 진단</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CLP z = -0.28</a:t>
                      </a:r>
                    </a:p>
                  </a:txBody>
                  <a:tcPr marL="91440" marR="91440" marT="45720" marB="45720" anchor="ctr">
                    <a:solidFill>
                      <a:srgbClr val="FFFFFF"/>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65,536쌍, 기준 z&gt;3.2905 미충족</a:t>
                      </a:r>
                    </a:p>
                  </a:txBody>
                  <a:tcPr marL="91440" marR="91440" marT="45720" marB="45720" anchor="ctr">
                    <a:solidFill>
                      <a:srgbClr val="FFFFFF"/>
                    </a:solidFill>
                  </a:tcPr>
                </a:tc>
              </a:tr>
              <a:tr h="857250">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Success@100</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Main 2.246%</a:t>
                      </a:r>
                    </a:p>
                    <a:p>
                      <a:pPr algn="l"/>
                      <a:r>
                        <a:rPr sz="1725" b="0" lang="ko-KR" altLang="en-US">
                          <a:solidFill>
                            <a:srgbClr val="203648"/>
                          </a:solidFill>
                          <a:latin typeface="Malgun Gothic"/>
                          <a:ea typeface="Malgun Gothic"/>
                          <a:cs typeface="Malgun Gothic"/>
                        </a:rPr>
                        <a:t>Random 2.319%</a:t>
                      </a:r>
                    </a:p>
                  </a:txBody>
                  <a:tcPr marL="91440" marR="91440" marT="45720" marB="45720" anchor="ctr">
                    <a:solidFill>
                      <a:srgbClr val="F2F5F7"/>
                    </a:solidFill>
                  </a:tcPr>
                </a:tc>
                <a:tc>
                  <a:txBody>
                    <a:bodyPr wrap="square" lIns="133350" tIns="76200" rIns="133350" bIns="76200">
                      <a:noAutofit/>
                    </a:bodyPr>
                    <a:lstStyle/>
                    <a:p>
                      <a:pPr algn="l"/>
                      <a:r>
                        <a:rPr sz="1725" b="0" lang="ko-KR" altLang="en-US">
                          <a:solidFill>
                            <a:srgbClr val="203648"/>
                          </a:solidFill>
                          <a:latin typeface="Malgun Gothic"/>
                          <a:ea typeface="Malgun Gothic"/>
                          <a:cs typeface="Malgun Gothic"/>
                        </a:rPr>
                        <a:t>4,096 trials의 보조 기술통계</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B89689FF-BF99-45FE-80E3-F9064B143BCC}"/>
              </a:ext>
            </a:extLst>
          </p:cNvPr>
          <p:cNvSpPr>
            <a:spLocks xmlns:a="http://schemas.openxmlformats.org/drawingml/2006/main" noGrp="1"/>
          </p:cNvSpPr>
          <p:nvPr/>
        </p:nvSpPr>
        <p:spPr>
          <a:xfrm xmlns:a="http://schemas.openxmlformats.org/drawingml/2006/main">
            <a:off x="609600" y="58864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이 한 번의 확대 실험에서는 추가 신호를 확인하지 못함</a:t>
            </a:r>
          </a:p>
        </p:txBody>
      </p:sp>
    </p:spTree>
    <p:extLst>
      <p:ext uri="{BB962C8B-B14F-4D97-AF65-F5344CB8AC3E}">
        <p14:creationId xmlns:p14="http://schemas.microsoft.com/office/powerpoint/2010/main" val="151115050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589220-0C61-4AC1-8C67-F5A34EEA3A65}"/>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최종 결론</a:t>
            </a:r>
          </a:p>
        </p:txBody>
      </p:sp>
      <p:sp>
        <p:nvSpPr>
          <p:cNvPr id="2" name="">
            <a:extLst xmlns:a="http://schemas.openxmlformats.org/drawingml/2006/main">
              <a:ext uri="{FF2B5EF4-FFF2-40B4-BE49-F238E27FC236}">
                <a16:creationId xmlns:a16="http://schemas.microsoft.com/office/drawing/2014/main" id="{91829E18-4E63-4D4F-B6C1-B421A7760176}"/>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33</a:t>
            </a:r>
          </a:p>
        </p:txBody>
      </p:sp>
      <p:sp>
        <p:nvSpPr>
          <p:cNvPr id="3" name="">
            <a:extLst xmlns:a="http://schemas.openxmlformats.org/drawingml/2006/main">
              <a:ext uri="{FF2B5EF4-FFF2-40B4-BE49-F238E27FC236}">
                <a16:creationId xmlns:a16="http://schemas.microsoft.com/office/drawing/2014/main" id="{86E39799-10A1-40CE-8064-7E3AFAA10BA9}"/>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decision.json, 연구 계획의 판정 규칙</a:t>
            </a:r>
          </a:p>
        </p:txBody>
      </p:sp>
      <p:sp>
        <p:nvSpPr>
          <p:cNvPr id="4" name="">
            <a:extLst xmlns:a="http://schemas.openxmlformats.org/drawingml/2006/main">
              <a:ext uri="{FF2B5EF4-FFF2-40B4-BE49-F238E27FC236}">
                <a16:creationId xmlns:a16="http://schemas.microsoft.com/office/drawing/2014/main" id="{B088CE4F-22DE-4D44-8237-0598C7EA056E}"/>
              </a:ext>
            </a:extLst>
          </p:cNvPr>
          <p:cNvSpPr>
            <a:spLocks xmlns:a="http://schemas.openxmlformats.org/drawingml/2006/main" noGrp="1"/>
          </p:cNvSpPr>
          <p:nvPr/>
        </p:nvSpPr>
        <p:spPr>
          <a:xfrm xmlns:a="http://schemas.openxmlformats.org/drawingml/2006/main">
            <a:off x="609600" y="1562100"/>
            <a:ext cx="10972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실험한 5개 파이프라인 모두에서</a:t>
            </a:r>
          </a:p>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Success@100 이득 +0.5%p 이상을 배제</a:t>
            </a:r>
          </a:p>
        </p:txBody>
      </p:sp>
      <p:sp>
        <p:nvSpPr>
          <p:cNvPr id="5" name="">
            <a:extLst xmlns:a="http://schemas.openxmlformats.org/drawingml/2006/main">
              <a:ext uri="{FF2B5EF4-FFF2-40B4-BE49-F238E27FC236}">
                <a16:creationId xmlns:a16="http://schemas.microsoft.com/office/drawing/2014/main" id="{FB587FC0-18DB-4E29-AD4B-5AC14257817C}"/>
              </a:ext>
            </a:extLst>
          </p:cNvPr>
          <p:cNvSpPr>
            <a:spLocks xmlns:a="http://schemas.openxmlformats.org/drawingml/2006/main" noGrp="1"/>
          </p:cNvSpPr>
          <p:nvPr/>
        </p:nvSpPr>
        <p:spPr>
          <a:xfrm xmlns:a="http://schemas.openxmlformats.org/drawingml/2006/main">
            <a:off x="609600" y="32861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조건 사용</a:t>
            </a:r>
          </a:p>
        </p:txBody>
      </p:sp>
      <p:sp>
        <p:nvSpPr>
          <p:cNvPr id="6" name="">
            <a:extLst xmlns:a="http://schemas.openxmlformats.org/drawingml/2006/main">
              <a:ext uri="{FF2B5EF4-FFF2-40B4-BE49-F238E27FC236}">
                <a16:creationId xmlns:a16="http://schemas.microsoft.com/office/drawing/2014/main" id="{694F664F-B2CD-4E5E-B69B-2B600AE4CEBD}"/>
              </a:ext>
            </a:extLst>
          </p:cNvPr>
          <p:cNvSpPr>
            <a:spLocks xmlns:a="http://schemas.openxmlformats.org/drawingml/2006/main" noGrp="1"/>
          </p:cNvSpPr>
          <p:nvPr/>
        </p:nvSpPr>
        <p:spPr>
          <a:xfrm xmlns:a="http://schemas.openxmlformats.org/drawingml/2006/main">
            <a:off x="3000375" y="32861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학습 가능한 조건과 약한 해시 구조는 활용</a:t>
            </a:r>
          </a:p>
        </p:txBody>
      </p:sp>
      <p:sp>
        <p:nvSpPr>
          <p:cNvPr id="7" name="">
            <a:extLst xmlns:a="http://schemas.openxmlformats.org/drawingml/2006/main">
              <a:ext uri="{FF2B5EF4-FFF2-40B4-BE49-F238E27FC236}">
                <a16:creationId xmlns:a16="http://schemas.microsoft.com/office/drawing/2014/main" id="{A6AA7855-1C3F-483D-A937-BFB29D8DD542}"/>
              </a:ext>
            </a:extLst>
          </p:cNvPr>
          <p:cNvSpPr>
            <a:spLocks xmlns:a="http://schemas.openxmlformats.org/drawingml/2006/main" noGrp="1"/>
          </p:cNvSpPr>
          <p:nvPr/>
        </p:nvSpPr>
        <p:spPr>
          <a:xfrm xmlns:a="http://schemas.openxmlformats.org/drawingml/2006/main">
            <a:off x="609600" y="41624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정규 MD5</a:t>
            </a:r>
          </a:p>
        </p:txBody>
      </p:sp>
      <p:sp>
        <p:nvSpPr>
          <p:cNvPr id="8" name="">
            <a:extLst xmlns:a="http://schemas.openxmlformats.org/drawingml/2006/main">
              <a:ext uri="{FF2B5EF4-FFF2-40B4-BE49-F238E27FC236}">
                <a16:creationId xmlns:a16="http://schemas.microsoft.com/office/drawing/2014/main" id="{AE0AB8AB-2FE8-4883-AC4B-BD801CCC24F7}"/>
              </a:ext>
            </a:extLst>
          </p:cNvPr>
          <p:cNvSpPr>
            <a:spLocks xmlns:a="http://schemas.openxmlformats.org/drawingml/2006/main" noGrp="1"/>
          </p:cNvSpPr>
          <p:nvPr/>
        </p:nvSpPr>
        <p:spPr>
          <a:xfrm xmlns:a="http://schemas.openxmlformats.org/drawingml/2006/main">
            <a:off x="3000375" y="41624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Random·Shuffled 대비 효과 상한은 최대 +0.378%p</a:t>
            </a:r>
          </a:p>
        </p:txBody>
      </p:sp>
      <p:sp>
        <p:nvSpPr>
          <p:cNvPr id="9" name="">
            <a:extLst xmlns:a="http://schemas.openxmlformats.org/drawingml/2006/main">
              <a:ext uri="{FF2B5EF4-FFF2-40B4-BE49-F238E27FC236}">
                <a16:creationId xmlns:a16="http://schemas.microsoft.com/office/drawing/2014/main" id="{7C6D4CBD-ADC8-421D-ADAE-AE236C69BD41}"/>
              </a:ext>
            </a:extLst>
          </p:cNvPr>
          <p:cNvSpPr>
            <a:spLocks xmlns:a="http://schemas.openxmlformats.org/drawingml/2006/main" noGrp="1"/>
          </p:cNvSpPr>
          <p:nvPr/>
        </p:nvSpPr>
        <p:spPr>
          <a:xfrm xmlns:a="http://schemas.openxmlformats.org/drawingml/2006/main">
            <a:off x="609600" y="50387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계산 비용</a:t>
            </a:r>
          </a:p>
        </p:txBody>
      </p:sp>
      <p:sp>
        <p:nvSpPr>
          <p:cNvPr id="10" name="">
            <a:extLst xmlns:a="http://schemas.openxmlformats.org/drawingml/2006/main">
              <a:ext uri="{FF2B5EF4-FFF2-40B4-BE49-F238E27FC236}">
                <a16:creationId xmlns:a16="http://schemas.microsoft.com/office/drawing/2014/main" id="{5C046127-87F7-4045-8267-71104A593888}"/>
              </a:ext>
            </a:extLst>
          </p:cNvPr>
          <p:cNvSpPr>
            <a:spLocks xmlns:a="http://schemas.openxmlformats.org/drawingml/2006/main" noGrp="1"/>
          </p:cNvSpPr>
          <p:nvPr/>
        </p:nvSpPr>
        <p:spPr>
          <a:xfrm xmlns:a="http://schemas.openxmlformats.org/drawingml/2006/main">
            <a:off x="3000375" y="503872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등록된 계산 우위 기준을 충족한 파이프라인 없음</a:t>
            </a:r>
          </a:p>
        </p:txBody>
      </p:sp>
      <p:sp>
        <p:nvSpPr>
          <p:cNvPr id="11" name="">
            <a:extLst xmlns:a="http://schemas.openxmlformats.org/drawingml/2006/main">
              <a:ext uri="{FF2B5EF4-FFF2-40B4-BE49-F238E27FC236}">
                <a16:creationId xmlns:a16="http://schemas.microsoft.com/office/drawing/2014/main" id="{9361A8CE-D6A2-42E6-9B4E-2435052A3A58}"/>
              </a:ext>
            </a:extLst>
          </p:cNvPr>
          <p:cNvSpPr>
            <a:spLocks xmlns:a="http://schemas.openxmlformats.org/drawingml/2006/main" noGrp="1"/>
          </p:cNvSpPr>
          <p:nvPr/>
        </p:nvSpPr>
        <p:spPr>
          <a:xfrm xmlns:a="http://schemas.openxmlformats.org/drawingml/2006/main">
            <a:off x="609600" y="59055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사전 등록한 종합 판정: FINAL_REJECTED</a:t>
            </a:r>
          </a:p>
        </p:txBody>
      </p:sp>
    </p:spTree>
    <p:extLst>
      <p:ext uri="{BB962C8B-B14F-4D97-AF65-F5344CB8AC3E}">
        <p14:creationId xmlns:p14="http://schemas.microsoft.com/office/powerpoint/2010/main" val="203626689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93810A2-9328-4054-AA9F-6BA5160470C6}"/>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판정 용어와 해석 범위</a:t>
            </a:r>
          </a:p>
        </p:txBody>
      </p:sp>
      <p:sp>
        <p:nvSpPr>
          <p:cNvPr id="2" name="">
            <a:extLst xmlns:a="http://schemas.openxmlformats.org/drawingml/2006/main">
              <a:ext uri="{FF2B5EF4-FFF2-40B4-BE49-F238E27FC236}">
                <a16:creationId xmlns:a16="http://schemas.microsoft.com/office/drawing/2014/main" id="{C677E6A9-60C1-4909-B57A-27BA1A1D5DAF}"/>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34</a:t>
            </a:r>
          </a:p>
        </p:txBody>
      </p:sp>
      <p:sp>
        <p:nvSpPr>
          <p:cNvPr id="3" name="">
            <a:extLst xmlns:a="http://schemas.openxmlformats.org/drawingml/2006/main">
              <a:ext uri="{FF2B5EF4-FFF2-40B4-BE49-F238E27FC236}">
                <a16:creationId xmlns:a16="http://schemas.microsoft.com/office/drawing/2014/main" id="{C007FDC2-D5E7-4F6D-BD83-B3B30C8F1C89}"/>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§6·§8·§15, decision.json</a:t>
            </a:r>
          </a:p>
        </p:txBody>
      </p:sp>
      <p:sp>
        <p:nvSpPr>
          <p:cNvPr id="4" name="">
            <a:extLst xmlns:a="http://schemas.openxmlformats.org/drawingml/2006/main">
              <a:ext uri="{FF2B5EF4-FFF2-40B4-BE49-F238E27FC236}">
                <a16:creationId xmlns:a16="http://schemas.microsoft.com/office/drawing/2014/main" id="{3BFD3AF3-3E42-4E80-BE30-48CA8EFA54C0}"/>
              </a:ext>
            </a:extLst>
          </p:cNvPr>
          <p:cNvSpPr>
            <a:spLocks xmlns:a="http://schemas.openxmlformats.org/drawingml/2006/main" noGrp="1"/>
          </p:cNvSpPr>
          <p:nvPr/>
        </p:nvSpPr>
        <p:spPr>
          <a:xfrm xmlns:a="http://schemas.openxmlformats.org/drawingml/2006/main">
            <a:off x="609600" y="14573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PASS / GEN_4 / INFO_4</a:t>
            </a:r>
          </a:p>
        </p:txBody>
      </p:sp>
      <p:sp>
        <p:nvSpPr>
          <p:cNvPr id="5" name="">
            <a:extLst xmlns:a="http://schemas.openxmlformats.org/drawingml/2006/main">
              <a:ext uri="{FF2B5EF4-FFF2-40B4-BE49-F238E27FC236}">
                <a16:creationId xmlns:a16="http://schemas.microsoft.com/office/drawing/2014/main" id="{05088A13-DD61-406B-A4AC-E916D3A505C4}"/>
              </a:ext>
            </a:extLst>
          </p:cNvPr>
          <p:cNvSpPr>
            <a:spLocks xmlns:a="http://schemas.openxmlformats.org/drawingml/2006/main" noGrp="1"/>
          </p:cNvSpPr>
          <p:nvPr/>
        </p:nvSpPr>
        <p:spPr>
          <a:xfrm xmlns:a="http://schemas.openxmlformats.org/drawingml/2006/main">
            <a:off x="3133725" y="14573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PASS는 조건 사용 적격성 통과다. GEN_4는 r=4 생성 성공률이 Random과 MC보다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높다는 기준 통과, INFO_4는 r=4에서 CLP 조건 정보 신호 기준 통과를 뜻한다.</a:t>
            </a:r>
          </a:p>
        </p:txBody>
      </p:sp>
      <p:sp>
        <p:nvSpPr>
          <p:cNvPr id="6" name="">
            <a:extLst xmlns:a="http://schemas.openxmlformats.org/drawingml/2006/main">
              <a:ext uri="{FF2B5EF4-FFF2-40B4-BE49-F238E27FC236}">
                <a16:creationId xmlns:a16="http://schemas.microsoft.com/office/drawing/2014/main" id="{2EEA1F9D-0D5C-4CBD-B65B-BE212A0FBB15}"/>
              </a:ext>
            </a:extLst>
          </p:cNvPr>
          <p:cNvSpPr>
            <a:spLocks xmlns:a="http://schemas.openxmlformats.org/drawingml/2006/main" noGrp="1"/>
          </p:cNvSpPr>
          <p:nvPr/>
        </p:nvSpPr>
        <p:spPr>
          <a:xfrm xmlns:a="http://schemas.openxmlformats.org/drawingml/2006/main">
            <a:off x="609600" y="25241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한계 기각</a:t>
            </a:r>
          </a:p>
        </p:txBody>
      </p:sp>
      <p:sp>
        <p:nvSpPr>
          <p:cNvPr id="7" name="">
            <a:extLst xmlns:a="http://schemas.openxmlformats.org/drawingml/2006/main">
              <a:ext uri="{FF2B5EF4-FFF2-40B4-BE49-F238E27FC236}">
                <a16:creationId xmlns:a16="http://schemas.microsoft.com/office/drawing/2014/main" id="{29FCD989-A48C-4BF0-A110-831B329197AB}"/>
              </a:ext>
            </a:extLst>
          </p:cNvPr>
          <p:cNvSpPr>
            <a:spLocks xmlns:a="http://schemas.openxmlformats.org/drawingml/2006/main" noGrp="1"/>
          </p:cNvSpPr>
          <p:nvPr/>
        </p:nvSpPr>
        <p:spPr>
          <a:xfrm xmlns:a="http://schemas.openxmlformats.org/drawingml/2006/main">
            <a:off x="3133725" y="25241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REJECTED_BOUNDED: 양성이 아니며 두 대조군의 효과 상한이 모두 δ 미만이다.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이 범위에서 +0.5%p 이상 개선을 배제한다. 정확히 0인 효과를 증명하지는 않는다.</a:t>
            </a:r>
          </a:p>
        </p:txBody>
      </p:sp>
      <p:sp>
        <p:nvSpPr>
          <p:cNvPr id="8" name="">
            <a:extLst xmlns:a="http://schemas.openxmlformats.org/drawingml/2006/main">
              <a:ext uri="{FF2B5EF4-FFF2-40B4-BE49-F238E27FC236}">
                <a16:creationId xmlns:a16="http://schemas.microsoft.com/office/drawing/2014/main" id="{B146B4A8-8DF7-4C27-B58B-A6788D90CFE7}"/>
              </a:ext>
            </a:extLst>
          </p:cNvPr>
          <p:cNvSpPr>
            <a:spLocks xmlns:a="http://schemas.openxmlformats.org/drawingml/2006/main" noGrp="1"/>
          </p:cNvSpPr>
          <p:nvPr/>
        </p:nvSpPr>
        <p:spPr>
          <a:xfrm xmlns:a="http://schemas.openxmlformats.org/drawingml/2006/main">
            <a:off x="609600" y="35909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종합 기각</a:t>
            </a:r>
          </a:p>
        </p:txBody>
      </p:sp>
      <p:sp>
        <p:nvSpPr>
          <p:cNvPr id="9" name="">
            <a:extLst xmlns:a="http://schemas.openxmlformats.org/drawingml/2006/main">
              <a:ext uri="{FF2B5EF4-FFF2-40B4-BE49-F238E27FC236}">
                <a16:creationId xmlns:a16="http://schemas.microsoft.com/office/drawing/2014/main" id="{4429D471-0645-4777-BAA4-E8590B310817}"/>
              </a:ext>
            </a:extLst>
          </p:cNvPr>
          <p:cNvSpPr>
            <a:spLocks xmlns:a="http://schemas.openxmlformats.org/drawingml/2006/main" noGrp="1"/>
          </p:cNvSpPr>
          <p:nvPr/>
        </p:nvSpPr>
        <p:spPr>
          <a:xfrm xmlns:a="http://schemas.openxmlformats.org/drawingml/2006/main">
            <a:off x="3133725" y="35909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FINAL_REJECTED: 사전 규칙에 따른 실험 전체의 기각 판정이다.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이번에는 5개 모두 한계 기각이다. 모든 확산 모델의 불가능성을 뜻하지 않는다.</a:t>
            </a:r>
          </a:p>
        </p:txBody>
      </p:sp>
      <p:sp>
        <p:nvSpPr>
          <p:cNvPr id="10" name="">
            <a:extLst xmlns:a="http://schemas.openxmlformats.org/drawingml/2006/main">
              <a:ext uri="{FF2B5EF4-FFF2-40B4-BE49-F238E27FC236}">
                <a16:creationId xmlns:a16="http://schemas.microsoft.com/office/drawing/2014/main" id="{77DA1550-830A-4FD5-9028-62B4D0A54A73}"/>
              </a:ext>
            </a:extLst>
          </p:cNvPr>
          <p:cNvSpPr>
            <a:spLocks xmlns:a="http://schemas.openxmlformats.org/drawingml/2006/main" noGrp="1"/>
          </p:cNvSpPr>
          <p:nvPr/>
        </p:nvSpPr>
        <p:spPr>
          <a:xfrm xmlns:a="http://schemas.openxmlformats.org/drawingml/2006/main">
            <a:off x="609600" y="4657725"/>
            <a:ext cx="2305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lang="ko-KR" altLang="en-US">
                <a:solidFill>
                  <a:srgbClr val="087F82"/>
                </a:solidFill>
                <a:latin typeface="Malgun Gothic"/>
                <a:ea typeface="Malgun Gothic"/>
                <a:cs typeface="Malgun Gothic"/>
              </a:defRPr>
            </a:pPr>
            <a:r>
              <a:rPr sz="1950" b="1" lang="ko-KR" altLang="en-US">
                <a:solidFill>
                  <a:srgbClr val="087F82"/>
                </a:solidFill>
                <a:latin typeface="Malgun Gothic"/>
                <a:ea typeface="Malgun Gothic"/>
                <a:cs typeface="Malgun Gothic"/>
              </a:rPr>
              <a:t>계산 우위 / 규모 신호</a:t>
            </a:r>
          </a:p>
        </p:txBody>
      </p:sp>
      <p:sp>
        <p:nvSpPr>
          <p:cNvPr id="11" name="">
            <a:extLst xmlns:a="http://schemas.openxmlformats.org/drawingml/2006/main">
              <a:ext uri="{FF2B5EF4-FFF2-40B4-BE49-F238E27FC236}">
                <a16:creationId xmlns:a16="http://schemas.microsoft.com/office/drawing/2014/main" id="{08BB0762-0A87-4A93-9290-7E13AC22DA93}"/>
              </a:ext>
            </a:extLst>
          </p:cNvPr>
          <p:cNvSpPr>
            <a:spLocks xmlns:a="http://schemas.openxmlformats.org/drawingml/2006/main" noGrp="1"/>
          </p:cNvSpPr>
          <p:nvPr/>
        </p:nvSpPr>
        <p:spPr>
          <a:xfrm xmlns:a="http://schemas.openxmlformats.org/drawingml/2006/main">
            <a:off x="3133725" y="4657725"/>
            <a:ext cx="8448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NO_ADVANTAGE는 등록된 계산 우위 기준을 충족하지 못했다는 뜻이다.</a:t>
            </a:r>
          </a:p>
          <a:p xmlns:a="http://schemas.openxmlformats.org/drawingml/2006/main">
            <a:pPr algn="l">
              <a:defRPr sz="1875" b="0" lang="ko-KR" altLang="en-US">
                <a:solidFill>
                  <a:srgbClr val="203648"/>
                </a:solidFill>
                <a:latin typeface="Malgun Gothic"/>
                <a:ea typeface="Malgun Gothic"/>
                <a:cs typeface="Malgun Gothic"/>
              </a:defRPr>
            </a:pPr>
            <a:r>
              <a:rPr sz="1875" b="0" lang="ko-KR" altLang="en-US">
                <a:solidFill>
                  <a:srgbClr val="203648"/>
                </a:solidFill>
                <a:latin typeface="Malgun Gothic"/>
                <a:ea typeface="Malgun Gothic"/>
                <a:cs typeface="Malgun Gothic"/>
              </a:rPr>
              <a:t>SCALE_SIGNAL=false는 이번 규모 확대의 CLP가 신호 기준을 넘지 못했다는 뜻이다.</a:t>
            </a:r>
          </a:p>
        </p:txBody>
      </p:sp>
      <p:sp>
        <p:nvSpPr>
          <p:cNvPr id="12" name="">
            <a:extLst xmlns:a="http://schemas.openxmlformats.org/drawingml/2006/main">
              <a:ext uri="{FF2B5EF4-FFF2-40B4-BE49-F238E27FC236}">
                <a16:creationId xmlns:a16="http://schemas.microsoft.com/office/drawing/2014/main" id="{99EBA136-7AEE-4BEA-A570-5F7051711DCF}"/>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확인한 능력, 배제한 효과의 크기, 시험하지 않은 범위를 구분해 결론을 읽는다</a:t>
            </a:r>
          </a:p>
        </p:txBody>
      </p:sp>
    </p:spTree>
    <p:extLst>
      <p:ext uri="{BB962C8B-B14F-4D97-AF65-F5344CB8AC3E}">
        <p14:creationId xmlns:p14="http://schemas.microsoft.com/office/powerpoint/2010/main" val="211416005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D0B4E3-E7F2-4C92-B8C7-3536F3CACE17}"/>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결론의 적용 범위</a:t>
            </a:r>
          </a:p>
        </p:txBody>
      </p:sp>
      <p:sp>
        <p:nvSpPr>
          <p:cNvPr id="2" name="">
            <a:extLst xmlns:a="http://schemas.openxmlformats.org/drawingml/2006/main">
              <a:ext uri="{FF2B5EF4-FFF2-40B4-BE49-F238E27FC236}">
                <a16:creationId xmlns:a16="http://schemas.microsoft.com/office/drawing/2014/main" id="{52C4A9B0-FF6C-4459-AFE9-37D7A4A9AA5F}"/>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35</a:t>
            </a:r>
          </a:p>
        </p:txBody>
      </p:sp>
      <p:sp>
        <p:nvSpPr>
          <p:cNvPr id="3" name="">
            <a:extLst xmlns:a="http://schemas.openxmlformats.org/drawingml/2006/main">
              <a:ext uri="{FF2B5EF4-FFF2-40B4-BE49-F238E27FC236}">
                <a16:creationId xmlns:a16="http://schemas.microsoft.com/office/drawing/2014/main" id="{531063B1-CBDA-4C38-AFBF-BA8E9ED9FA95}"/>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연구 계획 §6.2, §15.4, decision.json</a:t>
            </a:r>
          </a:p>
        </p:txBody>
      </p:sp>
      <p:sp>
        <p:nvSpPr>
          <p:cNvPr id="4" name="">
            <a:extLst xmlns:a="http://schemas.openxmlformats.org/drawingml/2006/main">
              <a:ext uri="{FF2B5EF4-FFF2-40B4-BE49-F238E27FC236}">
                <a16:creationId xmlns:a16="http://schemas.microsoft.com/office/drawing/2014/main" id="{9F314828-C757-4FE3-B419-B723CFE59527}"/>
              </a:ext>
            </a:extLst>
          </p:cNvPr>
          <p:cNvSpPr>
            <a:spLocks xmlns:a="http://schemas.openxmlformats.org/drawingml/2006/main" noGrp="1"/>
          </p:cNvSpPr>
          <p:nvPr/>
        </p:nvSpPr>
        <p:spPr>
          <a:xfrm xmlns:a="http://schemas.openxmlformats.org/drawingml/2006/main">
            <a:off x="609600" y="15240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lang="ko-KR" altLang="en-US">
                <a:solidFill>
                  <a:srgbClr val="087F82"/>
                </a:solidFill>
                <a:latin typeface="Malgun Gothic"/>
                <a:ea typeface="Malgun Gothic"/>
                <a:cs typeface="Malgun Gothic"/>
              </a:defRPr>
            </a:pPr>
            <a:r>
              <a:rPr sz="2175" b="1" lang="ko-KR" altLang="en-US">
                <a:solidFill>
                  <a:srgbClr val="087F82"/>
                </a:solidFill>
                <a:latin typeface="Malgun Gothic"/>
                <a:ea typeface="Malgun Gothic"/>
                <a:cs typeface="Malgun Gothic"/>
              </a:rPr>
              <a:t>실측 범위</a:t>
            </a:r>
          </a:p>
        </p:txBody>
      </p:sp>
      <p:sp>
        <p:nvSpPr>
          <p:cNvPr id="5" name="">
            <a:extLst xmlns:a="http://schemas.openxmlformats.org/drawingml/2006/main">
              <a:ext uri="{FF2B5EF4-FFF2-40B4-BE49-F238E27FC236}">
                <a16:creationId xmlns:a16="http://schemas.microsoft.com/office/drawing/2014/main" id="{466E786F-7AFC-485A-9F8A-55D454B4A5AB}"/>
              </a:ext>
            </a:extLst>
          </p:cNvPr>
          <p:cNvSpPr>
            <a:spLocks xmlns:a="http://schemas.openxmlformats.org/drawingml/2006/main" noGrp="1"/>
          </p:cNvSpPr>
          <p:nvPr/>
        </p:nvSpPr>
        <p:spPr>
          <a:xfrm xmlns:a="http://schemas.openxmlformats.org/drawingml/2006/main">
            <a:off x="3000375" y="152400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정규 MD5의 W3 12 bits, 길이 4–31 bytes</a:t>
            </a:r>
          </a:p>
          <a:p xmlns:a="http://schemas.openxmlformats.org/drawingml/2006/main">
            <a:pPr algn="l">
              <a:defRPr sz="2175" b="0" lang="ko-KR" altLang="en-US">
                <a:solidFill>
                  <a:srgbClr val="203648"/>
                </a:solidFill>
                <a:latin typeface="Malgun Gothic"/>
                <a:ea typeface="Malgun Gothic"/>
                <a:cs typeface="Malgun Gothic"/>
              </a:defRPr>
            </a:pPr>
            <a:r>
              <a:rPr sz="2175" b="0" lang="ko-KR" altLang="en-US">
                <a:solidFill>
                  <a:srgbClr val="203648"/>
                </a:solidFill>
                <a:latin typeface="Malgun Gothic"/>
                <a:ea typeface="Malgun Gothic"/>
                <a:cs typeface="Malgun Gothic"/>
              </a:rPr>
              <a:t>두 입력 분포, 등록된 모델·학습량·후보 예산</a:t>
            </a:r>
          </a:p>
        </p:txBody>
      </p:sp>
      <p:sp>
        <p:nvSpPr>
          <p:cNvPr id="6" name="">
            <a:extLst xmlns:a="http://schemas.openxmlformats.org/drawingml/2006/main">
              <a:ext uri="{FF2B5EF4-FFF2-40B4-BE49-F238E27FC236}">
                <a16:creationId xmlns:a16="http://schemas.microsoft.com/office/drawing/2014/main" id="{8AE0D5AF-F9A1-4CEE-B923-0239A7B3ABA8}"/>
              </a:ext>
            </a:extLst>
          </p:cNvPr>
          <p:cNvSpPr>
            <a:spLocks xmlns:a="http://schemas.openxmlformats.org/drawingml/2006/main" noGrp="1"/>
          </p:cNvSpPr>
          <p:nvPr/>
        </p:nvSpPr>
        <p:spPr>
          <a:xfrm xmlns:a="http://schemas.openxmlformats.org/drawingml/2006/main">
            <a:off x="609600" y="28098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lang="ko-KR" altLang="en-US">
                <a:solidFill>
                  <a:srgbClr val="087F82"/>
                </a:solidFill>
                <a:latin typeface="Malgun Gothic"/>
                <a:ea typeface="Malgun Gothic"/>
                <a:cs typeface="Malgun Gothic"/>
              </a:defRPr>
            </a:pPr>
            <a:r>
              <a:rPr sz="2100" b="1" lang="ko-KR" altLang="en-US">
                <a:solidFill>
                  <a:srgbClr val="087F82"/>
                </a:solidFill>
                <a:latin typeface="Malgun Gothic"/>
                <a:ea typeface="Malgun Gothic"/>
                <a:cs typeface="Malgun Gothic"/>
              </a:rPr>
              <a:t>효과의 의미</a:t>
            </a:r>
          </a:p>
        </p:txBody>
      </p:sp>
      <p:sp>
        <p:nvSpPr>
          <p:cNvPr id="7" name="">
            <a:extLst xmlns:a="http://schemas.openxmlformats.org/drawingml/2006/main">
              <a:ext uri="{FF2B5EF4-FFF2-40B4-BE49-F238E27FC236}">
                <a16:creationId xmlns:a16="http://schemas.microsoft.com/office/drawing/2014/main" id="{5803ECBB-0E46-425C-B9CB-F4D9C71C6AF1}"/>
              </a:ext>
            </a:extLst>
          </p:cNvPr>
          <p:cNvSpPr>
            <a:spLocks xmlns:a="http://schemas.openxmlformats.org/drawingml/2006/main" noGrp="1"/>
          </p:cNvSpPr>
          <p:nvPr/>
        </p:nvSpPr>
        <p:spPr>
          <a:xfrm xmlns:a="http://schemas.openxmlformats.org/drawingml/2006/main">
            <a:off x="3000375" y="2809875"/>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+0.5%p 이상의 개선을 배제</a:t>
            </a:r>
          </a:p>
          <a:p xmlns:a="http://schemas.openxmlformats.org/drawingml/2006/main">
            <a:pPr algn="l">
              <a:defRPr sz="2100" b="0" lang="ko-KR" altLang="en-US">
                <a:solidFill>
                  <a:srgbClr val="203648"/>
                </a:solidFill>
                <a:latin typeface="Malgun Gothic"/>
                <a:ea typeface="Malgun Gothic"/>
                <a:cs typeface="Malgun Gothic"/>
              </a:defRPr>
            </a:pPr>
            <a:r>
              <a:rPr sz="2100" b="0" lang="ko-KR" altLang="en-US">
                <a:solidFill>
                  <a:srgbClr val="203648"/>
                </a:solidFill>
                <a:latin typeface="Malgun Gothic"/>
                <a:ea typeface="Malgun Gothic"/>
                <a:cs typeface="Malgun Gothic"/>
              </a:rPr>
              <a:t>효과가 정확히 0이거나 모든 모델이 불가능하다는 증명은 아님</a:t>
            </a:r>
          </a:p>
        </p:txBody>
      </p:sp>
      <p:sp>
        <p:nvSpPr>
          <p:cNvPr id="8" name="">
            <a:extLst xmlns:a="http://schemas.openxmlformats.org/drawingml/2006/main">
              <a:ext uri="{FF2B5EF4-FFF2-40B4-BE49-F238E27FC236}">
                <a16:creationId xmlns:a16="http://schemas.microsoft.com/office/drawing/2014/main" id="{3E66235A-79B6-46E5-9C3C-729C9B468207}"/>
              </a:ext>
            </a:extLst>
          </p:cNvPr>
          <p:cNvSpPr>
            <a:spLocks xmlns:a="http://schemas.openxmlformats.org/drawingml/2006/main" noGrp="1"/>
          </p:cNvSpPr>
          <p:nvPr/>
        </p:nvSpPr>
        <p:spPr>
          <a:xfrm xmlns:a="http://schemas.openxmlformats.org/drawingml/2006/main">
            <a:off x="609600" y="40957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lang="ko-KR" altLang="en-US">
                <a:solidFill>
                  <a:srgbClr val="087F82"/>
                </a:solidFill>
                <a:latin typeface="Malgun Gothic"/>
                <a:ea typeface="Malgun Gothic"/>
                <a:cs typeface="Malgun Gothic"/>
              </a:defRPr>
            </a:pPr>
            <a:r>
              <a:rPr sz="2025" b="1" lang="ko-KR" altLang="en-US">
                <a:solidFill>
                  <a:srgbClr val="087F82"/>
                </a:solidFill>
                <a:latin typeface="Malgun Gothic"/>
                <a:ea typeface="Malgun Gothic"/>
                <a:cs typeface="Malgun Gothic"/>
              </a:rPr>
              <a:t>비교와 재현</a:t>
            </a:r>
          </a:p>
        </p:txBody>
      </p:sp>
      <p:sp>
        <p:nvSpPr>
          <p:cNvPr id="9" name="">
            <a:extLst xmlns:a="http://schemas.openxmlformats.org/drawingml/2006/main">
              <a:ext uri="{FF2B5EF4-FFF2-40B4-BE49-F238E27FC236}">
                <a16:creationId xmlns:a16="http://schemas.microsoft.com/office/drawing/2014/main" id="{680B47F5-1B63-423B-BEB0-F39AFB5DCB3C}"/>
              </a:ext>
            </a:extLst>
          </p:cNvPr>
          <p:cNvSpPr>
            <a:spLocks xmlns:a="http://schemas.openxmlformats.org/drawingml/2006/main" noGrp="1"/>
          </p:cNvSpPr>
          <p:nvPr/>
        </p:nvSpPr>
        <p:spPr>
          <a:xfrm xmlns:a="http://schemas.openxmlformats.org/drawingml/2006/main">
            <a:off x="3000375" y="4095750"/>
            <a:ext cx="857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lang="ko-KR" altLang="en-US">
                <a:solidFill>
                  <a:srgbClr val="203648"/>
                </a:solidFill>
                <a:latin typeface="Malgun Gothic"/>
                <a:ea typeface="Malgun Gothic"/>
                <a:cs typeface="Malgun Gothic"/>
              </a:defRPr>
            </a:pPr>
            <a:r>
              <a:rPr sz="2025" b="0" lang="ko-KR" altLang="en-US">
                <a:solidFill>
                  <a:srgbClr val="203648"/>
                </a:solidFill>
                <a:latin typeface="Malgun Gothic"/>
                <a:ea typeface="Malgun Gothic"/>
                <a:cs typeface="Malgun Gothic"/>
              </a:rPr>
              <a:t>파이프라인 대비 12건 중 8건은 ±0.5%p 내, 4건은 미확정</a:t>
            </a:r>
          </a:p>
          <a:p xmlns:a="http://schemas.openxmlformats.org/drawingml/2006/main">
            <a:pPr algn="l">
              <a:defRPr sz="2025" b="0" lang="ko-KR" altLang="en-US">
                <a:solidFill>
                  <a:srgbClr val="203648"/>
                </a:solidFill>
                <a:latin typeface="Malgun Gothic"/>
                <a:ea typeface="Malgun Gothic"/>
                <a:cs typeface="Malgun Gothic"/>
              </a:defRPr>
            </a:pPr>
            <a:r>
              <a:rPr sz="2025" b="0" lang="ko-KR" altLang="en-US">
                <a:solidFill>
                  <a:srgbClr val="203648"/>
                </a:solidFill>
                <a:latin typeface="Malgun Gothic"/>
                <a:ea typeface="Malgun Gothic"/>
                <a:cs typeface="Malgun Gothic"/>
              </a:rPr>
              <a:t>양성 결과가 없어 W4 재현 시험은 수행하지 않음</a:t>
            </a:r>
          </a:p>
        </p:txBody>
      </p:sp>
      <p:sp>
        <p:nvSpPr>
          <p:cNvPr id="10" name="">
            <a:extLst xmlns:a="http://schemas.openxmlformats.org/drawingml/2006/main">
              <a:ext uri="{FF2B5EF4-FFF2-40B4-BE49-F238E27FC236}">
                <a16:creationId xmlns:a16="http://schemas.microsoft.com/office/drawing/2014/main" id="{75D57F90-0753-44E0-85A9-1C40F98721BE}"/>
              </a:ext>
            </a:extLst>
          </p:cNvPr>
          <p:cNvSpPr>
            <a:spLocks xmlns:a="http://schemas.openxmlformats.org/drawingml/2006/main" noGrp="1"/>
          </p:cNvSpPr>
          <p:nvPr/>
        </p:nvSpPr>
        <p:spPr>
          <a:xfrm xmlns:a="http://schemas.openxmlformats.org/drawingml/2006/main">
            <a:off x="609600" y="5219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lang="ko-KR" altLang="en-US">
                <a:solidFill>
                  <a:srgbClr val="5A6B78"/>
                </a:solidFill>
                <a:latin typeface="Malgun Gothic"/>
                <a:ea typeface="Malgun Gothic"/>
                <a:cs typeface="Malgun Gothic"/>
              </a:defRPr>
            </a:pPr>
            <a:r>
              <a:rPr sz="1800" b="0" lang="ko-KR" altLang="en-US">
                <a:solidFill>
                  <a:srgbClr val="5A6B78"/>
                </a:solidFill>
                <a:latin typeface="Malgun Gothic"/>
                <a:ea typeface="Malgun Gothic"/>
                <a:cs typeface="Malgun Gothic"/>
              </a:rPr>
              <a:t>추론은 고정된 시험 목표값 집합·checkpoint·seed에 조건부</a:t>
            </a:r>
          </a:p>
        </p:txBody>
      </p:sp>
      <p:sp>
        <p:nvSpPr>
          <p:cNvPr id="11" name="">
            <a:extLst xmlns:a="http://schemas.openxmlformats.org/drawingml/2006/main">
              <a:ext uri="{FF2B5EF4-FFF2-40B4-BE49-F238E27FC236}">
                <a16:creationId xmlns:a16="http://schemas.microsoft.com/office/drawing/2014/main" id="{71661585-92BE-4248-854F-36CD6FF7495E}"/>
              </a:ext>
            </a:extLst>
          </p:cNvPr>
          <p:cNvSpPr>
            <a:spLocks xmlns:a="http://schemas.openxmlformats.org/drawingml/2006/main" noGrp="1"/>
          </p:cNvSpPr>
          <p:nvPr/>
        </p:nvSpPr>
        <p:spPr>
          <a:xfrm xmlns:a="http://schemas.openxmlformats.org/drawingml/2006/main">
            <a:off x="609600" y="578167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lang="ko-KR" altLang="en-US">
                <a:solidFill>
                  <a:srgbClr val="5A6B78"/>
                </a:solidFill>
                <a:latin typeface="Malgun Gothic"/>
                <a:ea typeface="Malgun Gothic"/>
                <a:cs typeface="Malgun Gothic"/>
              </a:defRPr>
            </a:pPr>
            <a:r>
              <a:rPr sz="1875" b="0" lang="ko-KR" altLang="en-US">
                <a:solidFill>
                  <a:srgbClr val="5A6B78"/>
                </a:solidFill>
                <a:latin typeface="Malgun Gothic"/>
                <a:ea typeface="Malgun Gothic"/>
                <a:cs typeface="Malgun Gothic"/>
              </a:rPr>
              <a:t>전체 128-bit MD5 역상이나 SHA-256의 보안성에 대한 결론은 포함하지 않음</a:t>
            </a:r>
          </a:p>
        </p:txBody>
      </p:sp>
    </p:spTree>
    <p:extLst>
      <p:ext uri="{BB962C8B-B14F-4D97-AF65-F5344CB8AC3E}">
        <p14:creationId xmlns:p14="http://schemas.microsoft.com/office/powerpoint/2010/main" val="15090665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C561EF-2B47-4DAA-8736-9E937A32CB19}"/>
              </a:ext>
            </a:extLst>
          </p:cNvPr>
          <p:cNvSpPr>
            <a:spLocks xmlns:a="http://schemas.openxmlformats.org/drawingml/2006/main" noGrp="1"/>
          </p:cNvSpPr>
          <p:nvPr/>
        </p:nvSpPr>
        <p:spPr>
          <a:xfrm xmlns:a="http://schemas.openxmlformats.org/drawingml/2006/main">
            <a:off x="609600" y="4191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lang="ko-KR" altLang="en-US">
                <a:solidFill>
                  <a:srgbClr val="142C43"/>
                </a:solidFill>
                <a:latin typeface="Malgun Gothic"/>
                <a:ea typeface="Malgun Gothic"/>
                <a:cs typeface="Malgun Gothic"/>
              </a:defRPr>
            </a:pPr>
            <a:r>
              <a:rPr sz="3150" b="1" lang="ko-KR" altLang="en-US">
                <a:solidFill>
                  <a:srgbClr val="142C43"/>
                </a:solidFill>
                <a:latin typeface="Malgun Gothic"/>
                <a:ea typeface="Malgun Gothic"/>
                <a:cs typeface="Malgun Gothic"/>
              </a:rPr>
              <a:t>실험 근거 자료</a:t>
            </a:r>
          </a:p>
        </p:txBody>
      </p:sp>
      <p:sp>
        <p:nvSpPr>
          <p:cNvPr id="2" name="">
            <a:extLst xmlns:a="http://schemas.openxmlformats.org/drawingml/2006/main">
              <a:ext uri="{FF2B5EF4-FFF2-40B4-BE49-F238E27FC236}">
                <a16:creationId xmlns:a16="http://schemas.microsoft.com/office/drawing/2014/main" id="{9ED1601E-85AF-4FA2-B6D9-A4D525A35BC1}"/>
              </a:ext>
            </a:extLst>
          </p:cNvPr>
          <p:cNvSpPr>
            <a:spLocks xmlns:a="http://schemas.openxmlformats.org/drawingml/2006/main" noGrp="1"/>
          </p:cNvSpPr>
          <p:nvPr/>
        </p:nvSpPr>
        <p:spPr>
          <a:xfrm xmlns:a="http://schemas.openxmlformats.org/drawingml/2006/main">
            <a:off x="11239500" y="641032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36</a:t>
            </a:r>
          </a:p>
        </p:txBody>
      </p:sp>
      <p:sp>
        <p:nvSpPr>
          <p:cNvPr id="3" name="">
            <a:extLst xmlns:a="http://schemas.openxmlformats.org/drawingml/2006/main">
              <a:ext uri="{FF2B5EF4-FFF2-40B4-BE49-F238E27FC236}">
                <a16:creationId xmlns:a16="http://schemas.microsoft.com/office/drawing/2014/main" id="{9BA21903-65FB-4513-B3C7-16CE930D755C}"/>
              </a:ext>
            </a:extLst>
          </p:cNvPr>
          <p:cNvSpPr>
            <a:spLocks xmlns:a="http://schemas.openxmlformats.org/drawingml/2006/main" noGrp="1"/>
          </p:cNvSpPr>
          <p:nvPr/>
        </p:nvSpPr>
        <p:spPr>
          <a:xfrm xmlns:a="http://schemas.openxmlformats.org/drawingml/2006/main">
            <a:off x="609600" y="64198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lang="ko-KR" altLang="en-US">
                <a:solidFill>
                  <a:srgbClr val="5A6B78"/>
                </a:solidFill>
                <a:latin typeface="Malgun Gothic"/>
                <a:ea typeface="Malgun Gothic"/>
                <a:cs typeface="Malgun Gothic"/>
              </a:defRPr>
            </a:pPr>
            <a:r>
              <a:rPr sz="1200" b="0" lang="ko-KR" altLang="en-US">
                <a:solidFill>
                  <a:srgbClr val="5A6B78"/>
                </a:solidFill>
                <a:latin typeface="Malgun Gothic"/>
                <a:ea typeface="Malgun Gothic"/>
                <a:cs typeface="Malgun Gothic"/>
              </a:rPr>
              <a:t>근거: 등록 문서와 완료된 실행 기록</a:t>
            </a:r>
          </a:p>
        </p:txBody>
      </p:sp>
      <p:graphicFrame>
        <p:nvGraphicFramePr>
          <p:cNvPr id="9" name=""/>
          <p:cNvGraphicFramePr/>
          <p:nvPr/>
        </p:nvGraphicFramePr>
        <p:xfrm>
          <a:off xmlns:a="http://schemas.openxmlformats.org/drawingml/2006/main" x="609600" y="1647825"/>
          <a:ext xmlns:a="http://schemas.openxmlformats.org/drawingml/2006/main" cx="10972800" cy="3771900"/>
        </p:xfrm>
        <a:graphic xmlns:a="http://schemas.openxmlformats.org/drawingml/2006/main">
          <a:graphicData uri="http://schemas.openxmlformats.org/drawingml/2006/table">
            <a:tbl>
              <a:tblPr firstRow="0" bandRow="0"/>
              <a:tblGrid>
                <a:gridCol w="4610100"/>
                <a:gridCol w="6362700"/>
              </a:tblGrid>
              <a:tr h="628650">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자료</a:t>
                      </a:r>
                    </a:p>
                  </a:txBody>
                  <a:tcPr marL="91440" marR="91440" marT="45720" marB="45720" anchor="ctr">
                    <a:solidFill>
                      <a:srgbClr val="142C43"/>
                    </a:solidFill>
                  </a:tcPr>
                </a:tc>
                <a:tc>
                  <a:txBody>
                    <a:bodyPr wrap="square" lIns="133350" tIns="76200" rIns="133350" bIns="76200">
                      <a:noAutofit/>
                    </a:bodyPr>
                    <a:lstStyle/>
                    <a:p>
                      <a:pPr algn="l"/>
                      <a:r>
                        <a:rPr sz="1800" b="1" lang="ko-KR" altLang="en-US">
                          <a:solidFill>
                            <a:srgbClr val="FFFFFF"/>
                          </a:solidFill>
                          <a:latin typeface="Malgun Gothic"/>
                          <a:ea typeface="Malgun Gothic"/>
                          <a:cs typeface="Malgun Gothic"/>
                        </a:rPr>
                        <a:t>확인할 내용</a:t>
                      </a:r>
                    </a:p>
                  </a:txBody>
                  <a:tcPr marL="91440" marR="91440" marT="45720" marB="45720" anchor="ctr">
                    <a:solidFill>
                      <a:srgbClr val="142C43"/>
                    </a:solidFill>
                  </a:tcPr>
                </a:tc>
              </a:tr>
              <a:tr h="62865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등록 프로토콜 / 연구 계획</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모델, 학습 조건, 평가 지표와 판정 규칙</a:t>
                      </a:r>
                    </a:p>
                  </a:txBody>
                  <a:tcPr marL="91440" marR="91440" marT="45720" marB="45720" anchor="ctr">
                    <a:solidFill>
                      <a:srgbClr val="F2F5F7"/>
                    </a:solidFill>
                  </a:tcPr>
                </a:tc>
              </a:tr>
              <a:tr h="62865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protocol.frozen.json</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실제 선택된 생성 단계·배치·학습량</a:t>
                      </a:r>
                    </a:p>
                  </a:txBody>
                  <a:tcPr marL="91440" marR="91440" marT="45720" marB="45720" anchor="ctr">
                    <a:solidFill>
                      <a:srgbClr val="FFFFFF"/>
                    </a:solidFill>
                  </a:tcPr>
                </a:tc>
              </a:tr>
              <a:tr h="62865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decision.json</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종합 판정, 성공률, 효과 구간, 계산 비용</a:t>
                      </a:r>
                    </a:p>
                  </a:txBody>
                  <a:tcPr marL="91440" marR="91440" marT="45720" marB="45720" anchor="ctr">
                    <a:solidFill>
                      <a:srgbClr val="F2F5F7"/>
                    </a:solidFill>
                  </a:tcPr>
                </a:tc>
              </a:tr>
              <a:tr h="62865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A.json / C.json / P.json / S.json</a:t>
                      </a:r>
                    </a:p>
                  </a:txBody>
                  <a:tcPr marL="91440" marR="91440" marT="45720" marB="45720" anchor="ctr">
                    <a:solidFill>
                      <a:srgbClr val="FFFFFF"/>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적격성, 주 실험, 양성 대조, 규모 확대 결과</a:t>
                      </a:r>
                    </a:p>
                  </a:txBody>
                  <a:tcPr marL="91440" marR="91440" marT="45720" marB="45720" anchor="ctr">
                    <a:solidFill>
                      <a:srgbClr val="FFFFFF"/>
                    </a:solidFill>
                  </a:tcPr>
                </a:tc>
              </a:tr>
              <a:tr h="628650">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budget.json / 최종 실행 보고서</a:t>
                      </a:r>
                    </a:p>
                  </a:txBody>
                  <a:tcPr marL="91440" marR="91440" marT="45720" marB="45720" anchor="ctr">
                    <a:solidFill>
                      <a:srgbClr val="F2F5F7"/>
                    </a:solidFill>
                  </a:tcPr>
                </a:tc>
                <a:tc>
                  <a:txBody>
                    <a:bodyPr wrap="square" lIns="133350" tIns="76200" rIns="133350" bIns="76200">
                      <a:noAutofit/>
                    </a:bodyPr>
                    <a:lstStyle/>
                    <a:p>
                      <a:pPr algn="l"/>
                      <a:r>
                        <a:rPr sz="1875" b="0" lang="ko-KR" altLang="en-US">
                          <a:solidFill>
                            <a:srgbClr val="203648"/>
                          </a:solidFill>
                          <a:latin typeface="Malgun Gothic"/>
                          <a:ea typeface="Malgun Gothic"/>
                          <a:cs typeface="Malgun Gothic"/>
                        </a:rPr>
                        <a:t>단계별 사용 시간과 실측 처리량</a:t>
                      </a:r>
                    </a:p>
                  </a:txBody>
                  <a:tcPr marL="91440" marR="91440" marT="45720" marB="45720" anchor="ctr">
                    <a:solidFill>
                      <a:srgbClr val="F2F5F7"/>
                    </a:solidFill>
                  </a:tcPr>
                </a:tc>
              </a:tr>
            </a:tbl>
          </a:graphicData>
        </a:graphic>
      </p:graphicFrame>
      <p:sp>
        <p:nvSpPr>
          <p:cNvPr id="5" name="">
            <a:extLst xmlns:a="http://schemas.openxmlformats.org/drawingml/2006/main">
              <a:ext uri="{FF2B5EF4-FFF2-40B4-BE49-F238E27FC236}">
                <a16:creationId xmlns:a16="http://schemas.microsoft.com/office/drawing/2014/main" id="{D32B445D-FBD1-41E8-A727-41F11C39A867}"/>
              </a:ext>
            </a:extLst>
          </p:cNvPr>
          <p:cNvSpPr>
            <a:spLocks xmlns:a="http://schemas.openxmlformats.org/drawingml/2006/main" noGrp="1"/>
          </p:cNvSpPr>
          <p:nvPr/>
        </p:nvSpPr>
        <p:spPr>
          <a:xfrm xmlns:a="http://schemas.openxmlformats.org/drawingml/2006/main">
            <a:off x="609600" y="57721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lang="ko-KR" altLang="en-US">
                <a:solidFill>
                  <a:srgbClr val="087F82"/>
                </a:solidFill>
                <a:latin typeface="Malgun Gothic"/>
                <a:ea typeface="Malgun Gothic"/>
                <a:cs typeface="Malgun Gothic"/>
              </a:defRPr>
            </a:pPr>
            <a:r>
              <a:rPr sz="1875" b="1" lang="ko-KR" altLang="en-US">
                <a:solidFill>
                  <a:srgbClr val="087F82"/>
                </a:solidFill>
                <a:latin typeface="Malgun Gothic"/>
                <a:ea typeface="Malgun Gothic"/>
                <a:cs typeface="Malgun Gothic"/>
              </a:rPr>
              <a:t>설정값은 봉인된 프로토콜, 결과값은 완료된 실행 기록을 기준으로 정리</a:t>
            </a:r>
          </a:p>
        </p:txBody>
      </p:sp>
    </p:spTree>
    <p:extLst>
      <p:ext uri="{BB962C8B-B14F-4D97-AF65-F5344CB8AC3E}">
        <p14:creationId xmlns:p14="http://schemas.microsoft.com/office/powerpoint/2010/main" val="427195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algun Gothic"/>
        <a:ea typeface="Malgun Gothic"/>
        <a:cs typeface="Malgun Gothic"/>
        <a:font script="Hang" typeface="Malgun Gothic"/>
      </a:majorFont>
      <a:minorFont>
        <a:latin typeface="Malgun Gothic"/>
        <a:ea typeface="Malgun Gothic"/>
        <a:cs typeface="Malgun Gothic"/>
        <a:font script="Hang" typeface="Malgun 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2026-10-04T07:25:09.6310000Z</dcterms:created>
  <dcterms:modified xsi:type="dcterms:W3CDTF">2026-10-04T07:25:09.6310000Z</dcterms:modified>
</coreProperties>
</file>
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개요" id="{b480dbaa-0084-47a9-c754-1d62eb149a8c}">
          <p14:sldIdLst>
            <p14:sldId id="256"/>
            <p14:sldId id="257"/>
          </p14:sldIdLst>
        </p14:section>
        <p14:section name="01 목적" id="{5997b230-b4ac-59cf-9215-d932ebb62f2c}">
          <p14:sldIdLst>
            <p14:sldId id="258"/>
            <p14:sldId id="259"/>
            <p14:sldId id="260"/>
          </p14:sldIdLst>
        </p14:section>
        <p14:section name="02 과정" id="{d0b009f3-2465-b231-16e2-90c29d855d6f}">
          <p14:sldIdLst>
            <p14:sldId id="261"/>
            <p14:sldId id="262"/>
            <p14:sldId id="263"/>
            <p14:sldId id="264"/>
            <p14:sldId id="265"/>
          </p14:sldIdLst>
        </p14:section>
        <p14:section name="03 결과" id="{e7e543d2-0be5-a345-668e-656343132de4}">
          <p14:sldIdLst>
            <p14:sldId id="266"/>
            <p14:sldId id="267"/>
            <p14:sldId id="268"/>
            <p14:sldId id="269"/>
            <p14:sldId id="270"/>
            <p14:sldId id="271"/>
            <p14:sldId id="272"/>
            <p14:sldId id="273"/>
            <p14:sldId id="274"/>
            <p14:sldId id="275"/>
          </p14:sldIdLst>
        </p14:section>
        <p14:section name="04 결론" id="{99c092f8-4bf3-5f20-e9f2-f99f4efdc8b6}">
          <p14:sldIdLst>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02B"/>
                </a:solidFill>
                <a:latin typeface="+mn-lt"/>
              </a:defRPr>
            </a:pPr>
            <a:r>
              <a:rPr sz="1300" b="0" i="0" u="none" strike="noStrike">
                <a:solidFill>
                  <a:srgbClr val="15202B"/>
                </a:solidFill>
                <a:latin typeface="+mn-lt"/>
              </a:rPr>
              <a:t>단계별 사용 시간과 cap (시간)</a:t>
            </a:r>
          </a:p>
        </c:rich>
      </c:tx>
      <c:layout/>
      <c:overlay val="0"/>
    </c:title>
    <c:autoTitleDeleted val="0"/>
    <c:plotArea>
      <c:layout/>
      <c:barChart>
        <c:barDir val="bar"/>
        <c:grouping val="clustered"/>
        <c:varyColors val="0"/>
        <c:ser>
          <c:idx val="0"/>
          <c:order val="0"/>
          <c:tx>
            <c:strRef>
              <c:f>Sheet1!$B$1</c:f>
              <c:strCache>
                <c:ptCount val="1"/>
                <c:pt idx="0">
                  <c:v>사용 시간</c:v>
                </c:pt>
              </c:strCache>
            </c:strRef>
          </c:tx>
          <c:spPr>
            <a:solidFill>
              <a:srgbClr val="D9731A"/>
            </a:solidFill>
            <a:effectLst/>
          </c:spPr>
          <c:invertIfNegative val="0"/>
          <c:dLbls>
            <c:numFmt formatCode="0.0" sourceLinked="0"/>
            <c:txPr>
              <a:bodyPr/>
              <a:lstStyle/>
              <a:p>
                <a:pPr>
                  <a:defRPr b="0" i="0" strike="noStrike" sz="11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Stage A</c:v>
                  </c:pt>
                  <c:pt idx="1">
                    <c:v>Stage C</c:v>
                  </c:pt>
                  <c:pt idx="2">
                    <c:v>Stage P</c:v>
                  </c:pt>
                  <c:pt idx="3">
                    <c:v>Stage S</c:v>
                  </c:pt>
                  <c:pt idx="4">
                    <c:v>Stage R</c:v>
                  </c:pt>
                </c:lvl>
              </c:multiLvlStrCache>
            </c:multiLvlStrRef>
          </c:cat>
          <c:val>
            <c:numRef>
              <c:f>Sheet1!$B$2:$B$6</c:f>
              <c:numCache>
                <c:formatCode>General</c:formatCode>
                <c:ptCount val="5"/>
                <c:pt idx="0">
                  <c:v>15.7</c:v>
                </c:pt>
                <c:pt idx="1">
                  <c:v>41.2</c:v>
                </c:pt>
                <c:pt idx="2">
                  <c:v>5</c:v>
                </c:pt>
                <c:pt idx="3">
                  <c:v>5.4</c:v>
                </c:pt>
                <c:pt idx="4">
                  <c:v>0</c:v>
                </c:pt>
              </c:numCache>
            </c:numRef>
          </c:val>
        </c:ser>
        <c:ser>
          <c:idx val="1"/>
          <c:order val="1"/>
          <c:tx>
            <c:strRef>
              <c:f>Sheet1!$C$1</c:f>
              <c:strCache>
                <c:ptCount val="1"/>
                <c:pt idx="0">
                  <c:v>cap</c:v>
                </c:pt>
              </c:strCache>
            </c:strRef>
          </c:tx>
          <c:spPr>
            <a:solidFill>
              <a:srgbClr val="AEB8C3"/>
            </a:solidFill>
            <a:effectLst/>
          </c:spPr>
          <c:invertIfNegative val="0"/>
          <c:dLbls>
            <c:numFmt formatCode="0.0" sourceLinked="0"/>
            <c:txPr>
              <a:bodyPr/>
              <a:lstStyle/>
              <a:p>
                <a:pPr>
                  <a:defRPr b="0" i="0" strike="noStrike" sz="11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Stage A</c:v>
                  </c:pt>
                  <c:pt idx="1">
                    <c:v>Stage C</c:v>
                  </c:pt>
                  <c:pt idx="2">
                    <c:v>Stage P</c:v>
                  </c:pt>
                  <c:pt idx="3">
                    <c:v>Stage S</c:v>
                  </c:pt>
                  <c:pt idx="4">
                    <c:v>Stage R</c:v>
                  </c:pt>
                </c:lvl>
              </c:multiLvlStrCache>
            </c:multiLvlStrRef>
          </c:cat>
          <c:val>
            <c:numRef>
              <c:f>Sheet1!$C$2:$C$6</c:f>
              <c:numCache>
                <c:formatCode>General</c:formatCode>
                <c:ptCount val="5"/>
                <c:pt idx="0">
                  <c:v>24</c:v>
                </c:pt>
                <c:pt idx="1">
                  <c:v>80</c:v>
                </c:pt>
                <c:pt idx="2">
                  <c:v>10</c:v>
                </c:pt>
                <c:pt idx="3">
                  <c:v>10</c:v>
                </c:pt>
                <c:pt idx="4">
                  <c:v>36</c:v>
                </c:pt>
              </c:numCache>
            </c:numRef>
          </c:val>
        </c:ser>
        <c:dLbls>
          <c:numFmt formatCode="0.0" sourceLinked="0"/>
          <c:txPr>
            <a:bodyPr/>
            <a:lstStyle/>
            <a:p>
              <a:pPr>
                <a:defRPr b="0" i="0" strike="noStrike" sz="1100" u="none">
                  <a:solidFill>
                    <a:srgbClr val="1520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5202B"/>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b"/>
        <c:majorGridlines>
          <c:spPr>
            <a:ln w="9525"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8"/>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5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02B"/>
                </a:solidFill>
                <a:latin typeface="+mn-lt"/>
              </a:defRPr>
            </a:pPr>
            <a:r>
              <a:rPr sz="1300" b="0" i="0" u="none" strike="noStrike">
                <a:solidFill>
                  <a:srgbClr val="15202B"/>
                </a:solidFill>
                <a:latin typeface="+mn-lt"/>
              </a:rPr>
              <a:t>Success@100 (%), look 2, seed 3개 평균</a:t>
            </a:r>
          </a:p>
        </c:rich>
      </c:tx>
      <c:layout/>
      <c:overlay val="0"/>
    </c:title>
    <c:autoTitleDeleted val="0"/>
    <c:plotArea>
      <c:layout/>
      <c:barChart>
        <c:barDir val="col"/>
        <c:grouping val="clustered"/>
        <c:varyColors val="0"/>
        <c:ser>
          <c:idx val="0"/>
          <c:order val="0"/>
          <c:tx>
            <c:strRef>
              <c:f>Sheet1!$B$1</c:f>
              <c:strCache>
                <c:ptCount val="1"/>
                <c:pt idx="0">
                  <c:v>Main</c:v>
                </c:pt>
              </c:strCache>
            </c:strRef>
          </c:tx>
          <c:spPr>
            <a:solidFill>
              <a:srgbClr val="D9731A"/>
            </a:solidFill>
            <a:effectLst/>
          </c:spPr>
          <c:invertIfNegative val="0"/>
          <c:dLbls>
            <c:numFmt formatCode="0.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Sheet1!$B$2:$B$6</c:f>
              <c:numCache>
                <c:formatCode>General</c:formatCode>
                <c:ptCount val="5"/>
                <c:pt idx="0">
                  <c:v>2.309</c:v>
                </c:pt>
                <c:pt idx="1">
                  <c:v>2.49</c:v>
                </c:pt>
                <c:pt idx="2">
                  <c:v>2.551</c:v>
                </c:pt>
                <c:pt idx="3">
                  <c:v>2.407</c:v>
                </c:pt>
                <c:pt idx="4">
                  <c:v>2.411</c:v>
                </c:pt>
              </c:numCache>
            </c:numRef>
          </c:val>
        </c:ser>
        <c:ser>
          <c:idx val="1"/>
          <c:order val="1"/>
          <c:tx>
            <c:strRef>
              <c:f>Sheet1!$C$1</c:f>
              <c:strCache>
                <c:ptCount val="1"/>
                <c:pt idx="0">
                  <c:v>Shuffled</c:v>
                </c:pt>
              </c:strCache>
            </c:strRef>
          </c:tx>
          <c:spPr>
            <a:solidFill>
              <a:srgbClr val="5F6B78"/>
            </a:solidFill>
            <a:effectLst/>
          </c:spPr>
          <c:invertIfNegative val="0"/>
          <c:dLbls>
            <c:numFmt formatCode="0.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Sheet1!$C$2:$C$6</c:f>
              <c:numCache>
                <c:formatCode>General</c:formatCode>
                <c:ptCount val="5"/>
                <c:pt idx="0">
                  <c:v>2.401</c:v>
                </c:pt>
                <c:pt idx="1">
                  <c:v>2.431</c:v>
                </c:pt>
                <c:pt idx="2">
                  <c:v>2.482</c:v>
                </c:pt>
                <c:pt idx="3">
                  <c:v>2.427</c:v>
                </c:pt>
                <c:pt idx="4">
                  <c:v>2.411</c:v>
                </c:pt>
              </c:numCache>
            </c:numRef>
          </c:val>
        </c:ser>
        <c:ser>
          <c:idx val="2"/>
          <c:order val="2"/>
          <c:tx>
            <c:strRef>
              <c:f>Sheet1!$D$1</c:f>
              <c:strCache>
                <c:ptCount val="1"/>
                <c:pt idx="0">
                  <c:v>Random</c:v>
                </c:pt>
              </c:strCache>
            </c:strRef>
          </c:tx>
          <c:spPr>
            <a:solidFill>
              <a:srgbClr val="AEB8C3"/>
            </a:solidFill>
            <a:effectLst/>
          </c:spPr>
          <c:invertIfNegative val="0"/>
          <c:dLbls>
            <c:numFmt formatCode="0.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Sheet1!$D$2:$D$6</c:f>
              <c:numCache>
                <c:formatCode>General</c:formatCode>
                <c:ptCount val="5"/>
                <c:pt idx="0">
                  <c:v>2.494</c:v>
                </c:pt>
                <c:pt idx="1">
                  <c:v>2.494</c:v>
                </c:pt>
                <c:pt idx="2">
                  <c:v>2.494</c:v>
                </c:pt>
                <c:pt idx="3">
                  <c:v>2.445</c:v>
                </c:pt>
                <c:pt idx="4">
                  <c:v>2.445</c:v>
                </c:pt>
              </c:numCache>
            </c:numRef>
          </c:val>
        </c:ser>
        <c:dLbls>
          <c:numFmt formatCode="0.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5202B"/>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l"/>
        <c:majorGridlines>
          <c:spPr>
            <a:ln w="9525" cap="flat">
              <a:solidFill>
                <a:srgbClr val="E3E8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8"/>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5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02B"/>
                </a:solidFill>
                <a:latin typeface="+mn-lt"/>
              </a:defRPr>
            </a:pPr>
            <a:r>
              <a:rPr sz="1300" b="0" i="0" u="none" strike="noStrike">
                <a:solidFill>
                  <a:srgbClr val="15202B"/>
                </a:solidFill>
                <a:latin typeface="+mn-lt"/>
              </a:rPr>
              <a:t>r=4 Success@100 (%), 4,096 trials</a:t>
            </a:r>
          </a:p>
        </c:rich>
      </c:tx>
      <c:layout/>
      <c:overlay val="0"/>
    </c:title>
    <c:autoTitleDeleted val="0"/>
    <c:plotArea>
      <c:layout/>
      <c:barChart>
        <c:barDir val="col"/>
        <c:grouping val="clustered"/>
        <c:varyColors val="0"/>
        <c:ser>
          <c:idx val="0"/>
          <c:order val="0"/>
          <c:tx>
            <c:strRef>
              <c:f>Sheet1!$B$1</c:f>
              <c:strCache>
                <c:ptCount val="1"/>
                <c:pt idx="0">
                  <c:v>Main</c:v>
                </c:pt>
              </c:strCache>
            </c:strRef>
          </c:tx>
          <c:spPr>
            <a:solidFill>
              <a:srgbClr val="D9731A"/>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Sheet1!$B$2:$B$6</c:f>
              <c:numCache>
                <c:formatCode>General</c:formatCode>
                <c:ptCount val="5"/>
                <c:pt idx="0">
                  <c:v>18.04</c:v>
                </c:pt>
                <c:pt idx="1">
                  <c:v>15.14</c:v>
                </c:pt>
                <c:pt idx="2">
                  <c:v>18.04</c:v>
                </c:pt>
                <c:pt idx="3">
                  <c:v>99.98</c:v>
                </c:pt>
                <c:pt idx="4">
                  <c:v>100</c:v>
                </c:pt>
              </c:numCache>
            </c:numRef>
          </c:val>
        </c:ser>
        <c:ser>
          <c:idx val="1"/>
          <c:order val="1"/>
          <c:tx>
            <c:strRef>
              <c:f>Sheet1!$C$1</c:f>
              <c:strCache>
                <c:ptCount val="1"/>
                <c:pt idx="0">
                  <c:v>MC (다른 target)</c:v>
                </c:pt>
              </c:strCache>
            </c:strRef>
          </c:tx>
          <c:spPr>
            <a:solidFill>
              <a:srgbClr val="5F6B78"/>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Sheet1!$C$2:$C$6</c:f>
              <c:numCache>
                <c:formatCode>General</c:formatCode>
                <c:ptCount val="5"/>
                <c:pt idx="0">
                  <c:v>0.17</c:v>
                </c:pt>
                <c:pt idx="1">
                  <c:v>1.42</c:v>
                </c:pt>
                <c:pt idx="2">
                  <c:v>0.17</c:v>
                </c:pt>
                <c:pt idx="3">
                  <c:v>0.68</c:v>
                </c:pt>
                <c:pt idx="4">
                  <c:v>0.15</c:v>
                </c:pt>
              </c:numCache>
            </c:numRef>
          </c:val>
        </c:ser>
        <c:ser>
          <c:idx val="2"/>
          <c:order val="2"/>
          <c:tx>
            <c:strRef>
              <c:f>Sheet1!$D$1</c:f>
              <c:strCache>
                <c:ptCount val="1"/>
                <c:pt idx="0">
                  <c:v>Random</c:v>
                </c:pt>
              </c:strCache>
            </c:strRef>
          </c:tx>
          <c:spPr>
            <a:solidFill>
              <a:srgbClr val="AEB8C3"/>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Sheet1!$D$2:$D$6</c:f>
              <c:numCache>
                <c:formatCode>General</c:formatCode>
                <c:ptCount val="5"/>
                <c:pt idx="0">
                  <c:v>2.17</c:v>
                </c:pt>
                <c:pt idx="1">
                  <c:v>2.17</c:v>
                </c:pt>
                <c:pt idx="2">
                  <c:v>2.17</c:v>
                </c:pt>
                <c:pt idx="3">
                  <c:v>2.25</c:v>
                </c:pt>
                <c:pt idx="4">
                  <c:v>2.25</c:v>
                </c:pt>
              </c:numCache>
            </c:numRef>
          </c:val>
        </c:ser>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5202B"/>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8"/>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5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02B"/>
                </a:solidFill>
                <a:latin typeface="+mn-lt"/>
              </a:defRPr>
            </a:pPr>
            <a:r>
              <a:rPr sz="1300" b="0" i="0" u="none" strike="noStrike">
                <a:solidFill>
                  <a:srgbClr val="15202B"/>
                </a:solidFill>
                <a:latin typeface="+mn-lt"/>
              </a:rPr>
              <a:t>CLP z (one-sided)</a:t>
            </a:r>
          </a:p>
        </c:rich>
      </c:tx>
      <c:layout/>
      <c:overlay val="0"/>
    </c:title>
    <c:autoTitleDeleted val="0"/>
    <c:plotArea>
      <c:layout/>
      <c:barChart>
        <c:barDir val="col"/>
        <c:grouping val="clustered"/>
        <c:varyColors val="0"/>
        <c:ser>
          <c:idx val="0"/>
          <c:order val="0"/>
          <c:tx>
            <c:strRef>
              <c:f>Sheet1!$B$1</c:f>
              <c:strCache>
                <c:ptCount val="1"/>
                <c:pt idx="0">
                  <c:v>synthetic</c:v>
                </c:pt>
              </c:strCache>
            </c:strRef>
          </c:tx>
          <c:spPr>
            <a:solidFill>
              <a:srgbClr val="AEB8C3"/>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Sheet1!$B$2:$B$6</c:f>
              <c:numCache>
                <c:formatCode>General</c:formatCode>
                <c:ptCount val="5"/>
                <c:pt idx="0">
                  <c:v>104.8</c:v>
                </c:pt>
                <c:pt idx="1">
                  <c:v>115.9</c:v>
                </c:pt>
                <c:pt idx="2">
                  <c:v>102.9</c:v>
                </c:pt>
                <c:pt idx="3">
                  <c:v>107.6</c:v>
                </c:pt>
                <c:pt idx="4">
                  <c:v>101.9</c:v>
                </c:pt>
              </c:numCache>
            </c:numRef>
          </c:val>
        </c:ser>
        <c:ser>
          <c:idx val="1"/>
          <c:order val="1"/>
          <c:tx>
            <c:strRef>
              <c:f>Sheet1!$C$1</c:f>
              <c:strCache>
                <c:ptCount val="1"/>
                <c:pt idx="0">
                  <c:v>r = 4</c:v>
                </c:pt>
              </c:strCache>
            </c:strRef>
          </c:tx>
          <c:spPr>
            <a:solidFill>
              <a:srgbClr val="2F6F7E"/>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Sheet1!$C$2:$C$6</c:f>
              <c:numCache>
                <c:formatCode>General</c:formatCode>
                <c:ptCount val="5"/>
                <c:pt idx="0">
                  <c:v>187.3</c:v>
                </c:pt>
                <c:pt idx="1">
                  <c:v>114.3</c:v>
                </c:pt>
                <c:pt idx="2">
                  <c:v>181.8</c:v>
                </c:pt>
                <c:pt idx="3">
                  <c:v>197.4</c:v>
                </c:pt>
                <c:pt idx="4">
                  <c:v>183.3</c:v>
                </c:pt>
              </c:numCache>
            </c:numRef>
          </c:val>
        </c:ser>
        <c:ser>
          <c:idx val="2"/>
          <c:order val="2"/>
          <c:tx>
            <c:strRef>
              <c:f>Sheet1!$D$1</c:f>
              <c:strCache>
                <c:ptCount val="1"/>
                <c:pt idx="0">
                  <c:v>MD5-64</c:v>
                </c:pt>
              </c:strCache>
            </c:strRef>
          </c:tx>
          <c:spPr>
            <a:solidFill>
              <a:srgbClr val="D9731A"/>
            </a:solidFill>
            <a:effectLst/>
          </c:spPr>
          <c:invertIfNegative val="0"/>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cat>
            <c:multiLvlStrRef>
              <c:f>Sheet1!$A$2:$A$6</c:f>
              <c:multiLvlStrCache>
                <c:ptCount val="5"/>
                <c:lvl>
                  <c:pt idx="0">
                    <c:v>P-G-BGV</c:v>
                  </c:pt>
                  <c:pt idx="1">
                    <c:v>P-G-CGGE</c:v>
                  </c:pt>
                  <c:pt idx="2">
                    <c:v>P-DISC</c:v>
                  </c:pt>
                  <c:pt idx="3">
                    <c:v>R-G-BGV</c:v>
                  </c:pt>
                  <c:pt idx="4">
                    <c:v>R-DISC</c:v>
                  </c:pt>
                </c:lvl>
              </c:multiLvlStrCache>
            </c:multiLvlStrRef>
          </c:cat>
          <c:val>
            <c:numRef>
              <c:f>Sheet1!$D$2:$D$6</c:f>
              <c:numCache>
                <c:formatCode>General</c:formatCode>
                <c:ptCount val="5"/>
                <c:pt idx="0">
                  <c:v>0.1</c:v>
                </c:pt>
                <c:pt idx="1">
                  <c:v>0.12</c:v>
                </c:pt>
                <c:pt idx="2">
                  <c:v>0.32</c:v>
                </c:pt>
                <c:pt idx="3">
                  <c:v>0.25</c:v>
                </c:pt>
                <c:pt idx="4">
                  <c:v>-0.36</c:v>
                </c:pt>
              </c:numCache>
            </c:numRef>
          </c:val>
        </c:ser>
        <c:dLbls>
          <c:numFmt formatCode="0.0" sourceLinked="0"/>
          <c:txPr>
            <a:bodyPr/>
            <a:lstStyle/>
            <a:p>
              <a:pPr>
                <a:defRPr b="0" i="0" strike="noStrike" sz="1000" u="none">
                  <a:solidFill>
                    <a:srgbClr val="1520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5202B"/>
                </a:solidFill>
                <a:latin typeface="+mn-lt"/>
              </a:defRPr>
            </a:pPr>
            <a:endParaRPr lang="en-US"/>
          </a:p>
        </c:txPr>
        <c:crossAx val="2094734552"/>
        <c:crosses val="autoZero"/>
        <c:auto val="1"/>
        <c:lblAlgn val="ctr"/>
        <c:noMultiLvlLbl val="1"/>
      </c:catAx>
      <c:valAx>
        <c:axId val="2094734552"/>
        <c:scaling>
          <c:orientation val="minMax"/>
          <c:max val="220"/>
          <c:min val="0"/>
        </c:scaling>
        <c:delete val="0"/>
        <c:axPos val="l"/>
        <c:majorGridlines>
          <c:spPr>
            <a:ln w="9525" cap="flat">
              <a:solidFill>
                <a:srgbClr val="E3E8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B78"/>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solidFill>
                <a:srgbClr val="1520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202B"/>
                </a:solidFill>
                <a:latin typeface="+mn-lt"/>
              </a:defRPr>
            </a:pPr>
            <a:r>
              <a:rPr sz="1300" b="0" i="0" u="none" strike="noStrike">
                <a:solidFill>
                  <a:srgbClr val="15202B"/>
                </a:solidFill>
                <a:latin typeface="+mn-lt"/>
              </a:rPr>
              <a:t>Success@100 (%), 4,096 trials, 기술통계</a:t>
            </a:r>
          </a:p>
        </c:rich>
      </c:tx>
      <c:layout/>
      <c:overlay val="0"/>
    </c:title>
    <c:autoTitleDeleted val="0"/>
    <c:plotArea>
      <c:layout/>
      <c:barChart>
        <c:barDir val="bar"/>
        <c:grouping val="clustered"/>
        <c:varyColors val="0"/>
        <c:ser>
          <c:idx val="0"/>
          <c:order val="0"/>
          <c:tx>
            <c:strRef>
              <c:f>Sheet1!$B$1</c:f>
              <c:strCache>
                <c:ptCount val="1"/>
                <c:pt idx="0">
                  <c:v>Success@100</c:v>
                </c:pt>
              </c:strCache>
            </c:strRef>
          </c:tx>
          <c:spPr>
            <a:solidFill>
              <a:srgbClr val="D9731A"/>
            </a:solidFill>
            <a:effectLst/>
          </c:spPr>
          <c:invertIfNegative val="0"/>
          <c:dLbls>
            <c:numFmt formatCode="0.000" sourceLinked="0"/>
            <c:txPr>
              <a:bodyPr/>
              <a:lstStyle/>
              <a:p>
                <a:pPr>
                  <a:defRPr b="0" i="0" strike="noStrike" sz="1100" u="none">
                    <a:solidFill>
                      <a:srgbClr val="15202B"/>
                    </a:solidFill>
                    <a:latin typeface="+mn-lt"/>
                  </a:defRPr>
                </a:pPr>
              </a:p>
            </c:txPr>
            <c:showLegendKey val="0"/>
            <c:showVal val="1"/>
            <c:showCatName val="0"/>
            <c:showSerName val="0"/>
            <c:showPercent val="0"/>
            <c:showBubbleSize val="0"/>
            <c:showLeaderLines val="0"/>
          </c:dLbls>
          <c:cat>
            <c:multiLvlStrRef>
              <c:f>Sheet1!$A$2:$A$4</c:f>
              <c:multiLvlStrCache>
                <c:ptCount val="3"/>
                <c:lvl>
                  <c:pt idx="0">
                    <c:v>Main</c:v>
                  </c:pt>
                  <c:pt idx="1">
                    <c:v>Random</c:v>
                  </c:pt>
                  <c:pt idx="2">
                    <c:v>MC</c:v>
                  </c:pt>
                </c:lvl>
              </c:multiLvlStrCache>
            </c:multiLvlStrRef>
          </c:cat>
          <c:val>
            <c:numRef>
              <c:f>Sheet1!$B$2:$B$4</c:f>
              <c:numCache>
                <c:formatCode>General</c:formatCode>
                <c:ptCount val="3"/>
                <c:pt idx="0">
                  <c:v>2.246</c:v>
                </c:pt>
                <c:pt idx="1">
                  <c:v>2.319</c:v>
                </c:pt>
                <c:pt idx="2">
                  <c:v>2.393</c:v>
                </c:pt>
              </c:numCache>
            </c:numRef>
          </c:val>
        </c:ser>
        <c:dLbls>
          <c:numFmt formatCode="0.000" sourceLinked="0"/>
          <c:txPr>
            <a:bodyPr/>
            <a:lstStyle/>
            <a:p>
              <a:pPr>
                <a:defRPr b="0" i="0" strike="noStrike" sz="1100" u="none">
                  <a:solidFill>
                    <a:srgbClr val="1520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5202B"/>
                </a:solidFill>
                <a:latin typeface="+mn-lt"/>
              </a:defRPr>
            </a:pPr>
            <a:endParaRPr lang="en-US"/>
          </a:p>
        </c:txPr>
        <c:crossAx val="2094734552"/>
        <c:crosses val="autoZero"/>
        <c:auto val="1"/>
        <c:lblAlgn val="ctr"/>
        <c:noMultiLvlLbl val="1"/>
      </c:catAx>
      <c:valAx>
        <c:axId val="2094734552"/>
        <c:scaling>
          <c:orientation val="minMax"/>
          <c:max val="3"/>
          <c:min val="0"/>
        </c:scaling>
        <c:delete val="0"/>
        <c:axPos val="b"/>
        <c:majorGridlines>
          <c:spPr>
            <a:ln w="9525" cap="flat">
              <a:solidFill>
                <a:srgbClr val="E3E8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78"/>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V6는 이 연구의 마지막 실험입니다. 질문은 하나입니다. MD5 해시값의 일부를 조건으로 학습한 diffusion 모델이, 학습에 없던 해시값에 대해 역상 후보를 무작위 추측보다 잘 만드는가. 오늘은 실험의 목적, 과정, 결과, 결론 순서로 말씀드리겠습니다. 결론부터 말씀드리면 5개 파이프라인 모두에서 그렇지 않았고, 사전 규칙에 따라 가설 기각(FINAL_REJECTED)으로 연구를 종료합니다.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 전체를 한 장으로 요약했습니다. 목적은 해시 조건 모델이 무작위 추측보다 역상을 잘 찾는지 최종 판정하는 것이었습니다. 과정은 synthetic 적격성 확인, 설정 봉인, MD5 주 시험, 양성 대조, 규모 탐침 순서였고 총 67시간 정도 걸렸습니다. 결과는 5개 파이프라인 모두 REJECTED_BOUNDED로, 이득의 상한이 미리 정한 0.5%p보다 작았습니다. 결론은 FINAL_REJECTED입니다. 이제 네 부분을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부분, 실험의 목적입니다.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질문을 구체적으로 정의하면 이렇습니다. MD5 digest의 12 bits를 target으로 두고, 모델은 그 값을 조건으로 메시지 후보 100개를 만듭니다. 하나라도 MD5를 계산했을 때 target과 맞으면 그 trial은 성공입니다. 학습에 한 번도 쓰지 않은 target 1,024개에서만 평가합니다. 오른쪽의 2.412%가 핵심 기준선입니다. MD5가 이상적인 random function이라면, MD5를 쓰지 않는 어떤 sampler도 이 값을 넘을 수 없습니다. 그래서 질문은 학습된 모델이 이 값을 0.5%p 이상 넘느냐입니다.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 전까지의 시도는 모두 판정 없이 끝났습니다. PoC는 Gaussian 출력 형식이 거의 다 실패했고, toy는 표본이 너무 작았습니다. v3.1에서는 Printable Gaussian 파이프라인이 형식 문제로 적격성을 통과하지 못했고, v4는 checkpoint 선택 규칙에서 막혔습니다. v5는 기계는 통과했지만 실제 생성 속도가 계획의 55%라 첫 look도 끝내지 못했습니다. 그래서 V6의 목표는 두 가지입니다. 다섯 파이프라인을 같은 조건에서 공정하게 비교하는 것, 그리고 어떤 결과가 나오든 최종 판정을 내리고 연구를 끝내는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부분, 실험 과정입니다.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비교 대상은 다섯 개입니다. Source는 Printable과 Random Bytes 두 가지이고, 표현은 Gaussian 이미지인 BGV와 CGGE, 그리고 discrete token입니다. 공정성을 위해 다섯 개 모두 같은 양의 새 학습 쌍 1,024만 개, 최종 checkpoint, 같은 split과 trial 목록, 같은 판정 규칙을 씁니다. 파라미터 수도 0.5M에서 1.25M 사이로 맞췄습니다. 다른 것은 표현, 모델, sampler뿐입니다. 마지막 열은 실제 평가 경로의 지속 처리량인데, Gaussian이 discrete보다 수십 배 느려 실행 시간 대부분을 차지했습니다.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대조군이 세 개인 이유입니다. Random은 모델 없이 source에서 바로 뽑은 기준선이고, Main에서 Random을 빼면 전체 이득이 됩니다. Shuffled는 Main과 같은 데이터·초기값·난수로 학습하되 조건만 섞은 모델이라, Main에서 Shuffled를 빼면 해시 조건을 배운 데서 오는 몫만 남습니다. MC는 엉뚱한 target을 넣어 모델이 조건을 실제로 쓰는지 확인합니다. 판정은 두 차이의 동시 구간으로 내립니다. 둘 다 하한이 0보다 크면 POSITIVE, 둘 다 상한이 0.5%p보다 작으면 REJECTED_BOUNDED입니다.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실험은 네 단계로 나뉩니다. Stage A는 synthetic 과제만으로 기계가 조건을 쓰는지 확인합니다. 여기까지는 MD5 데이터를 하나도 만들지 않았고, 모든 설정을 SHA-256으로 봉인한 뒤에야 MD5 단계로 넘어갔습니다. Stage C가 주 판정이고, Stage P는 해시를 4 step으로 줄인 양성 대조, Stage S는 큰 모델 탐침입니다. Stage R은 양성 결과가 있을 때만 하는 재현 단계라 이번에는 실행되지 않았습니다. 판정은 8,192 trial 블록마다 보는 최대 3번의 look으로 내리고, 모든 구간이 동시에 95%를 보장합니다.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실행 기록입니다. 전체 67시간 정도가 걸렸고 모든 단계가 cap 안에서 끝났습니다. V5를 무너뜨린 예산 문제는 재현되지 않았습니다. Stage C는 80시간 cap 중 41시간만 썼습니다. 오른쪽은 주요 시각입니다. 두 번째 look인 10월 3일 새벽 4시 56분에 판정이 확정되었습니다. 투명성을 위해 말씀드리면, 첫 실행은 Stage A의 처리량 측정 중 재생성 감사에서 멈췄습니다. MD5 데이터를 만들기 전이었으므로 결과에 영향을 줄 수 없었고, 감사를 고친 뒤 처음부터 다시 실행했습니다.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부분, 결과입니다. 결론 카드를 먼저 보고, 각 칸의 근거를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계획서 첫 장에 비워 두었던 결론 카드를 채운 결과입니다. 다섯 줄이 모두 같습니다. 기계는 적격(PASS)이고, 해시 구조가 약할 때는 구조를 이용했으며(GEN_4, INFO_4), 실제 MD5에서는 이득이 0.5%p 미만으로 배제되었고(REJECTED_BOUNDED), 계산 우위는 없습니다(NO_ADVANTAGE). 다섯 개가 모두 REJECTED이므로 종합 판정은 사전 규칙에 따라 FINAL_REJECTED입니다.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기계가 제대로 작동하는지입니다. synthetic 과제는 메시지 앞 세 글자가 조건값을 그대로 담는 과제라, 조건을 쓰는 모델이면 반드시 풀 수 있습니다. 다섯 파이프라인, seed 세 개, 총 15개 run이 모두 512개 조건을 정상과 반전 양쪽에서 전부 맞혔습니다. 정보 측정인 CLP z도 100을 넘습니다. 과거 Printable Gaussian이 형식 문제로 탈락했던 것을 decoder 통일로 해결했다는 뜻이기도 합니다. 그래서 뒤에 나올 음성 결과를 기계 결함으로 설명할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연구의 주 결과입니다. 각 파이프라인에 구간이 두 개 있습니다. 청록색은 Random 대비, 주황색은 Shuffled 대비 Success@100 차이입니다. 점선이 미리 정한 최소 관심 효과 0.5%p입니다. 열 개 구간이 모두 0을 포함하고, 상한이 모두 점선 왼쪽에 있습니다. 가장 큰 상한은 P-DISC의 Shuffled 대비 +0.378%p입니다. 점추정값은 −0.19에서 +0.07%p 사이로 부호도 일정하지 않습니다. 이 구간들은 동시 구간이라 여러 개를 함께 봐도 95% 보장이 유지됩니다. 따라서 다섯 개 모두 REJECTED_BOUNDED입니다.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구간 뒤의 원자료입니다. Main, Shuffled, Random의 Success@100이 모두 이론값 2.412% 주변에 있습니다. Main을 Random으로 나눈 비율은 0.93에서 1.02 사이입니다. P-G-BGV의 Main이 조금 낮지만 구간은 0을 포함합니다. look 2까지 약 5,900만 개 후보를 만들고 독립 verifier로 모두 다시 해시했습니다. decoder 덕분에 모든 후보가 valid였고, trial 안 중복은 없었습니다.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판정은 미리 정한 순차 규칙대로 진행됐습니다. U_R, U_S는 Random과 Shuffled 대비 구간의 상한입니다. 첫 look에서는 8,192 trials로 P-G-BGV와 R-DISC만 결정되고 나머지 셋은 상한이 0.5%p를 넘어 미결이었으므로 계속했습니다. 두 번째 look에서 trial이 두 배가 되자 다섯 개 모두 상한이 0.5%p 아래로 내려와 공동 중단했습니다. 설계 검산에서 효과가 없을 때 look 2에서 멈출 확률이 81.7%였으니 예상한 경로입니다. look 분석은 자동이었고, 실행 화면에는 계속 또는 중단만 표시되었습니다.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음성 결과를 해석하려면 이 양성 대조가 필요합니다. MD5를 4 step으로 줄이면 출력 12 bits가 메시지 앞 4바이트의 단순한 함수가 됩니다. 학습에 없던 target이므로 외워서는 풀 수 없고, 연산 구조를 일반화해야 맞힐 수 있습니다. Random Bytes 두 파이프라인은 거의 100%를 맞혔습니다. Printable 쪽이 18%에서 멈춘 것은 기계의 한계가 아닙니다. Printable 문자로는 4,096개 값 중 752개만 만들 수 있고, 이번 trial 중 그런 target이 739개였습니다. P-DISC와 P-G-BGV는 그 739개를 전부 맞혔습니다. 다른 target을 넣은 MC는 0.2–1.4%로 떨어지므로 모델이 조건을 실제로 쓰고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성공 횟수와 별개로, 모델이 조건과 메시지 사이의 정보를 조금이라도 배웠는지 재는 CLP라는 지표가 있습니다. 두 쌍의 조건을 맞바꿨을 때 모델 점수가 떨어지면 정보를 배운 것입니다. synthetic과 r=4에서는 z가 100에서 200 사이로 매우 큽니다. MD5-64의 주황색 막대는 거의 보이지 않습니다. z가 −0.36에서 0.32 사이로 0과 구별되지 않습니다. 쌍 수가 12배에서 48배 많았는데도 그렇습니다. 즉 히트가 우연히 안 나온 것이 아니라, 모델이 미학습 MD5 target에 대해 쓸 만한 정보를 전혀 얻지 못했다는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파이프라인 사이의 효과 차이입니다. 표현, 모델 계열, source에 대해 미리 지정한 여섯 쌍을 Random·Shuffled 대비로 비교한 12개 구간입니다. 차이가 확인된 대비는 하나도 없고, 8개는 0.5%p 이상의 차이를 배제했으며 4개는 구간이 넓어 미확정입니다. 오른쪽은 계산 우위입니다. 학습 1 run에 MD5 호출이 약 1,490만 번 들어가는데, 이 정도면 4,096개 target 전체의 역상표를 무작위 탐색으로 409번 만들 수 있습니다. 학습비를 빼고 질의당만 봐도, 가장 빠른 P-DISC조차 후보당 성공확률이 78배 올라야 본전인데 관측은 1.02배였습니다. 그래서 다섯 개 모두 NO_ADVANTAGE입니다.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더 큰 모델이면 다르지 않겠느냐는 반론에 대한 탐침입니다. P-DISC 설정에서 모델을 13배 키우고 학습량을 4배로 늘렸습니다. 판정 지표인 CLP z가 −0.28로, 신호 기준 3.29와 거리가 멉니다. 성공률도 Main 2.25%, Random 2.32%, MC 2.39%로 모두 이론값 근처입니다. 이 성공률은 기술통계일 뿐이고, Stage S는 C3 판정에 영향을 주지 않는 보조 단계입니다.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부분,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이렇습니다. 다섯 기계는 synthetic 조건을 완벽히 썼고, 해시를 4 step으로 줄여 구조가 남아 있을 때는 그 구조를 거의 끝까지 이용했습니다. 그러나 full MD5의 12 bits에서는 성공률도 정보 측정도 무작위 수준이었습니다. 기계 결함, 검정력 부족, 예산 부족이라는 세 가지 반론이 모두 닿지 않는 형태의 음성 결론이고, 이 연구가 얻을 수 있는 가장 강한 형태의 결론입니다.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전에 계획서에 적어 둔 예측과 실제 결과를 나란히 놓았습니다. 거의 모든 항목이 예측대로 나왔습니다. 상한이 예측보다 조금 넓은 것은 look 3까지 가지 않고 look 2에서 멈췄기 때문입니다. look 2의 반폭은 약 ±0.30%p입니다. 구조 이용은 불확실하다고 봤는데 다섯 개 모두 성립했습니다. 예측이 맞을 가능성이 높았다고 해서 실험이 무의미한 것은 아닙니다. V6의 목적은 그 예측을 반론이 닿지 않는 형태로 확정하는 것이었습니다.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V6 설계가 실제로 효과가 있었는지 정리했습니다. V5를 무너뜨린 예산 문제는 end-to-end 실측으로 예산을 봉인해 막았고, Stage C는 cap의 절반 정도만 썼습니다. Printable Gaussian의 형식 실패는 decoder를 통일해 없앴고, 15개 run이 모두 만점이었습니다. 음성 결과를 해석할 근거로 r=4 양성 대조를 넣었고, 다섯 개 모두 구조를 이용했습니다. 마지막으로 동시 구간과 순차 설계 덕분에 look 2에서 유효하게 멈출 수 있었습니다.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결론의 범위를 분명히 해 두겠습니다. 직접 측정한 것은 두 source, MD5의 12-bit window 하나, 다섯 파이프라인, 정해진 학습량과 K=100입니다. 다른 window 크기나 다른 구조에서도 같은 결론을 기대하지만, 이것은 random-function 논증에 기댄 이론적 기대이지 측정이 아닙니다. 그리고 이 연구는 full MD5 역상, SHA-256, 보안 붕괴, 최신 암호분석과의 비교, 모든 diffusion의 불가능성은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 규칙대로 가설 기각으로 연구를 종료하며, 같은 질문으로 다시 돌아가지 않습니다. 이후 무언가를 한다면 그것은 별도의 새 연구입니다.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1069848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645920"/>
            <a:ext cx="10698480" cy="19202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703320"/>
            <a:ext cx="10698480" cy="8229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rtlCol="0"/>
          <a:lstStyle>
            <a:lvl1pPr indent="0" marL="0">
              <a:buNone/>
              <a:defRPr lang="en-US" sz="1200" dirty="0">
                <a:solidFill>
                  <a:schemeClr val="accent5"/>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3657600" cy="1097280"/>
          </a:xfrm>
          <a:prstGeom prst="rect">
            <a:avLst/>
          </a:prstGeom>
          <a:noFill/>
          <a:ln/>
        </p:spPr>
        <p:txBody>
          <a:bodyPr wrap="square" rtlCol="0"/>
          <a:lstStyle>
            <a:lvl1pPr indent="0" marL="0">
              <a:buNone/>
              <a:defRPr lang="en-US" sz="6600" b="1" dirty="0">
                <a:solidFill>
                  <a:schemeClr val="accent1"/>
                </a:solidFill>
              </a:defRPr>
            </a:lvl1pPr>
          </a:lstStyle>
          <a:p>
            <a:pPr indent="0" marL="0">
              <a:buNone/>
            </a:pPr>
            <a:endParaRPr lang="en-US" sz="6600" dirty="0"/>
          </a:p>
        </p:txBody>
      </p:sp>
      <p:sp>
        <p:nvSpPr>
          <p:cNvPr id="3" name="Text 0"/>
          <p:cNvSpPr/>
          <p:nvPr>
            <p:ph idx="101" type="title" hasCustomPrompt="1"/>
          </p:nvPr>
        </p:nvSpPr>
        <p:spPr>
          <a:xfrm>
            <a:off x="731520" y="3017520"/>
            <a:ext cx="106984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10698480" cy="10972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
        <p:nvSpPr>
          <p:cNvPr id="5"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DHI V6 · 최종 결론</a:t>
            </a:r>
            <a:endParaRPr lang="en-US" sz="1000" dirty="0"/>
          </a:p>
        </p:txBody>
      </p:sp>
      <p:sp>
        <p:nvSpPr>
          <p:cNvPr id="6"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rtlCol="0"/>
          <a:lstStyle>
            <a:lvl1pPr indent="0" marL="0">
              <a:buNone/>
              <a:defRPr lang="en-US" sz="1200" b="1"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3"/>
                </a:solidFill>
              </a:rPr>
              <a:t>DHI V6 · 최종 결론</a:t>
            </a:r>
            <a:endParaRPr lang="en-US" sz="10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10698480" cy="36576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731520" y="1371600"/>
            <a:ext cx="1069848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1908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DHI V6 · 최종 결론</a:t>
            </a:r>
            <a:endParaRPr lang="en-US" sz="10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10698480" cy="365760"/>
          </a:xfrm>
          <a:prstGeom prst="rect">
            <a:avLst/>
          </a:prstGeom>
          <a:noFill/>
          <a:ln/>
        </p:spPr>
        <p:txBody>
          <a:bodyPr wrap="square" lIns="0" tIns="0" rIns="0" bIns="0" rtlCol="0"/>
          <a:lstStyle/>
          <a:p>
            <a:pPr indent="0" marL="0">
              <a:buNone/>
            </a:pPr>
            <a:r>
              <a:rPr lang="en-US" sz="1400" b="1" dirty="0">
                <a:solidFill>
                  <a:schemeClr val="accent1"/>
                </a:solidFill>
              </a:rPr>
              <a:t>DIFFUSION HASH INVERSION · V6 최종 보고</a:t>
            </a:r>
            <a:endParaRPr lang="en-US" sz="1400" dirty="0"/>
          </a:p>
        </p:txBody>
      </p:sp>
      <p:sp>
        <p:nvSpPr>
          <p:cNvPr id="3" name="Text 0"/>
          <p:cNvSpPr/>
          <p:nvPr>
            <p:ph idx="101" type="title" hasCustomPrompt="1"/>
          </p:nvPr>
        </p:nvSpPr>
        <p:spPr>
          <a:xfrm>
            <a:off x="731520" y="1645920"/>
            <a:ext cx="10698480" cy="1920240"/>
          </a:xfrm>
          <a:prstGeom prst="rect">
            <a:avLst/>
          </a:prstGeom>
          <a:noFill/>
          <a:ln/>
        </p:spPr>
        <p:txBody>
          <a:bodyPr wrap="square" lIns="0" tIns="0" rIns="0" bIns="0" rtlCol="0" anchor="t"/>
          <a:lstStyle/>
          <a:p>
            <a:pPr algn="l" indent="0" marL="0">
              <a:buNone/>
            </a:pPr>
            <a:r>
              <a:rPr lang="en-US" sz="4400" b="1" dirty="0">
                <a:solidFill>
                  <a:schemeClr val="bg1"/>
                </a:solidFill>
              </a:rPr>
              <a:t>해시 조건 diffusion은</a:t>
            </a:r>
            <a:endParaRPr lang="en-US" sz="4400" dirty="0"/>
          </a:p>
          <a:p>
            <a:pPr algn="l" indent="0" marL="0">
              <a:buNone/>
            </a:pPr>
            <a:r>
              <a:rPr lang="en-US" sz="4400" b="1" dirty="0">
                <a:solidFill>
                  <a:schemeClr val="bg1"/>
                </a:solidFill>
              </a:rPr>
              <a:t>MD5 역상 탐색을 돕는가</a:t>
            </a:r>
            <a:endParaRPr lang="en-US" sz="4400" dirty="0"/>
          </a:p>
        </p:txBody>
      </p:sp>
      <p:sp>
        <p:nvSpPr>
          <p:cNvPr id="4" name="Text 0"/>
          <p:cNvSpPr/>
          <p:nvPr>
            <p:ph idx="102" type="body" hasCustomPrompt="1"/>
          </p:nvPr>
        </p:nvSpPr>
        <p:spPr>
          <a:xfrm>
            <a:off x="731520" y="3703320"/>
            <a:ext cx="10698480" cy="822960"/>
          </a:xfrm>
          <a:prstGeom prst="rect">
            <a:avLst/>
          </a:prstGeom>
          <a:noFill/>
          <a:ln/>
        </p:spPr>
        <p:txBody>
          <a:bodyPr wrap="square" lIns="0" tIns="0" rIns="0" bIns="0" rtlCol="0" anchor="t"/>
          <a:lstStyle/>
          <a:p>
            <a:pPr indent="0" marL="0">
              <a:buNone/>
            </a:pPr>
            <a:r>
              <a:rPr lang="en-US" sz="2000" dirty="0">
                <a:solidFill>
                  <a:schemeClr val="accent5"/>
                </a:solidFill>
              </a:rPr>
              <a:t>5개 파이프라인 비교 실험의 목적, 과정, 결과와 최종 결론</a:t>
            </a: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lIns="0" tIns="0" rIns="0" bIns="0" rtlCol="0"/>
          <a:lstStyle/>
          <a:p>
            <a:pPr indent="0" marL="0">
              <a:buNone/>
            </a:pPr>
            <a:r>
              <a:rPr lang="en-US" sz="1200" dirty="0">
                <a:solidFill>
                  <a:schemeClr val="accent5"/>
                </a:solidFill>
              </a:rPr>
              <a:t>Protocol dhi-v6-20260929 · 2026-10-03 · [발표자 · 소속]</a:t>
            </a:r>
            <a:endParaRPr lang="en-US" sz="1200" dirty="0"/>
          </a:p>
        </p:txBody>
      </p:sp>
      <p:sp>
        <p:nvSpPr>
          <p:cNvPr id="6" name="verdict"/>
          <p:cNvSpPr/>
          <p:nvPr/>
        </p:nvSpPr>
        <p:spPr>
          <a:xfrm>
            <a:off x="731520" y="4800600"/>
            <a:ext cx="4206240" cy="594360"/>
          </a:xfrm>
          <a:prstGeom prst="roundRect">
            <a:avLst>
              <a:gd name="adj" fmla="val 12308"/>
            </a:avLst>
          </a:prstGeom>
          <a:solidFill>
            <a:schemeClr val="accent1"/>
          </a:solidFill>
          <a:ln w="9525">
            <a:solidFill>
              <a:schemeClr val="accent1"/>
            </a:solidFill>
            <a:prstDash val="solid"/>
          </a:ln>
        </p:spPr>
      </p:sp>
      <p:sp>
        <p:nvSpPr>
          <p:cNvPr id="7" name="Text 5"/>
          <p:cNvSpPr txBox="1"/>
          <p:nvPr/>
        </p:nvSpPr>
        <p:spPr>
          <a:xfrm>
            <a:off x="731520" y="4800600"/>
            <a:ext cx="4206240" cy="594360"/>
          </a:xfrm>
          <a:prstGeom prst="rect">
            <a:avLst/>
          </a:prstGeom>
          <a:noFill/>
          <a:ln/>
        </p:spPr>
        <p:txBody>
          <a:bodyPr wrap="square" lIns="0" tIns="0" rIns="0" bIns="0" rtlCol="0" anchor="ctr"/>
          <a:lstStyle/>
          <a:p>
            <a:pPr algn="ctr" indent="0" marL="0">
              <a:buNone/>
            </a:pPr>
            <a:r>
              <a:rPr lang="en-US" sz="1800" b="1" dirty="0">
                <a:solidFill>
                  <a:schemeClr val="tx1"/>
                </a:solidFill>
              </a:rPr>
              <a:t>종합 판정 · FINAL_REJECTED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한눈에 보기</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5개 파이프라인 모두에서 해시 조건 이득은 없었다</a:t>
            </a:r>
            <a:endParaRPr lang="en-US" sz="3000" dirty="0"/>
          </a:p>
        </p:txBody>
      </p:sp>
      <p:sp>
        <p:nvSpPr>
          <p:cNvPr id="4" name="Shape 2"/>
          <p:cNvSpPr/>
          <p:nvPr/>
        </p:nvSpPr>
        <p:spPr>
          <a:xfrm>
            <a:off x="548640" y="1600200"/>
            <a:ext cx="2567864" cy="3886200"/>
          </a:xfrm>
          <a:prstGeom prst="roundRect">
            <a:avLst>
              <a:gd name="adj" fmla="val 2849"/>
            </a:avLst>
          </a:prstGeom>
          <a:solidFill>
            <a:schemeClr val="bg2"/>
          </a:solidFill>
          <a:ln w="9525">
            <a:solidFill>
              <a:schemeClr val="bg2"/>
            </a:solidFill>
            <a:prstDash val="solid"/>
          </a:ln>
        </p:spPr>
      </p:sp>
      <p:sp>
        <p:nvSpPr>
          <p:cNvPr id="5" name="Shape 3"/>
          <p:cNvSpPr/>
          <p:nvPr/>
        </p:nvSpPr>
        <p:spPr>
          <a:xfrm>
            <a:off x="822960" y="1874520"/>
            <a:ext cx="548640" cy="548640"/>
          </a:xfrm>
          <a:prstGeom prst="ellipse">
            <a:avLst/>
          </a:prstGeom>
          <a:solidFill>
            <a:schemeClr val="accent1"/>
          </a:solidFill>
          <a:ln w="9525">
            <a:solidFill>
              <a:schemeClr val="accent1"/>
            </a:solidFill>
            <a:prstDash val="solid"/>
          </a:ln>
        </p:spPr>
      </p:sp>
      <p:sp>
        <p:nvSpPr>
          <p:cNvPr id="6" name="Text 4"/>
          <p:cNvSpPr txBox="1"/>
          <p:nvPr/>
        </p:nvSpPr>
        <p:spPr>
          <a:xfrm>
            <a:off x="822960" y="18745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01</a:t>
            </a:r>
            <a:endParaRPr lang="en-US" sz="1500" dirty="0"/>
          </a:p>
        </p:txBody>
      </p:sp>
      <p:sp>
        <p:nvSpPr>
          <p:cNvPr id="7" name="Text 5"/>
          <p:cNvSpPr txBox="1"/>
          <p:nvPr/>
        </p:nvSpPr>
        <p:spPr>
          <a:xfrm>
            <a:off x="822960" y="2606040"/>
            <a:ext cx="2019224" cy="457200"/>
          </a:xfrm>
          <a:prstGeom prst="rect">
            <a:avLst/>
          </a:prstGeom>
          <a:noFill/>
          <a:ln/>
        </p:spPr>
        <p:txBody>
          <a:bodyPr wrap="square" lIns="0" tIns="0" rIns="0" bIns="0" rtlCol="0" anchor="t"/>
          <a:lstStyle/>
          <a:p>
            <a:pPr indent="0" marL="0">
              <a:buNone/>
            </a:pPr>
            <a:r>
              <a:rPr lang="en-US" sz="2200" b="1" dirty="0">
                <a:solidFill>
                  <a:schemeClr val="tx1"/>
                </a:solidFill>
              </a:rPr>
              <a:t>목적</a:t>
            </a:r>
            <a:endParaRPr lang="en-US" sz="2200" dirty="0"/>
          </a:p>
        </p:txBody>
      </p:sp>
      <p:sp>
        <p:nvSpPr>
          <p:cNvPr id="8" name="Text 6"/>
          <p:cNvSpPr txBox="1"/>
          <p:nvPr/>
        </p:nvSpPr>
        <p:spPr>
          <a:xfrm>
            <a:off x="822960" y="3154680"/>
            <a:ext cx="2019224" cy="219456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미학습 MD5 12-bit target에서 해시 조건 모델이 무작위 추측보다 역상을 잘 찾는지, 5개 파이프라인으로 최종 판정한다</a:t>
            </a:r>
            <a:endParaRPr lang="en-US" sz="1400" dirty="0"/>
          </a:p>
        </p:txBody>
      </p:sp>
      <p:sp>
        <p:nvSpPr>
          <p:cNvPr id="9" name="Shape 7"/>
          <p:cNvSpPr/>
          <p:nvPr/>
        </p:nvSpPr>
        <p:spPr>
          <a:xfrm>
            <a:off x="3390824" y="1600200"/>
            <a:ext cx="2567864" cy="3886200"/>
          </a:xfrm>
          <a:prstGeom prst="roundRect">
            <a:avLst>
              <a:gd name="adj" fmla="val 2849"/>
            </a:avLst>
          </a:prstGeom>
          <a:solidFill>
            <a:schemeClr val="bg2"/>
          </a:solidFill>
          <a:ln w="9525">
            <a:solidFill>
              <a:schemeClr val="bg2"/>
            </a:solidFill>
            <a:prstDash val="solid"/>
          </a:ln>
        </p:spPr>
      </p:sp>
      <p:sp>
        <p:nvSpPr>
          <p:cNvPr id="10" name="Shape 8"/>
          <p:cNvSpPr/>
          <p:nvPr/>
        </p:nvSpPr>
        <p:spPr>
          <a:xfrm>
            <a:off x="3665144" y="1874520"/>
            <a:ext cx="548640" cy="548640"/>
          </a:xfrm>
          <a:prstGeom prst="ellipse">
            <a:avLst/>
          </a:prstGeom>
          <a:solidFill>
            <a:schemeClr val="accent1"/>
          </a:solidFill>
          <a:ln w="9525">
            <a:solidFill>
              <a:schemeClr val="accent1"/>
            </a:solidFill>
            <a:prstDash val="solid"/>
          </a:ln>
        </p:spPr>
      </p:sp>
      <p:sp>
        <p:nvSpPr>
          <p:cNvPr id="11" name="Text 9"/>
          <p:cNvSpPr txBox="1"/>
          <p:nvPr/>
        </p:nvSpPr>
        <p:spPr>
          <a:xfrm>
            <a:off x="3665144" y="18745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02</a:t>
            </a:r>
            <a:endParaRPr lang="en-US" sz="1500" dirty="0"/>
          </a:p>
        </p:txBody>
      </p:sp>
      <p:sp>
        <p:nvSpPr>
          <p:cNvPr id="12" name="Text 10"/>
          <p:cNvSpPr txBox="1"/>
          <p:nvPr/>
        </p:nvSpPr>
        <p:spPr>
          <a:xfrm>
            <a:off x="3665144" y="2606040"/>
            <a:ext cx="2019224" cy="457200"/>
          </a:xfrm>
          <a:prstGeom prst="rect">
            <a:avLst/>
          </a:prstGeom>
          <a:noFill/>
          <a:ln/>
        </p:spPr>
        <p:txBody>
          <a:bodyPr wrap="square" lIns="0" tIns="0" rIns="0" bIns="0" rtlCol="0" anchor="t"/>
          <a:lstStyle/>
          <a:p>
            <a:pPr indent="0" marL="0">
              <a:buNone/>
            </a:pPr>
            <a:r>
              <a:rPr lang="en-US" sz="2200" b="1" dirty="0">
                <a:solidFill>
                  <a:schemeClr val="tx1"/>
                </a:solidFill>
              </a:rPr>
              <a:t>과정</a:t>
            </a:r>
            <a:endParaRPr lang="en-US" sz="2200" dirty="0"/>
          </a:p>
        </p:txBody>
      </p:sp>
      <p:sp>
        <p:nvSpPr>
          <p:cNvPr id="13" name="Text 11"/>
          <p:cNvSpPr txBox="1"/>
          <p:nvPr/>
        </p:nvSpPr>
        <p:spPr>
          <a:xfrm>
            <a:off x="3665144" y="3154680"/>
            <a:ext cx="2019224" cy="219456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synthetic 적격성 → 설정 봉인 → MD5 주 시험(30 run, 순차 look) → r=4 양성 대조 → 규모 탐침. 총 67.3시간</a:t>
            </a:r>
            <a:endParaRPr lang="en-US" sz="1400" dirty="0"/>
          </a:p>
        </p:txBody>
      </p:sp>
      <p:sp>
        <p:nvSpPr>
          <p:cNvPr id="14" name="Shape 12"/>
          <p:cNvSpPr/>
          <p:nvPr/>
        </p:nvSpPr>
        <p:spPr>
          <a:xfrm>
            <a:off x="6233008" y="1600200"/>
            <a:ext cx="2567864" cy="3886200"/>
          </a:xfrm>
          <a:prstGeom prst="roundRect">
            <a:avLst>
              <a:gd name="adj" fmla="val 2849"/>
            </a:avLst>
          </a:prstGeom>
          <a:solidFill>
            <a:schemeClr val="bg2"/>
          </a:solidFill>
          <a:ln w="9525">
            <a:solidFill>
              <a:schemeClr val="bg2"/>
            </a:solidFill>
            <a:prstDash val="solid"/>
          </a:ln>
        </p:spPr>
      </p:sp>
      <p:sp>
        <p:nvSpPr>
          <p:cNvPr id="15" name="Shape 13"/>
          <p:cNvSpPr/>
          <p:nvPr/>
        </p:nvSpPr>
        <p:spPr>
          <a:xfrm>
            <a:off x="6507328" y="1874520"/>
            <a:ext cx="548640" cy="548640"/>
          </a:xfrm>
          <a:prstGeom prst="ellipse">
            <a:avLst/>
          </a:prstGeom>
          <a:solidFill>
            <a:schemeClr val="accent1"/>
          </a:solidFill>
          <a:ln w="9525">
            <a:solidFill>
              <a:schemeClr val="accent1"/>
            </a:solidFill>
            <a:prstDash val="solid"/>
          </a:ln>
        </p:spPr>
      </p:sp>
      <p:sp>
        <p:nvSpPr>
          <p:cNvPr id="16" name="Text 14"/>
          <p:cNvSpPr txBox="1"/>
          <p:nvPr/>
        </p:nvSpPr>
        <p:spPr>
          <a:xfrm>
            <a:off x="6507328" y="18745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03</a:t>
            </a:r>
            <a:endParaRPr lang="en-US" sz="1500" dirty="0"/>
          </a:p>
        </p:txBody>
      </p:sp>
      <p:sp>
        <p:nvSpPr>
          <p:cNvPr id="17" name="Text 15"/>
          <p:cNvSpPr txBox="1"/>
          <p:nvPr/>
        </p:nvSpPr>
        <p:spPr>
          <a:xfrm>
            <a:off x="6507328" y="2606040"/>
            <a:ext cx="2019224" cy="457200"/>
          </a:xfrm>
          <a:prstGeom prst="rect">
            <a:avLst/>
          </a:prstGeom>
          <a:noFill/>
          <a:ln/>
        </p:spPr>
        <p:txBody>
          <a:bodyPr wrap="square" lIns="0" tIns="0" rIns="0" bIns="0" rtlCol="0" anchor="t"/>
          <a:lstStyle/>
          <a:p>
            <a:pPr indent="0" marL="0">
              <a:buNone/>
            </a:pPr>
            <a:r>
              <a:rPr lang="en-US" sz="2200" b="1" dirty="0">
                <a:solidFill>
                  <a:schemeClr val="tx1"/>
                </a:solidFill>
              </a:rPr>
              <a:t>결과</a:t>
            </a:r>
            <a:endParaRPr lang="en-US" sz="2200" dirty="0"/>
          </a:p>
        </p:txBody>
      </p:sp>
      <p:sp>
        <p:nvSpPr>
          <p:cNvPr id="18" name="Text 16"/>
          <p:cNvSpPr txBox="1"/>
          <p:nvPr/>
        </p:nvSpPr>
        <p:spPr>
          <a:xfrm>
            <a:off x="6507328" y="3154680"/>
            <a:ext cx="2019224" cy="219456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5개 모두 REJECTED_BOUNDED. 이득 상한은 최대 +0.378%p로 δ 0.5%p 미만. r=4에서는 구조를 이용했다</a:t>
            </a:r>
            <a:endParaRPr lang="en-US" sz="1400" dirty="0"/>
          </a:p>
        </p:txBody>
      </p:sp>
      <p:sp>
        <p:nvSpPr>
          <p:cNvPr id="19" name="Shape 17"/>
          <p:cNvSpPr/>
          <p:nvPr/>
        </p:nvSpPr>
        <p:spPr>
          <a:xfrm>
            <a:off x="9075191" y="1600200"/>
            <a:ext cx="2567864" cy="3886200"/>
          </a:xfrm>
          <a:prstGeom prst="roundRect">
            <a:avLst>
              <a:gd name="adj" fmla="val 2849"/>
            </a:avLst>
          </a:prstGeom>
          <a:solidFill>
            <a:schemeClr val="bg2"/>
          </a:solidFill>
          <a:ln w="9525">
            <a:solidFill>
              <a:schemeClr val="bg2"/>
            </a:solidFill>
            <a:prstDash val="solid"/>
          </a:ln>
        </p:spPr>
      </p:sp>
      <p:sp>
        <p:nvSpPr>
          <p:cNvPr id="20" name="Shape 18"/>
          <p:cNvSpPr/>
          <p:nvPr/>
        </p:nvSpPr>
        <p:spPr>
          <a:xfrm>
            <a:off x="9349511" y="1874520"/>
            <a:ext cx="548640" cy="548640"/>
          </a:xfrm>
          <a:prstGeom prst="ellipse">
            <a:avLst/>
          </a:prstGeom>
          <a:solidFill>
            <a:schemeClr val="accent1"/>
          </a:solidFill>
          <a:ln w="9525">
            <a:solidFill>
              <a:schemeClr val="accent1"/>
            </a:solidFill>
            <a:prstDash val="solid"/>
          </a:ln>
        </p:spPr>
      </p:sp>
      <p:sp>
        <p:nvSpPr>
          <p:cNvPr id="21" name="Text 19"/>
          <p:cNvSpPr txBox="1"/>
          <p:nvPr/>
        </p:nvSpPr>
        <p:spPr>
          <a:xfrm>
            <a:off x="9349511" y="18745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04</a:t>
            </a:r>
            <a:endParaRPr lang="en-US" sz="1500" dirty="0"/>
          </a:p>
        </p:txBody>
      </p:sp>
      <p:sp>
        <p:nvSpPr>
          <p:cNvPr id="22" name="Text 20"/>
          <p:cNvSpPr txBox="1"/>
          <p:nvPr/>
        </p:nvSpPr>
        <p:spPr>
          <a:xfrm>
            <a:off x="9349511" y="2606040"/>
            <a:ext cx="2019224" cy="457200"/>
          </a:xfrm>
          <a:prstGeom prst="rect">
            <a:avLst/>
          </a:prstGeom>
          <a:noFill/>
          <a:ln/>
        </p:spPr>
        <p:txBody>
          <a:bodyPr wrap="square" lIns="0" tIns="0" rIns="0" bIns="0" rtlCol="0" anchor="t"/>
          <a:lstStyle/>
          <a:p>
            <a:pPr indent="0" marL="0">
              <a:buNone/>
            </a:pPr>
            <a:r>
              <a:rPr lang="en-US" sz="2200" b="1" dirty="0">
                <a:solidFill>
                  <a:schemeClr val="tx1"/>
                </a:solidFill>
              </a:rPr>
              <a:t>결론</a:t>
            </a:r>
            <a:endParaRPr lang="en-US" sz="2200" dirty="0"/>
          </a:p>
        </p:txBody>
      </p:sp>
      <p:sp>
        <p:nvSpPr>
          <p:cNvPr id="23" name="Text 21"/>
          <p:cNvSpPr txBox="1"/>
          <p:nvPr/>
        </p:nvSpPr>
        <p:spPr>
          <a:xfrm>
            <a:off x="9349511" y="3154680"/>
            <a:ext cx="2019224" cy="219456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FINAL_REJECTED. 기계는 구조가 있으면 이용하지만 full MD5에는 이용할 구조가 없다. 연구를 종료한다</a:t>
            </a:r>
            <a:endParaRPr lang="en-US" sz="1400" dirty="0"/>
          </a:p>
        </p:txBody>
      </p:sp>
      <p:sp>
        <p:nvSpPr>
          <p:cNvPr id="24" name="Shape 22"/>
          <p:cNvSpPr/>
          <p:nvPr/>
        </p:nvSpPr>
        <p:spPr>
          <a:xfrm>
            <a:off x="548640" y="5669280"/>
            <a:ext cx="11094415" cy="548640"/>
          </a:xfrm>
          <a:prstGeom prst="roundRect">
            <a:avLst>
              <a:gd name="adj" fmla="val 13333"/>
            </a:avLst>
          </a:prstGeom>
          <a:solidFill>
            <a:schemeClr val="tx1"/>
          </a:solidFill>
          <a:ln w="9525">
            <a:solidFill>
              <a:schemeClr val="tx1"/>
            </a:solidFill>
            <a:prstDash val="solid"/>
          </a:ln>
        </p:spPr>
      </p:sp>
      <p:sp>
        <p:nvSpPr>
          <p:cNvPr id="25" name="Text 23"/>
          <p:cNvSpPr txBox="1"/>
          <p:nvPr/>
        </p:nvSpPr>
        <p:spPr>
          <a:xfrm>
            <a:off x="822960" y="5669280"/>
            <a:ext cx="10515600" cy="548640"/>
          </a:xfrm>
          <a:prstGeom prst="rect">
            <a:avLst/>
          </a:prstGeom>
          <a:noFill/>
          <a:ln/>
        </p:spPr>
        <p:txBody>
          <a:bodyPr wrap="square" lIns="0" tIns="0" rIns="0" bIns="0" rtlCol="0" anchor="ctr"/>
          <a:lstStyle/>
          <a:p>
            <a:pPr indent="0" marL="0">
              <a:buNone/>
            </a:pPr>
            <a:r>
              <a:rPr lang="en-US" sz="1500" dirty="0">
                <a:solidFill>
                  <a:schemeClr val="accent5"/>
                </a:solidFill>
              </a:rPr>
              <a:t>종합 판정  </a:t>
            </a:r>
            <a:pPr indent="0" marL="0">
              <a:buNone/>
            </a:pPr>
            <a:r>
              <a:rPr lang="en-US" sz="1500" b="1" dirty="0">
                <a:solidFill>
                  <a:schemeClr val="accent1"/>
                </a:solidFill>
              </a:rPr>
              <a:t>FINAL_REJECTED</a:t>
            </a:r>
            <a:pPr indent="0" marL="0">
              <a:buNone/>
            </a:pPr>
            <a:r>
              <a:rPr lang="en-US" sz="1500" dirty="0">
                <a:solidFill>
                  <a:schemeClr val="bg1"/>
                </a:solidFill>
              </a:rPr>
              <a:t>  ·  사전 규칙에 따라 가설 기각으로 연구를 종료한다</a:t>
            </a:r>
            <a:endParaRPr lang="en-US" sz="1500" dirty="0"/>
          </a:p>
        </p:txBody>
      </p:sp>
      <p:sp>
        <p:nvSpPr>
          <p:cNvPr id="26"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3657600" cy="1097280"/>
          </a:xfrm>
          <a:prstGeom prst="rect">
            <a:avLst/>
          </a:prstGeom>
          <a:noFill/>
          <a:ln/>
        </p:spPr>
        <p:txBody>
          <a:bodyPr wrap="square" lIns="0" tIns="0" rIns="0" bIns="0" rtlCol="0"/>
          <a:lstStyle/>
          <a:p>
            <a:pPr indent="0" marL="0">
              <a:buNone/>
            </a:pPr>
            <a:r>
              <a:rPr lang="en-US" sz="6600" b="1" dirty="0">
                <a:solidFill>
                  <a:schemeClr val="accent1"/>
                </a:solidFill>
              </a:rPr>
              <a:t>01</a:t>
            </a:r>
            <a:endParaRPr lang="en-US" sz="66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rPr>
              <a:t>목적</a:t>
            </a:r>
            <a:endParaRPr lang="en-US" sz="4000" dirty="0"/>
          </a:p>
        </p:txBody>
      </p:sp>
      <p:sp>
        <p:nvSpPr>
          <p:cNvPr id="4" name="Text 0"/>
          <p:cNvSpPr/>
          <p:nvPr>
            <p:ph idx="102" type="body" hasCustomPrompt="1"/>
          </p:nvPr>
        </p:nvSpPr>
        <p:spPr>
          <a:xfrm>
            <a:off x="731520" y="4069080"/>
            <a:ext cx="10698480" cy="1097280"/>
          </a:xfrm>
          <a:prstGeom prst="rect">
            <a:avLst/>
          </a:prstGeom>
          <a:noFill/>
          <a:ln/>
        </p:spPr>
        <p:txBody>
          <a:bodyPr wrap="square" lIns="0" tIns="0" rIns="0" bIns="0" rtlCol="0" anchor="t"/>
          <a:lstStyle/>
          <a:p>
            <a:pPr indent="0" marL="0">
              <a:buNone/>
            </a:pPr>
            <a:r>
              <a:rPr lang="en-US" sz="1800" dirty="0">
                <a:solidFill>
                  <a:schemeClr val="accent5"/>
                </a:solidFill>
              </a:rPr>
              <a:t>무엇을 확인하려 했는가 — 연구 질문과 V6가 필요했던 이유</a:t>
            </a:r>
            <a:endParaRPr lang="en-US" sz="18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목적 · 연구 질문</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학습하지 않은 해시값에서도 역상이 더 잘 나오는가</a:t>
            </a:r>
            <a:endParaRPr lang="en-US" sz="3000" dirty="0"/>
          </a:p>
        </p:txBody>
      </p:sp>
      <p:sp>
        <p:nvSpPr>
          <p:cNvPr id="4" name="Shape 2"/>
          <p:cNvSpPr/>
          <p:nvPr/>
        </p:nvSpPr>
        <p:spPr>
          <a:xfrm>
            <a:off x="548640" y="1554480"/>
            <a:ext cx="1816547" cy="1097280"/>
          </a:xfrm>
          <a:prstGeom prst="roundRect">
            <a:avLst>
              <a:gd name="adj" fmla="val 6667"/>
            </a:avLst>
          </a:prstGeom>
          <a:solidFill>
            <a:schemeClr val="bg2"/>
          </a:solidFill>
          <a:ln w="9525">
            <a:solidFill>
              <a:schemeClr val="bg2"/>
            </a:solidFill>
            <a:prstDash val="solid"/>
          </a:ln>
        </p:spPr>
      </p:sp>
      <p:sp>
        <p:nvSpPr>
          <p:cNvPr id="5" name="Text 3"/>
          <p:cNvSpPr txBox="1"/>
          <p:nvPr/>
        </p:nvSpPr>
        <p:spPr>
          <a:xfrm>
            <a:off x="731520" y="1691640"/>
            <a:ext cx="1450787" cy="411480"/>
          </a:xfrm>
          <a:prstGeom prst="rect">
            <a:avLst/>
          </a:prstGeom>
          <a:noFill/>
          <a:ln/>
        </p:spPr>
        <p:txBody>
          <a:bodyPr wrap="square" lIns="0" tIns="0" rIns="0" bIns="0" rtlCol="0" anchor="t"/>
          <a:lstStyle/>
          <a:p>
            <a:pPr indent="0" marL="0">
              <a:buNone/>
            </a:pPr>
            <a:r>
              <a:rPr lang="en-US" sz="1600" b="1" dirty="0">
                <a:solidFill>
                  <a:schemeClr val="tx1"/>
                </a:solidFill>
              </a:rPr>
              <a:t>target y</a:t>
            </a:r>
            <a:endParaRPr lang="en-US" sz="1600" dirty="0"/>
          </a:p>
        </p:txBody>
      </p:sp>
      <p:sp>
        <p:nvSpPr>
          <p:cNvPr id="6" name="Text 4"/>
          <p:cNvSpPr txBox="1"/>
          <p:nvPr/>
        </p:nvSpPr>
        <p:spPr>
          <a:xfrm>
            <a:off x="731520" y="2121408"/>
            <a:ext cx="1450787" cy="365760"/>
          </a:xfrm>
          <a:prstGeom prst="rect">
            <a:avLst/>
          </a:prstGeom>
          <a:noFill/>
          <a:ln/>
        </p:spPr>
        <p:txBody>
          <a:bodyPr wrap="square" lIns="0" tIns="0" rIns="0" bIns="0" rtlCol="0" anchor="t"/>
          <a:lstStyle/>
          <a:p>
            <a:pPr indent="0" marL="0">
              <a:buNone/>
            </a:pPr>
            <a:r>
              <a:rPr lang="en-US" sz="1300" dirty="0">
                <a:solidFill>
                  <a:schemeClr val="accent3"/>
                </a:solidFill>
              </a:rPr>
              <a:t>미학습 12-bit 해시값</a:t>
            </a:r>
            <a:endParaRPr lang="en-US" sz="1300" dirty="0"/>
          </a:p>
        </p:txBody>
      </p:sp>
      <p:sp>
        <p:nvSpPr>
          <p:cNvPr id="7" name="Shape 5"/>
          <p:cNvSpPr/>
          <p:nvPr/>
        </p:nvSpPr>
        <p:spPr>
          <a:xfrm>
            <a:off x="2470343" y="1975104"/>
            <a:ext cx="292608" cy="256032"/>
          </a:xfrm>
          <a:prstGeom prst="rightArrow">
            <a:avLst/>
          </a:prstGeom>
          <a:solidFill>
            <a:schemeClr val="accent4"/>
          </a:solidFill>
          <a:ln w="9525">
            <a:solidFill>
              <a:schemeClr val="accent4"/>
            </a:solidFill>
            <a:prstDash val="solid"/>
          </a:ln>
        </p:spPr>
      </p:sp>
      <p:sp>
        <p:nvSpPr>
          <p:cNvPr id="8" name="Shape 6"/>
          <p:cNvSpPr/>
          <p:nvPr/>
        </p:nvSpPr>
        <p:spPr>
          <a:xfrm>
            <a:off x="2868107" y="1554480"/>
            <a:ext cx="1816547" cy="1097280"/>
          </a:xfrm>
          <a:prstGeom prst="roundRect">
            <a:avLst>
              <a:gd name="adj" fmla="val 6667"/>
            </a:avLst>
          </a:prstGeom>
          <a:solidFill>
            <a:schemeClr val="bg2"/>
          </a:solidFill>
          <a:ln w="9525">
            <a:solidFill>
              <a:schemeClr val="bg2"/>
            </a:solidFill>
            <a:prstDash val="solid"/>
          </a:ln>
        </p:spPr>
      </p:sp>
      <p:sp>
        <p:nvSpPr>
          <p:cNvPr id="9" name="Text 7"/>
          <p:cNvSpPr txBox="1"/>
          <p:nvPr/>
        </p:nvSpPr>
        <p:spPr>
          <a:xfrm>
            <a:off x="3050987" y="1691640"/>
            <a:ext cx="1450787" cy="411480"/>
          </a:xfrm>
          <a:prstGeom prst="rect">
            <a:avLst/>
          </a:prstGeom>
          <a:noFill/>
          <a:ln/>
        </p:spPr>
        <p:txBody>
          <a:bodyPr wrap="square" lIns="0" tIns="0" rIns="0" bIns="0" rtlCol="0" anchor="t"/>
          <a:lstStyle/>
          <a:p>
            <a:pPr indent="0" marL="0">
              <a:buNone/>
            </a:pPr>
            <a:r>
              <a:rPr lang="en-US" sz="1600" b="1" dirty="0">
                <a:solidFill>
                  <a:schemeClr val="tx1"/>
                </a:solidFill>
              </a:rPr>
              <a:t>조건부 diffusion</a:t>
            </a:r>
            <a:endParaRPr lang="en-US" sz="1600" dirty="0"/>
          </a:p>
        </p:txBody>
      </p:sp>
      <p:sp>
        <p:nvSpPr>
          <p:cNvPr id="10" name="Text 8"/>
          <p:cNvSpPr txBox="1"/>
          <p:nvPr/>
        </p:nvSpPr>
        <p:spPr>
          <a:xfrm>
            <a:off x="3050987" y="2121408"/>
            <a:ext cx="1450787" cy="365760"/>
          </a:xfrm>
          <a:prstGeom prst="rect">
            <a:avLst/>
          </a:prstGeom>
          <a:noFill/>
          <a:ln/>
        </p:spPr>
        <p:txBody>
          <a:bodyPr wrap="square" lIns="0" tIns="0" rIns="0" bIns="0" rtlCol="0" anchor="t"/>
          <a:lstStyle/>
          <a:p>
            <a:pPr indent="0" marL="0">
              <a:buNone/>
            </a:pPr>
            <a:r>
              <a:rPr lang="en-US" sz="1300" dirty="0">
                <a:solidFill>
                  <a:schemeClr val="accent3"/>
                </a:solidFill>
              </a:rPr>
              <a:t>y를 조건으로 생성</a:t>
            </a:r>
            <a:endParaRPr lang="en-US" sz="1300" dirty="0"/>
          </a:p>
        </p:txBody>
      </p:sp>
      <p:sp>
        <p:nvSpPr>
          <p:cNvPr id="11" name="Shape 9"/>
          <p:cNvSpPr/>
          <p:nvPr/>
        </p:nvSpPr>
        <p:spPr>
          <a:xfrm>
            <a:off x="4789810" y="1975104"/>
            <a:ext cx="292608" cy="256032"/>
          </a:xfrm>
          <a:prstGeom prst="rightArrow">
            <a:avLst/>
          </a:prstGeom>
          <a:solidFill>
            <a:schemeClr val="accent4"/>
          </a:solidFill>
          <a:ln w="9525">
            <a:solidFill>
              <a:schemeClr val="accent4"/>
            </a:solidFill>
            <a:prstDash val="solid"/>
          </a:ln>
        </p:spPr>
      </p:sp>
      <p:sp>
        <p:nvSpPr>
          <p:cNvPr id="12" name="Shape 10"/>
          <p:cNvSpPr/>
          <p:nvPr/>
        </p:nvSpPr>
        <p:spPr>
          <a:xfrm>
            <a:off x="5187574" y="1554480"/>
            <a:ext cx="1816547" cy="1097280"/>
          </a:xfrm>
          <a:prstGeom prst="roundRect">
            <a:avLst>
              <a:gd name="adj" fmla="val 6667"/>
            </a:avLst>
          </a:prstGeom>
          <a:solidFill>
            <a:schemeClr val="bg2"/>
          </a:solidFill>
          <a:ln w="9525">
            <a:solidFill>
              <a:schemeClr val="bg2"/>
            </a:solidFill>
            <a:prstDash val="solid"/>
          </a:ln>
        </p:spPr>
      </p:sp>
      <p:sp>
        <p:nvSpPr>
          <p:cNvPr id="13" name="Text 11"/>
          <p:cNvSpPr txBox="1"/>
          <p:nvPr/>
        </p:nvSpPr>
        <p:spPr>
          <a:xfrm>
            <a:off x="5370454" y="1691640"/>
            <a:ext cx="1450787" cy="411480"/>
          </a:xfrm>
          <a:prstGeom prst="rect">
            <a:avLst/>
          </a:prstGeom>
          <a:noFill/>
          <a:ln/>
        </p:spPr>
        <p:txBody>
          <a:bodyPr wrap="square" lIns="0" tIns="0" rIns="0" bIns="0" rtlCol="0" anchor="t"/>
          <a:lstStyle/>
          <a:p>
            <a:pPr indent="0" marL="0">
              <a:buNone/>
            </a:pPr>
            <a:r>
              <a:rPr lang="en-US" sz="1600" b="1" dirty="0">
                <a:solidFill>
                  <a:schemeClr val="tx1"/>
                </a:solidFill>
              </a:rPr>
              <a:t>후보 100개</a:t>
            </a:r>
            <a:endParaRPr lang="en-US" sz="1600" dirty="0"/>
          </a:p>
        </p:txBody>
      </p:sp>
      <p:sp>
        <p:nvSpPr>
          <p:cNvPr id="14" name="Text 12"/>
          <p:cNvSpPr txBox="1"/>
          <p:nvPr/>
        </p:nvSpPr>
        <p:spPr>
          <a:xfrm>
            <a:off x="5370454" y="2121408"/>
            <a:ext cx="1450787" cy="365760"/>
          </a:xfrm>
          <a:prstGeom prst="rect">
            <a:avLst/>
          </a:prstGeom>
          <a:noFill/>
          <a:ln/>
        </p:spPr>
        <p:txBody>
          <a:bodyPr wrap="square" lIns="0" tIns="0" rIns="0" bIns="0" rtlCol="0" anchor="t"/>
          <a:lstStyle/>
          <a:p>
            <a:pPr indent="0" marL="0">
              <a:buNone/>
            </a:pPr>
            <a:r>
              <a:rPr lang="en-US" sz="1300" dirty="0">
                <a:solidFill>
                  <a:schemeClr val="accent3"/>
                </a:solidFill>
              </a:rPr>
              <a:t>x₁ … x₁₀₀</a:t>
            </a:r>
            <a:endParaRPr lang="en-US" sz="1300" dirty="0"/>
          </a:p>
        </p:txBody>
      </p:sp>
      <p:sp>
        <p:nvSpPr>
          <p:cNvPr id="15" name="Shape 13"/>
          <p:cNvSpPr/>
          <p:nvPr/>
        </p:nvSpPr>
        <p:spPr>
          <a:xfrm>
            <a:off x="7109277" y="1975104"/>
            <a:ext cx="292608" cy="256032"/>
          </a:xfrm>
          <a:prstGeom prst="rightArrow">
            <a:avLst/>
          </a:prstGeom>
          <a:solidFill>
            <a:schemeClr val="accent4"/>
          </a:solidFill>
          <a:ln w="9525">
            <a:solidFill>
              <a:schemeClr val="accent4"/>
            </a:solidFill>
            <a:prstDash val="solid"/>
          </a:ln>
        </p:spPr>
      </p:sp>
      <p:sp>
        <p:nvSpPr>
          <p:cNvPr id="16" name="Shape 14"/>
          <p:cNvSpPr/>
          <p:nvPr/>
        </p:nvSpPr>
        <p:spPr>
          <a:xfrm>
            <a:off x="7507041" y="1554480"/>
            <a:ext cx="1816547" cy="1097280"/>
          </a:xfrm>
          <a:prstGeom prst="roundRect">
            <a:avLst>
              <a:gd name="adj" fmla="val 6667"/>
            </a:avLst>
          </a:prstGeom>
          <a:solidFill>
            <a:schemeClr val="bg2"/>
          </a:solidFill>
          <a:ln w="9525">
            <a:solidFill>
              <a:schemeClr val="bg2"/>
            </a:solidFill>
            <a:prstDash val="solid"/>
          </a:ln>
        </p:spPr>
      </p:sp>
      <p:sp>
        <p:nvSpPr>
          <p:cNvPr id="17" name="Text 15"/>
          <p:cNvSpPr txBox="1"/>
          <p:nvPr/>
        </p:nvSpPr>
        <p:spPr>
          <a:xfrm>
            <a:off x="7689921" y="1691640"/>
            <a:ext cx="1450787" cy="411480"/>
          </a:xfrm>
          <a:prstGeom prst="rect">
            <a:avLst/>
          </a:prstGeom>
          <a:noFill/>
          <a:ln/>
        </p:spPr>
        <p:txBody>
          <a:bodyPr wrap="square" lIns="0" tIns="0" rIns="0" bIns="0" rtlCol="0" anchor="t"/>
          <a:lstStyle/>
          <a:p>
            <a:pPr indent="0" marL="0">
              <a:buNone/>
            </a:pPr>
            <a:r>
              <a:rPr lang="en-US" sz="1600" b="1" dirty="0">
                <a:solidFill>
                  <a:schemeClr val="tx1"/>
                </a:solidFill>
              </a:rPr>
              <a:t>MD5 계산</a:t>
            </a:r>
            <a:endParaRPr lang="en-US" sz="1600" dirty="0"/>
          </a:p>
        </p:txBody>
      </p:sp>
      <p:sp>
        <p:nvSpPr>
          <p:cNvPr id="18" name="Text 16"/>
          <p:cNvSpPr txBox="1"/>
          <p:nvPr/>
        </p:nvSpPr>
        <p:spPr>
          <a:xfrm>
            <a:off x="7689921" y="2121408"/>
            <a:ext cx="1450787" cy="365760"/>
          </a:xfrm>
          <a:prstGeom prst="rect">
            <a:avLst/>
          </a:prstGeom>
          <a:noFill/>
          <a:ln/>
        </p:spPr>
        <p:txBody>
          <a:bodyPr wrap="square" lIns="0" tIns="0" rIns="0" bIns="0" rtlCol="0" anchor="t"/>
          <a:lstStyle/>
          <a:p>
            <a:pPr indent="0" marL="0">
              <a:buNone/>
            </a:pPr>
            <a:r>
              <a:rPr lang="en-US" sz="1300" dirty="0">
                <a:solidFill>
                  <a:schemeClr val="accent3"/>
                </a:solidFill>
              </a:rPr>
              <a:t>후보마다 12 bits</a:t>
            </a:r>
            <a:endParaRPr lang="en-US" sz="1300" dirty="0"/>
          </a:p>
        </p:txBody>
      </p:sp>
      <p:sp>
        <p:nvSpPr>
          <p:cNvPr id="19" name="Shape 17"/>
          <p:cNvSpPr/>
          <p:nvPr/>
        </p:nvSpPr>
        <p:spPr>
          <a:xfrm>
            <a:off x="9428744" y="1975104"/>
            <a:ext cx="292608" cy="256032"/>
          </a:xfrm>
          <a:prstGeom prst="rightArrow">
            <a:avLst/>
          </a:prstGeom>
          <a:solidFill>
            <a:schemeClr val="accent4"/>
          </a:solidFill>
          <a:ln w="9525">
            <a:solidFill>
              <a:schemeClr val="accent4"/>
            </a:solidFill>
            <a:prstDash val="solid"/>
          </a:ln>
        </p:spPr>
      </p:sp>
      <p:sp>
        <p:nvSpPr>
          <p:cNvPr id="20" name="Shape 18"/>
          <p:cNvSpPr/>
          <p:nvPr/>
        </p:nvSpPr>
        <p:spPr>
          <a:xfrm>
            <a:off x="9826508" y="1554480"/>
            <a:ext cx="1816547" cy="1097280"/>
          </a:xfrm>
          <a:prstGeom prst="roundRect">
            <a:avLst>
              <a:gd name="adj" fmla="val 6667"/>
            </a:avLst>
          </a:prstGeom>
          <a:solidFill>
            <a:schemeClr val="tx2"/>
          </a:solidFill>
          <a:ln w="9525">
            <a:solidFill>
              <a:schemeClr val="tx2"/>
            </a:solidFill>
            <a:prstDash val="solid"/>
          </a:ln>
        </p:spPr>
      </p:sp>
      <p:sp>
        <p:nvSpPr>
          <p:cNvPr id="21" name="Text 19"/>
          <p:cNvSpPr txBox="1"/>
          <p:nvPr/>
        </p:nvSpPr>
        <p:spPr>
          <a:xfrm>
            <a:off x="10009388" y="1691640"/>
            <a:ext cx="1450787" cy="411480"/>
          </a:xfrm>
          <a:prstGeom prst="rect">
            <a:avLst/>
          </a:prstGeom>
          <a:noFill/>
          <a:ln/>
        </p:spPr>
        <p:txBody>
          <a:bodyPr wrap="square" lIns="0" tIns="0" rIns="0" bIns="0" rtlCol="0" anchor="t"/>
          <a:lstStyle/>
          <a:p>
            <a:pPr indent="0" marL="0">
              <a:buNone/>
            </a:pPr>
            <a:r>
              <a:rPr lang="en-US" sz="1600" b="1" dirty="0">
                <a:solidFill>
                  <a:schemeClr val="bg1"/>
                </a:solidFill>
              </a:rPr>
              <a:t>하나라도 = y</a:t>
            </a:r>
            <a:endParaRPr lang="en-US" sz="1600" dirty="0"/>
          </a:p>
        </p:txBody>
      </p:sp>
      <p:sp>
        <p:nvSpPr>
          <p:cNvPr id="22" name="Text 20"/>
          <p:cNvSpPr txBox="1"/>
          <p:nvPr/>
        </p:nvSpPr>
        <p:spPr>
          <a:xfrm>
            <a:off x="10009388" y="2121408"/>
            <a:ext cx="1450787" cy="365760"/>
          </a:xfrm>
          <a:prstGeom prst="rect">
            <a:avLst/>
          </a:prstGeom>
          <a:noFill/>
          <a:ln/>
        </p:spPr>
        <p:txBody>
          <a:bodyPr wrap="square" lIns="0" tIns="0" rIns="0" bIns="0" rtlCol="0" anchor="t"/>
          <a:lstStyle/>
          <a:p>
            <a:pPr indent="0" marL="0">
              <a:buNone/>
            </a:pPr>
            <a:r>
              <a:rPr lang="en-US" sz="1300" dirty="0">
                <a:solidFill>
                  <a:schemeClr val="accent5"/>
                </a:solidFill>
              </a:rPr>
              <a:t>Success@100 성공</a:t>
            </a:r>
            <a:endParaRPr lang="en-US" sz="1300" dirty="0"/>
          </a:p>
        </p:txBody>
      </p:sp>
      <p:sp>
        <p:nvSpPr>
          <p:cNvPr id="23" name="Text 21"/>
          <p:cNvSpPr txBox="1"/>
          <p:nvPr/>
        </p:nvSpPr>
        <p:spPr>
          <a:xfrm>
            <a:off x="548640" y="3063240"/>
            <a:ext cx="6309360" cy="365760"/>
          </a:xfrm>
          <a:prstGeom prst="rect">
            <a:avLst/>
          </a:prstGeom>
          <a:noFill/>
          <a:ln/>
        </p:spPr>
        <p:txBody>
          <a:bodyPr wrap="square" lIns="0" tIns="0" rIns="0" bIns="0" rtlCol="0" anchor="t"/>
          <a:lstStyle/>
          <a:p>
            <a:pPr indent="0" marL="0">
              <a:buNone/>
            </a:pPr>
            <a:r>
              <a:rPr lang="en-US" sz="1800" b="1" dirty="0">
                <a:solidFill>
                  <a:schemeClr val="tx1"/>
                </a:solidFill>
              </a:rPr>
              <a:t>판정할 질문</a:t>
            </a:r>
            <a:endParaRPr lang="en-US" sz="1800" dirty="0"/>
          </a:p>
        </p:txBody>
      </p:sp>
      <p:sp>
        <p:nvSpPr>
          <p:cNvPr id="24" name="Text 22"/>
          <p:cNvSpPr txBox="1"/>
          <p:nvPr/>
        </p:nvSpPr>
        <p:spPr>
          <a:xfrm>
            <a:off x="548640" y="3474720"/>
            <a:ext cx="6309360" cy="91440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해시 조건으로 학습한 모델(Main)이 Random(무작위 prior)과 Shuffled(조건만 섞어 학습)를 Success@100에서 모두 능가하는가? 능가하지 않는다면 이득의 상한은 얼마인가?</a:t>
            </a:r>
            <a:endParaRPr lang="en-US" sz="1500" dirty="0"/>
          </a:p>
        </p:txBody>
      </p:sp>
      <p:sp>
        <p:nvSpPr>
          <p:cNvPr id="25" name="Text 23"/>
          <p:cNvSpPr txBox="1"/>
          <p:nvPr/>
        </p:nvSpPr>
        <p:spPr>
          <a:xfrm>
            <a:off x="548640" y="4572000"/>
            <a:ext cx="1554480" cy="365760"/>
          </a:xfrm>
          <a:prstGeom prst="rect">
            <a:avLst/>
          </a:prstGeom>
          <a:noFill/>
          <a:ln/>
        </p:spPr>
        <p:txBody>
          <a:bodyPr wrap="square" lIns="0" tIns="0" rIns="0" bIns="0" rtlCol="0" anchor="ctr"/>
          <a:lstStyle/>
          <a:p>
            <a:pPr indent="0" marL="0">
              <a:buNone/>
            </a:pPr>
            <a:r>
              <a:rPr lang="en-US" sz="1300" b="1" dirty="0">
                <a:solidFill>
                  <a:schemeClr val="accent2"/>
                </a:solidFill>
              </a:rPr>
              <a:t>H12 window</a:t>
            </a:r>
            <a:endParaRPr lang="en-US" sz="1300" dirty="0"/>
          </a:p>
        </p:txBody>
      </p:sp>
      <p:sp>
        <p:nvSpPr>
          <p:cNvPr id="26" name="Text 24"/>
          <p:cNvSpPr txBox="1"/>
          <p:nvPr/>
        </p:nvSpPr>
        <p:spPr>
          <a:xfrm>
            <a:off x="2148840" y="4572000"/>
            <a:ext cx="4709160" cy="365760"/>
          </a:xfrm>
          <a:prstGeom prst="rect">
            <a:avLst/>
          </a:prstGeom>
          <a:noFill/>
          <a:ln/>
        </p:spPr>
        <p:txBody>
          <a:bodyPr wrap="square" lIns="0" tIns="0" rIns="0" bIns="0" rtlCol="0" anchor="ctr"/>
          <a:lstStyle/>
          <a:p>
            <a:pPr indent="0" marL="0">
              <a:buNone/>
            </a:pPr>
            <a:r>
              <a:rPr lang="en-US" sz="1300" dirty="0">
                <a:solidFill>
                  <a:schemeClr val="tx2"/>
                </a:solidFill>
              </a:rPr>
              <a:t>MD5 digest의 12 bits. 주 판정은 W3(bits 52–63)</a:t>
            </a:r>
            <a:endParaRPr lang="en-US" sz="1300" dirty="0"/>
          </a:p>
        </p:txBody>
      </p:sp>
      <p:sp>
        <p:nvSpPr>
          <p:cNvPr id="27" name="Text 25"/>
          <p:cNvSpPr txBox="1"/>
          <p:nvPr/>
        </p:nvSpPr>
        <p:spPr>
          <a:xfrm>
            <a:off x="548640" y="5074920"/>
            <a:ext cx="1554480" cy="365760"/>
          </a:xfrm>
          <a:prstGeom prst="rect">
            <a:avLst/>
          </a:prstGeom>
          <a:noFill/>
          <a:ln/>
        </p:spPr>
        <p:txBody>
          <a:bodyPr wrap="square" lIns="0" tIns="0" rIns="0" bIns="0" rtlCol="0" anchor="ctr"/>
          <a:lstStyle/>
          <a:p>
            <a:pPr indent="0" marL="0">
              <a:buNone/>
            </a:pPr>
            <a:r>
              <a:rPr lang="en-US" sz="1300" b="1" dirty="0">
                <a:solidFill>
                  <a:schemeClr val="accent2"/>
                </a:solidFill>
              </a:rPr>
              <a:t>Test target</a:t>
            </a:r>
            <a:endParaRPr lang="en-US" sz="1300" dirty="0"/>
          </a:p>
        </p:txBody>
      </p:sp>
      <p:sp>
        <p:nvSpPr>
          <p:cNvPr id="28" name="Text 26"/>
          <p:cNvSpPr txBox="1"/>
          <p:nvPr/>
        </p:nvSpPr>
        <p:spPr>
          <a:xfrm>
            <a:off x="2148840" y="5074920"/>
            <a:ext cx="4709160" cy="365760"/>
          </a:xfrm>
          <a:prstGeom prst="rect">
            <a:avLst/>
          </a:prstGeom>
          <a:noFill/>
          <a:ln/>
        </p:spPr>
        <p:txBody>
          <a:bodyPr wrap="square" lIns="0" tIns="0" rIns="0" bIns="0" rtlCol="0" anchor="ctr"/>
          <a:lstStyle/>
          <a:p>
            <a:pPr indent="0" marL="0">
              <a:buNone/>
            </a:pPr>
            <a:r>
              <a:rPr lang="en-US" sz="1300" dirty="0">
                <a:solidFill>
                  <a:schemeClr val="tx2"/>
                </a:solidFill>
              </a:rPr>
              <a:t>4,096개 값 중 학습에 쓰지 않은 1,024개</a:t>
            </a:r>
            <a:endParaRPr lang="en-US" sz="1300" dirty="0"/>
          </a:p>
        </p:txBody>
      </p:sp>
      <p:sp>
        <p:nvSpPr>
          <p:cNvPr id="29" name="Text 27"/>
          <p:cNvSpPr txBox="1"/>
          <p:nvPr/>
        </p:nvSpPr>
        <p:spPr>
          <a:xfrm>
            <a:off x="548640" y="5577840"/>
            <a:ext cx="1554480" cy="365760"/>
          </a:xfrm>
          <a:prstGeom prst="rect">
            <a:avLst/>
          </a:prstGeom>
          <a:noFill/>
          <a:ln/>
        </p:spPr>
        <p:txBody>
          <a:bodyPr wrap="square" lIns="0" tIns="0" rIns="0" bIns="0" rtlCol="0" anchor="ctr"/>
          <a:lstStyle/>
          <a:p>
            <a:pPr indent="0" marL="0">
              <a:buNone/>
            </a:pPr>
            <a:r>
              <a:rPr lang="en-US" sz="1300" b="1" dirty="0">
                <a:solidFill>
                  <a:schemeClr val="accent2"/>
                </a:solidFill>
              </a:rPr>
              <a:t>δ = 0.5%p</a:t>
            </a:r>
            <a:endParaRPr lang="en-US" sz="1300" dirty="0"/>
          </a:p>
        </p:txBody>
      </p:sp>
      <p:sp>
        <p:nvSpPr>
          <p:cNvPr id="30" name="Text 28"/>
          <p:cNvSpPr txBox="1"/>
          <p:nvPr/>
        </p:nvSpPr>
        <p:spPr>
          <a:xfrm>
            <a:off x="2148840" y="5577840"/>
            <a:ext cx="4709160" cy="365760"/>
          </a:xfrm>
          <a:prstGeom prst="rect">
            <a:avLst/>
          </a:prstGeom>
          <a:noFill/>
          <a:ln/>
        </p:spPr>
        <p:txBody>
          <a:bodyPr wrap="square" lIns="0" tIns="0" rIns="0" bIns="0" rtlCol="0" anchor="ctr"/>
          <a:lstStyle/>
          <a:p>
            <a:pPr indent="0" marL="0">
              <a:buNone/>
            </a:pPr>
            <a:r>
              <a:rPr lang="en-US" sz="1300" dirty="0">
                <a:solidFill>
                  <a:schemeClr val="tx2"/>
                </a:solidFill>
              </a:rPr>
              <a:t>의미 있다고 볼 최소 이득. 후보당 약 1.21배</a:t>
            </a:r>
            <a:endParaRPr lang="en-US" sz="1300" dirty="0"/>
          </a:p>
        </p:txBody>
      </p:sp>
      <p:sp>
        <p:nvSpPr>
          <p:cNvPr id="31" name="Shape 29"/>
          <p:cNvSpPr/>
          <p:nvPr/>
        </p:nvSpPr>
        <p:spPr>
          <a:xfrm>
            <a:off x="7223760" y="3063240"/>
            <a:ext cx="4419295" cy="3063240"/>
          </a:xfrm>
          <a:prstGeom prst="roundRect">
            <a:avLst>
              <a:gd name="adj" fmla="val 2388"/>
            </a:avLst>
          </a:prstGeom>
          <a:solidFill>
            <a:schemeClr val="tx1"/>
          </a:solidFill>
          <a:ln w="9525">
            <a:solidFill>
              <a:schemeClr val="tx1"/>
            </a:solidFill>
            <a:prstDash val="solid"/>
          </a:ln>
        </p:spPr>
      </p:sp>
      <p:sp>
        <p:nvSpPr>
          <p:cNvPr id="32" name="Text 30"/>
          <p:cNvSpPr txBox="1"/>
          <p:nvPr/>
        </p:nvSpPr>
        <p:spPr>
          <a:xfrm>
            <a:off x="7543800" y="3337560"/>
            <a:ext cx="3749040" cy="320040"/>
          </a:xfrm>
          <a:prstGeom prst="rect">
            <a:avLst/>
          </a:prstGeom>
          <a:noFill/>
          <a:ln/>
        </p:spPr>
        <p:txBody>
          <a:bodyPr wrap="square" lIns="0" tIns="0" rIns="0" bIns="0" rtlCol="0" anchor="t"/>
          <a:lstStyle/>
          <a:p>
            <a:pPr indent="0" marL="0">
              <a:buNone/>
            </a:pPr>
            <a:r>
              <a:rPr lang="en-US" sz="1400" b="1" dirty="0">
                <a:solidFill>
                  <a:schemeClr val="accent5"/>
                </a:solidFill>
              </a:rPr>
              <a:t>기준값 p₀</a:t>
            </a:r>
            <a:endParaRPr lang="en-US" sz="1400" dirty="0"/>
          </a:p>
        </p:txBody>
      </p:sp>
      <p:sp>
        <p:nvSpPr>
          <p:cNvPr id="33" name="Text 31"/>
          <p:cNvSpPr txBox="1"/>
          <p:nvPr/>
        </p:nvSpPr>
        <p:spPr>
          <a:xfrm>
            <a:off x="7543800" y="3703320"/>
            <a:ext cx="3749040" cy="868680"/>
          </a:xfrm>
          <a:prstGeom prst="rect">
            <a:avLst/>
          </a:prstGeom>
          <a:noFill/>
          <a:ln/>
        </p:spPr>
        <p:txBody>
          <a:bodyPr wrap="square" lIns="0" tIns="0" rIns="0" bIns="0" rtlCol="0" anchor="ctr"/>
          <a:lstStyle/>
          <a:p>
            <a:pPr indent="0" marL="0">
              <a:buNone/>
            </a:pPr>
            <a:r>
              <a:rPr lang="en-US" sz="5400" b="1" dirty="0">
                <a:solidFill>
                  <a:schemeClr val="accent1"/>
                </a:solidFill>
              </a:rPr>
              <a:t>2.412%</a:t>
            </a:r>
            <a:endParaRPr lang="en-US" sz="5400" dirty="0"/>
          </a:p>
        </p:txBody>
      </p:sp>
      <p:sp>
        <p:nvSpPr>
          <p:cNvPr id="34" name="Text 32"/>
          <p:cNvSpPr txBox="1"/>
          <p:nvPr/>
        </p:nvSpPr>
        <p:spPr>
          <a:xfrm>
            <a:off x="7543800" y="4709160"/>
            <a:ext cx="3749040" cy="1234440"/>
          </a:xfrm>
          <a:prstGeom prst="rect">
            <a:avLst/>
          </a:prstGeom>
          <a:noFill/>
          <a:ln/>
        </p:spPr>
        <p:txBody>
          <a:bodyPr wrap="square" lIns="0" tIns="0" rIns="0" bIns="0" rtlCol="0" anchor="t"/>
          <a:lstStyle/>
          <a:p>
            <a:pPr indent="0" marL="0">
              <a:lnSpc>
                <a:spcPct val="115000"/>
              </a:lnSpc>
              <a:buNone/>
            </a:pPr>
            <a:r>
              <a:rPr lang="en-US" sz="1300" dirty="0">
                <a:solidFill>
                  <a:schemeClr val="bg1"/>
                </a:solidFill>
              </a:rPr>
              <a:t>1 − (1 − 2⁻¹²)¹⁰⁰. MD5가 random function처럼 행동하면, MD5를 호출하지 않는 어떤 sampler도 이 값을 넘을 수 없다.</a:t>
            </a:r>
            <a:endParaRPr lang="en-US" sz="1300" dirty="0"/>
          </a:p>
        </p:txBody>
      </p:sp>
      <p:sp>
        <p:nvSpPr>
          <p:cNvPr id="3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목적 · V6가 필요했던 이유</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앞선 다섯 번의 시도는 판정 없이 끝났다</a:t>
            </a:r>
            <a:endParaRPr lang="en-US" sz="3000" dirty="0"/>
          </a:p>
        </p:txBody>
      </p:sp>
      <p:sp>
        <p:nvSpPr>
          <p:cNvPr id="4" name="Shape 2"/>
          <p:cNvSpPr/>
          <p:nvPr/>
        </p:nvSpPr>
        <p:spPr>
          <a:xfrm>
            <a:off x="1417320" y="2258568"/>
            <a:ext cx="9372600" cy="0"/>
          </a:xfrm>
          <a:prstGeom prst="line">
            <a:avLst/>
          </a:prstGeom>
          <a:noFill/>
          <a:ln w="25400">
            <a:solidFill>
              <a:srgbClr val="AEB8C3"/>
            </a:solidFill>
            <a:prstDash val="solid"/>
          </a:ln>
        </p:spPr>
      </p:sp>
      <p:sp>
        <p:nvSpPr>
          <p:cNvPr id="5" name="Text 3"/>
          <p:cNvSpPr txBox="1"/>
          <p:nvPr/>
        </p:nvSpPr>
        <p:spPr>
          <a:xfrm>
            <a:off x="571500" y="155448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PoC</a:t>
            </a:r>
            <a:endParaRPr lang="en-US" sz="1600" dirty="0"/>
          </a:p>
        </p:txBody>
      </p:sp>
      <p:sp>
        <p:nvSpPr>
          <p:cNvPr id="6" name="Shape 4"/>
          <p:cNvSpPr/>
          <p:nvPr/>
        </p:nvSpPr>
        <p:spPr>
          <a:xfrm>
            <a:off x="1271016" y="2112264"/>
            <a:ext cx="292608" cy="292608"/>
          </a:xfrm>
          <a:prstGeom prst="ellipse">
            <a:avLst/>
          </a:prstGeom>
          <a:solidFill>
            <a:schemeClr val="bg1"/>
          </a:solidFill>
          <a:ln w="25400">
            <a:solidFill>
              <a:schemeClr val="accent3"/>
            </a:solidFill>
            <a:prstDash val="solid"/>
          </a:ln>
        </p:spPr>
      </p:sp>
      <p:sp>
        <p:nvSpPr>
          <p:cNvPr id="7" name="Text 5"/>
          <p:cNvSpPr txBox="1"/>
          <p:nvPr/>
        </p:nvSpPr>
        <p:spPr>
          <a:xfrm>
            <a:off x="57150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Main 0/305 · Random 9/305</a:t>
            </a:r>
            <a:endParaRPr lang="en-US" sz="1200" dirty="0"/>
          </a:p>
        </p:txBody>
      </p:sp>
      <p:sp>
        <p:nvSpPr>
          <p:cNvPr id="8" name="Text 6"/>
          <p:cNvSpPr txBox="1"/>
          <p:nvPr/>
        </p:nvSpPr>
        <p:spPr>
          <a:xfrm>
            <a:off x="57150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Gaussian 출력 형식 실패</a:t>
            </a:r>
            <a:endParaRPr lang="en-US" sz="1100" dirty="0"/>
          </a:p>
        </p:txBody>
      </p:sp>
      <p:sp>
        <p:nvSpPr>
          <p:cNvPr id="9" name="Text 7"/>
          <p:cNvSpPr txBox="1"/>
          <p:nvPr/>
        </p:nvSpPr>
        <p:spPr>
          <a:xfrm>
            <a:off x="2446020" y="155448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Toy MD5-8</a:t>
            </a:r>
            <a:endParaRPr lang="en-US" sz="1600" dirty="0"/>
          </a:p>
        </p:txBody>
      </p:sp>
      <p:sp>
        <p:nvSpPr>
          <p:cNvPr id="10" name="Shape 8"/>
          <p:cNvSpPr/>
          <p:nvPr/>
        </p:nvSpPr>
        <p:spPr>
          <a:xfrm>
            <a:off x="3145536" y="2112264"/>
            <a:ext cx="292608" cy="292608"/>
          </a:xfrm>
          <a:prstGeom prst="ellipse">
            <a:avLst/>
          </a:prstGeom>
          <a:solidFill>
            <a:schemeClr val="bg1"/>
          </a:solidFill>
          <a:ln w="25400">
            <a:solidFill>
              <a:schemeClr val="accent3"/>
            </a:solidFill>
            <a:prstDash val="solid"/>
          </a:ln>
        </p:spPr>
      </p:sp>
      <p:sp>
        <p:nvSpPr>
          <p:cNvPr id="11" name="Text 9"/>
          <p:cNvSpPr txBox="1"/>
          <p:nvPr/>
        </p:nvSpPr>
        <p:spPr>
          <a:xfrm>
            <a:off x="244602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Diffusion 3/18 · Prior 7/18</a:t>
            </a:r>
            <a:endParaRPr lang="en-US" sz="1200" dirty="0"/>
          </a:p>
        </p:txBody>
      </p:sp>
      <p:sp>
        <p:nvSpPr>
          <p:cNvPr id="12" name="Text 10"/>
          <p:cNvSpPr txBox="1"/>
          <p:nvPr/>
        </p:nvSpPr>
        <p:spPr>
          <a:xfrm>
            <a:off x="244602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표본이 작다</a:t>
            </a:r>
            <a:endParaRPr lang="en-US" sz="1100" dirty="0"/>
          </a:p>
        </p:txBody>
      </p:sp>
      <p:sp>
        <p:nvSpPr>
          <p:cNvPr id="13" name="Text 11"/>
          <p:cNvSpPr txBox="1"/>
          <p:nvPr/>
        </p:nvSpPr>
        <p:spPr>
          <a:xfrm>
            <a:off x="4320540" y="155448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v3 / v3.1</a:t>
            </a:r>
            <a:endParaRPr lang="en-US" sz="1600" dirty="0"/>
          </a:p>
        </p:txBody>
      </p:sp>
      <p:sp>
        <p:nvSpPr>
          <p:cNvPr id="14" name="Shape 12"/>
          <p:cNvSpPr/>
          <p:nvPr/>
        </p:nvSpPr>
        <p:spPr>
          <a:xfrm>
            <a:off x="5020056" y="2112264"/>
            <a:ext cx="292608" cy="292608"/>
          </a:xfrm>
          <a:prstGeom prst="ellipse">
            <a:avLst/>
          </a:prstGeom>
          <a:solidFill>
            <a:schemeClr val="bg1"/>
          </a:solidFill>
          <a:ln w="25400">
            <a:solidFill>
              <a:schemeClr val="accent3"/>
            </a:solidFill>
            <a:prstDash val="solid"/>
          </a:ln>
        </p:spPr>
      </p:sp>
      <p:sp>
        <p:nvSpPr>
          <p:cNvPr id="15" name="Text 13"/>
          <p:cNvSpPr txBox="1"/>
          <p:nvPr/>
        </p:nvSpPr>
        <p:spPr>
          <a:xfrm>
            <a:off x="432054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P-G-BGV 5/11 (/128)</a:t>
            </a:r>
            <a:endParaRPr lang="en-US" sz="1200" dirty="0"/>
          </a:p>
        </p:txBody>
      </p:sp>
      <p:sp>
        <p:nvSpPr>
          <p:cNvPr id="16" name="Text 14"/>
          <p:cNvSpPr txBox="1"/>
          <p:nvPr/>
        </p:nvSpPr>
        <p:spPr>
          <a:xfrm>
            <a:off x="432054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Printable Gaussian 적격성 미달</a:t>
            </a:r>
            <a:endParaRPr lang="en-US" sz="1100" dirty="0"/>
          </a:p>
        </p:txBody>
      </p:sp>
      <p:sp>
        <p:nvSpPr>
          <p:cNvPr id="17" name="Text 15"/>
          <p:cNvSpPr txBox="1"/>
          <p:nvPr/>
        </p:nvSpPr>
        <p:spPr>
          <a:xfrm>
            <a:off x="6195060" y="155448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v4</a:t>
            </a:r>
            <a:endParaRPr lang="en-US" sz="1600" dirty="0"/>
          </a:p>
        </p:txBody>
      </p:sp>
      <p:sp>
        <p:nvSpPr>
          <p:cNvPr id="18" name="Shape 16"/>
          <p:cNvSpPr/>
          <p:nvPr/>
        </p:nvSpPr>
        <p:spPr>
          <a:xfrm>
            <a:off x="6894576" y="2112264"/>
            <a:ext cx="292608" cy="292608"/>
          </a:xfrm>
          <a:prstGeom prst="ellipse">
            <a:avLst/>
          </a:prstGeom>
          <a:solidFill>
            <a:schemeClr val="bg1"/>
          </a:solidFill>
          <a:ln w="25400">
            <a:solidFill>
              <a:schemeClr val="accent3"/>
            </a:solidFill>
            <a:prstDash val="solid"/>
          </a:ln>
        </p:spPr>
      </p:sp>
      <p:sp>
        <p:nvSpPr>
          <p:cNvPr id="19" name="Text 17"/>
          <p:cNvSpPr txBox="1"/>
          <p:nvPr/>
        </p:nvSpPr>
        <p:spPr>
          <a:xfrm>
            <a:off x="619506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적격성 단계에서 중단</a:t>
            </a:r>
            <a:endParaRPr lang="en-US" sz="1200" dirty="0"/>
          </a:p>
        </p:txBody>
      </p:sp>
      <p:sp>
        <p:nvSpPr>
          <p:cNvPr id="20" name="Text 18"/>
          <p:cNvSpPr txBox="1"/>
          <p:nvPr/>
        </p:nvSpPr>
        <p:spPr>
          <a:xfrm>
            <a:off x="619506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checkpoint 선택 규칙</a:t>
            </a:r>
            <a:endParaRPr lang="en-US" sz="1100" dirty="0"/>
          </a:p>
        </p:txBody>
      </p:sp>
      <p:sp>
        <p:nvSpPr>
          <p:cNvPr id="21" name="Text 19"/>
          <p:cNvSpPr txBox="1"/>
          <p:nvPr/>
        </p:nvSpPr>
        <p:spPr>
          <a:xfrm>
            <a:off x="8069580" y="1554480"/>
            <a:ext cx="1691640" cy="365760"/>
          </a:xfrm>
          <a:prstGeom prst="rect">
            <a:avLst/>
          </a:prstGeom>
          <a:noFill/>
          <a:ln/>
        </p:spPr>
        <p:txBody>
          <a:bodyPr wrap="square" lIns="0" tIns="0" rIns="0" bIns="0" rtlCol="0" anchor="t"/>
          <a:lstStyle/>
          <a:p>
            <a:pPr algn="ctr" indent="0" marL="0">
              <a:buNone/>
            </a:pPr>
            <a:r>
              <a:rPr lang="en-US" sz="1600" b="1" dirty="0">
                <a:solidFill>
                  <a:schemeClr val="tx1"/>
                </a:solidFill>
              </a:rPr>
              <a:t>v5</a:t>
            </a:r>
            <a:endParaRPr lang="en-US" sz="1600" dirty="0"/>
          </a:p>
        </p:txBody>
      </p:sp>
      <p:sp>
        <p:nvSpPr>
          <p:cNvPr id="22" name="Shape 20"/>
          <p:cNvSpPr/>
          <p:nvPr/>
        </p:nvSpPr>
        <p:spPr>
          <a:xfrm>
            <a:off x="8769096" y="2112264"/>
            <a:ext cx="292608" cy="292608"/>
          </a:xfrm>
          <a:prstGeom prst="ellipse">
            <a:avLst/>
          </a:prstGeom>
          <a:solidFill>
            <a:schemeClr val="bg1"/>
          </a:solidFill>
          <a:ln w="25400">
            <a:solidFill>
              <a:schemeClr val="accent3"/>
            </a:solidFill>
            <a:prstDash val="solid"/>
          </a:ln>
        </p:spPr>
      </p:sp>
      <p:sp>
        <p:nvSpPr>
          <p:cNvPr id="23" name="Text 21"/>
          <p:cNvSpPr txBox="1"/>
          <p:nvPr/>
        </p:nvSpPr>
        <p:spPr>
          <a:xfrm>
            <a:off x="806958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C1 PASS · C3 미판정</a:t>
            </a:r>
            <a:endParaRPr lang="en-US" sz="1200" dirty="0"/>
          </a:p>
        </p:txBody>
      </p:sp>
      <p:sp>
        <p:nvSpPr>
          <p:cNvPr id="24" name="Text 22"/>
          <p:cNvSpPr txBox="1"/>
          <p:nvPr/>
        </p:nvSpPr>
        <p:spPr>
          <a:xfrm>
            <a:off x="806958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생성 속도가 계획의 55%, 예산 소진</a:t>
            </a:r>
            <a:endParaRPr lang="en-US" sz="1100" dirty="0"/>
          </a:p>
        </p:txBody>
      </p:sp>
      <p:sp>
        <p:nvSpPr>
          <p:cNvPr id="25" name="Text 23"/>
          <p:cNvSpPr txBox="1"/>
          <p:nvPr/>
        </p:nvSpPr>
        <p:spPr>
          <a:xfrm>
            <a:off x="9944100" y="1554480"/>
            <a:ext cx="1691640" cy="365760"/>
          </a:xfrm>
          <a:prstGeom prst="rect">
            <a:avLst/>
          </a:prstGeom>
          <a:noFill/>
          <a:ln/>
        </p:spPr>
        <p:txBody>
          <a:bodyPr wrap="square" lIns="0" tIns="0" rIns="0" bIns="0" rtlCol="0" anchor="t"/>
          <a:lstStyle/>
          <a:p>
            <a:pPr algn="ctr" indent="0" marL="0">
              <a:buNone/>
            </a:pPr>
            <a:r>
              <a:rPr lang="en-US" sz="1600" b="1" dirty="0">
                <a:solidFill>
                  <a:schemeClr val="accent6"/>
                </a:solidFill>
              </a:rPr>
              <a:t>V6</a:t>
            </a:r>
            <a:endParaRPr lang="en-US" sz="1600" dirty="0"/>
          </a:p>
        </p:txBody>
      </p:sp>
      <p:sp>
        <p:nvSpPr>
          <p:cNvPr id="26" name="Shape 24"/>
          <p:cNvSpPr/>
          <p:nvPr/>
        </p:nvSpPr>
        <p:spPr>
          <a:xfrm>
            <a:off x="10579608" y="2048256"/>
            <a:ext cx="420624" cy="420624"/>
          </a:xfrm>
          <a:prstGeom prst="ellipse">
            <a:avLst/>
          </a:prstGeom>
          <a:solidFill>
            <a:schemeClr val="accent1"/>
          </a:solidFill>
          <a:ln w="25400">
            <a:solidFill>
              <a:schemeClr val="accent1"/>
            </a:solidFill>
            <a:prstDash val="solid"/>
          </a:ln>
        </p:spPr>
      </p:sp>
      <p:sp>
        <p:nvSpPr>
          <p:cNvPr id="27" name="Text 25"/>
          <p:cNvSpPr txBox="1"/>
          <p:nvPr/>
        </p:nvSpPr>
        <p:spPr>
          <a:xfrm>
            <a:off x="9944100" y="2651760"/>
            <a:ext cx="1691640" cy="594360"/>
          </a:xfrm>
          <a:prstGeom prst="rect">
            <a:avLst/>
          </a:prstGeom>
          <a:noFill/>
          <a:ln/>
        </p:spPr>
        <p:txBody>
          <a:bodyPr wrap="square" lIns="0" tIns="0" rIns="0" bIns="0" rtlCol="0" anchor="t"/>
          <a:lstStyle/>
          <a:p>
            <a:pPr algn="ctr" indent="0" marL="0">
              <a:buNone/>
            </a:pPr>
            <a:r>
              <a:rPr lang="en-US" sz="1200" b="1" dirty="0">
                <a:solidFill>
                  <a:schemeClr val="tx1"/>
                </a:solidFill>
              </a:rPr>
              <a:t>FINAL_REJECTED</a:t>
            </a:r>
            <a:endParaRPr lang="en-US" sz="1200" dirty="0"/>
          </a:p>
        </p:txBody>
      </p:sp>
      <p:sp>
        <p:nvSpPr>
          <p:cNvPr id="28" name="Text 26"/>
          <p:cNvSpPr txBox="1"/>
          <p:nvPr/>
        </p:nvSpPr>
        <p:spPr>
          <a:xfrm>
            <a:off x="9944100" y="3246120"/>
            <a:ext cx="1691640" cy="594360"/>
          </a:xfrm>
          <a:prstGeom prst="rect">
            <a:avLst/>
          </a:prstGeom>
          <a:noFill/>
          <a:ln/>
        </p:spPr>
        <p:txBody>
          <a:bodyPr wrap="square" lIns="0" tIns="0" rIns="0" bIns="0" rtlCol="0" anchor="t"/>
          <a:lstStyle/>
          <a:p>
            <a:pPr algn="ctr" indent="0" marL="0">
              <a:buNone/>
            </a:pPr>
            <a:r>
              <a:rPr lang="en-US" sz="1100" dirty="0">
                <a:solidFill>
                  <a:schemeClr val="accent3"/>
                </a:solidFill>
              </a:rPr>
              <a:t>판정 완료, 연구 종료</a:t>
            </a:r>
            <a:endParaRPr lang="en-US" sz="1100" dirty="0"/>
          </a:p>
        </p:txBody>
      </p:sp>
      <p:sp>
        <p:nvSpPr>
          <p:cNvPr id="29" name="Shape 27"/>
          <p:cNvSpPr/>
          <p:nvPr/>
        </p:nvSpPr>
        <p:spPr>
          <a:xfrm>
            <a:off x="548640" y="4160520"/>
            <a:ext cx="5410048" cy="1965960"/>
          </a:xfrm>
          <a:prstGeom prst="roundRect">
            <a:avLst>
              <a:gd name="adj" fmla="val 3721"/>
            </a:avLst>
          </a:prstGeom>
          <a:solidFill>
            <a:schemeClr val="bg2"/>
          </a:solidFill>
          <a:ln w="9525">
            <a:solidFill>
              <a:schemeClr val="bg2"/>
            </a:solidFill>
            <a:prstDash val="solid"/>
          </a:ln>
        </p:spPr>
      </p:sp>
      <p:sp>
        <p:nvSpPr>
          <p:cNvPr id="30" name="Shape 28"/>
          <p:cNvSpPr/>
          <p:nvPr/>
        </p:nvSpPr>
        <p:spPr>
          <a:xfrm>
            <a:off x="822960" y="4434840"/>
            <a:ext cx="457200" cy="457200"/>
          </a:xfrm>
          <a:prstGeom prst="ellipse">
            <a:avLst/>
          </a:prstGeom>
          <a:solidFill>
            <a:schemeClr val="accent1"/>
          </a:solidFill>
          <a:ln w="9525">
            <a:solidFill>
              <a:schemeClr val="accent1"/>
            </a:solidFill>
            <a:prstDash val="solid"/>
          </a:ln>
        </p:spPr>
      </p:sp>
      <p:sp>
        <p:nvSpPr>
          <p:cNvPr id="31" name="Text 29"/>
          <p:cNvSpPr txBox="1"/>
          <p:nvPr/>
        </p:nvSpPr>
        <p:spPr>
          <a:xfrm>
            <a:off x="822960"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32" name="Text 30"/>
          <p:cNvSpPr txBox="1"/>
          <p:nvPr/>
        </p:nvSpPr>
        <p:spPr>
          <a:xfrm>
            <a:off x="1463040" y="4434840"/>
            <a:ext cx="4221328" cy="457200"/>
          </a:xfrm>
          <a:prstGeom prst="rect">
            <a:avLst/>
          </a:prstGeom>
          <a:noFill/>
          <a:ln/>
        </p:spPr>
        <p:txBody>
          <a:bodyPr wrap="square" lIns="0" tIns="0" rIns="0" bIns="0" rtlCol="0" anchor="ctr"/>
          <a:lstStyle/>
          <a:p>
            <a:pPr indent="0" marL="0">
              <a:buNone/>
            </a:pPr>
            <a:r>
              <a:rPr lang="en-US" sz="1800" b="1" dirty="0">
                <a:solidFill>
                  <a:schemeClr val="tx1"/>
                </a:solidFill>
              </a:rPr>
              <a:t>5개 파이프라인을 같은 조건에서 비교</a:t>
            </a:r>
            <a:endParaRPr lang="en-US" sz="1800" dirty="0"/>
          </a:p>
        </p:txBody>
      </p:sp>
      <p:sp>
        <p:nvSpPr>
          <p:cNvPr id="33" name="Text 31"/>
          <p:cNvSpPr txBox="1"/>
          <p:nvPr/>
        </p:nvSpPr>
        <p:spPr>
          <a:xfrm>
            <a:off x="1463040" y="4983480"/>
            <a:ext cx="4221328" cy="100584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target, 후보 예산(K=100), 학습 데이터량, 판정 규칙을 모두 같게 두고 표현·모델·source만 바꾼다.</a:t>
            </a:r>
            <a:endParaRPr lang="en-US" sz="1400" dirty="0"/>
          </a:p>
        </p:txBody>
      </p:sp>
      <p:sp>
        <p:nvSpPr>
          <p:cNvPr id="34" name="Shape 32"/>
          <p:cNvSpPr/>
          <p:nvPr/>
        </p:nvSpPr>
        <p:spPr>
          <a:xfrm>
            <a:off x="6233008" y="4160520"/>
            <a:ext cx="5410048" cy="1965960"/>
          </a:xfrm>
          <a:prstGeom prst="roundRect">
            <a:avLst>
              <a:gd name="adj" fmla="val 3721"/>
            </a:avLst>
          </a:prstGeom>
          <a:solidFill>
            <a:schemeClr val="bg2"/>
          </a:solidFill>
          <a:ln w="9525">
            <a:solidFill>
              <a:schemeClr val="bg2"/>
            </a:solidFill>
            <a:prstDash val="solid"/>
          </a:ln>
        </p:spPr>
      </p:sp>
      <p:sp>
        <p:nvSpPr>
          <p:cNvPr id="35" name="Shape 33"/>
          <p:cNvSpPr/>
          <p:nvPr/>
        </p:nvSpPr>
        <p:spPr>
          <a:xfrm>
            <a:off x="6507328" y="4434840"/>
            <a:ext cx="457200" cy="457200"/>
          </a:xfrm>
          <a:prstGeom prst="ellipse">
            <a:avLst/>
          </a:prstGeom>
          <a:solidFill>
            <a:schemeClr val="accent1"/>
          </a:solidFill>
          <a:ln w="9525">
            <a:solidFill>
              <a:schemeClr val="accent1"/>
            </a:solidFill>
            <a:prstDash val="solid"/>
          </a:ln>
        </p:spPr>
      </p:sp>
      <p:sp>
        <p:nvSpPr>
          <p:cNvPr id="36" name="Text 34"/>
          <p:cNvSpPr txBox="1"/>
          <p:nvPr/>
        </p:nvSpPr>
        <p:spPr>
          <a:xfrm>
            <a:off x="6507328"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37" name="Text 35"/>
          <p:cNvSpPr txBox="1"/>
          <p:nvPr/>
        </p:nvSpPr>
        <p:spPr>
          <a:xfrm>
            <a:off x="7147408" y="4434840"/>
            <a:ext cx="4221328" cy="457200"/>
          </a:xfrm>
          <a:prstGeom prst="rect">
            <a:avLst/>
          </a:prstGeom>
          <a:noFill/>
          <a:ln/>
        </p:spPr>
        <p:txBody>
          <a:bodyPr wrap="square" lIns="0" tIns="0" rIns="0" bIns="0" rtlCol="0" anchor="ctr"/>
          <a:lstStyle/>
          <a:p>
            <a:pPr indent="0" marL="0">
              <a:buNone/>
            </a:pPr>
            <a:r>
              <a:rPr lang="en-US" sz="1800" b="1" dirty="0">
                <a:solidFill>
                  <a:schemeClr val="tx1"/>
                </a:solidFill>
              </a:rPr>
              <a:t>어떤 결과가 나와도 최종 판정 후 종료</a:t>
            </a:r>
            <a:endParaRPr lang="en-US" sz="1800" dirty="0"/>
          </a:p>
        </p:txBody>
      </p:sp>
      <p:sp>
        <p:nvSpPr>
          <p:cNvPr id="38" name="Text 36"/>
          <p:cNvSpPr txBox="1"/>
          <p:nvPr/>
        </p:nvSpPr>
        <p:spPr>
          <a:xfrm>
            <a:off x="7147408" y="4983480"/>
            <a:ext cx="4221328" cy="1005840"/>
          </a:xfrm>
          <a:prstGeom prst="rect">
            <a:avLst/>
          </a:prstGeom>
          <a:noFill/>
          <a:ln/>
        </p:spPr>
        <p:txBody>
          <a:bodyPr wrap="square" lIns="0" tIns="0" rIns="0" bIns="0" rtlCol="0" anchor="t"/>
          <a:lstStyle/>
          <a:p>
            <a:pPr indent="0" marL="0">
              <a:lnSpc>
                <a:spcPct val="115000"/>
              </a:lnSpc>
              <a:buNone/>
            </a:pPr>
            <a:r>
              <a:rPr lang="en-US" sz="1400" dirty="0">
                <a:solidFill>
                  <a:schemeClr val="tx2"/>
                </a:solidFill>
              </a:rPr>
              <a:t>예산이 중간에 끝나도 유효한 판정이 남는 순차 설계를 쓴다. V6 이후 같은 질문의 revision은 없다.</a:t>
            </a:r>
            <a:endParaRPr lang="en-US" sz="1400" dirty="0"/>
          </a:p>
        </p:txBody>
      </p:sp>
      <p:sp>
        <p:nvSpPr>
          <p:cNvPr id="39"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3657600" cy="1097280"/>
          </a:xfrm>
          <a:prstGeom prst="rect">
            <a:avLst/>
          </a:prstGeom>
          <a:noFill/>
          <a:ln/>
        </p:spPr>
        <p:txBody>
          <a:bodyPr wrap="square" lIns="0" tIns="0" rIns="0" bIns="0" rtlCol="0"/>
          <a:lstStyle/>
          <a:p>
            <a:pPr indent="0" marL="0">
              <a:buNone/>
            </a:pPr>
            <a:r>
              <a:rPr lang="en-US" sz="6600" b="1" dirty="0">
                <a:solidFill>
                  <a:schemeClr val="accent1"/>
                </a:solidFill>
              </a:rPr>
              <a:t>02</a:t>
            </a:r>
            <a:endParaRPr lang="en-US" sz="66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rPr>
              <a:t>과정</a:t>
            </a:r>
            <a:endParaRPr lang="en-US" sz="4000" dirty="0"/>
          </a:p>
        </p:txBody>
      </p:sp>
      <p:sp>
        <p:nvSpPr>
          <p:cNvPr id="4" name="Text 0"/>
          <p:cNvSpPr/>
          <p:nvPr>
            <p:ph idx="102" type="body" hasCustomPrompt="1"/>
          </p:nvPr>
        </p:nvSpPr>
        <p:spPr>
          <a:xfrm>
            <a:off x="731520" y="4069080"/>
            <a:ext cx="10698480" cy="1097280"/>
          </a:xfrm>
          <a:prstGeom prst="rect">
            <a:avLst/>
          </a:prstGeom>
          <a:noFill/>
          <a:ln/>
        </p:spPr>
        <p:txBody>
          <a:bodyPr wrap="square" lIns="0" tIns="0" rIns="0" bIns="0" rtlCol="0" anchor="t"/>
          <a:lstStyle/>
          <a:p>
            <a:pPr indent="0" marL="0">
              <a:buNone/>
            </a:pPr>
            <a:r>
              <a:rPr lang="en-US" sz="1800" dirty="0">
                <a:solidFill>
                  <a:schemeClr val="accent5"/>
                </a:solidFill>
              </a:rPr>
              <a:t>어떻게 공정하게 판정했는가 — 파이프라인, 대조군, 단계, 실행 기록</a:t>
            </a:r>
            <a:endParaRPr lang="en-US" sz="18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과정 · 비교 대상</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5개 파이프라인을 같은 규약으로 비교했다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463040"/>
                <a:gridCol w="1508760"/>
                <a:gridCol w="2148840"/>
                <a:gridCol w="1783080"/>
                <a:gridCol w="960120"/>
                <a:gridCol w="1508760"/>
                <a:gridCol w="1721815"/>
              </a:tblGrid>
              <a:tr h="384048">
                <a:tc>
                  <a:txBody>
                    <a:bodyPr/>
                    <a:lstStyle/>
                    <a:p>
                      <a:pPr indent="0" marL="0">
                        <a:buNone/>
                      </a:pPr>
                      <a:r>
                        <a:rPr lang="en-US" sz="1300" b="1" dirty="0">
                          <a:solidFill>
                            <a:schemeClr val="bg1"/>
                          </a:solidFill>
                        </a:rPr>
                        <a:t>파이프라인</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Source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표현</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모델</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Params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생성</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지속 후보/s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384048">
                <a:tc>
                  <a:txBody>
                    <a:bodyPr/>
                    <a:lstStyle/>
                    <a:p>
                      <a:pPr algn="l" indent="0" marL="0">
                        <a:buNone/>
                      </a:pPr>
                      <a:r>
                        <a:rPr lang="en-US" sz="1300" b="1" dirty="0">
                          <a:solidFill>
                            <a:schemeClr val="tx1"/>
                          </a:solidFill>
                        </a:rPr>
                        <a:t>P-G-BGV</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Printable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BGV 이미지 2×32×128</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G3-U (U-Net)</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0.91M</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DDIM 25 step</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431</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algn="l" indent="0" marL="0">
                        <a:buNone/>
                      </a:pPr>
                      <a:r>
                        <a:rPr lang="en-US" sz="1300" b="1" dirty="0">
                          <a:solidFill>
                            <a:schemeClr val="tx1"/>
                          </a:solidFill>
                        </a:rPr>
                        <a:t>P-G-CGGE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Printable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CGGE glyph 2×32×64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G3-U (U-Net)</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0.51M</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DDIM 25 step</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863</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algn="l" indent="0" marL="0">
                        <a:buNone/>
                      </a:pPr>
                      <a:r>
                        <a:rPr lang="en-US" sz="1300" b="1" dirty="0">
                          <a:solidFill>
                            <a:schemeClr val="tx1"/>
                          </a:solidFill>
                        </a:rPr>
                        <a:t>P-DISC</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Printable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Token (vocab 97)</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D1-S (이산)</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0.51M</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32 intervals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15,461</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algn="l" indent="0" marL="0">
                        <a:buNone/>
                      </a:pPr>
                      <a:r>
                        <a:rPr lang="en-US" sz="1300" b="1" dirty="0">
                          <a:solidFill>
                            <a:schemeClr val="tx1"/>
                          </a:solidFill>
                        </a:rPr>
                        <a:t>R-G-BGV</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Random Bytes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BGV 이미지 2×32×128</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G3-U (U-Net)</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0.91M</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DDIM 25 step</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416</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384048">
                <a:tc>
                  <a:txBody>
                    <a:bodyPr/>
                    <a:lstStyle/>
                    <a:p>
                      <a:pPr algn="l" indent="0" marL="0">
                        <a:buNone/>
                      </a:pPr>
                      <a:r>
                        <a:rPr lang="en-US" sz="1300" b="1" dirty="0">
                          <a:solidFill>
                            <a:schemeClr val="tx1"/>
                          </a:solidFill>
                        </a:rPr>
                        <a:t>R-DISC</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Random Bytes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Token (vocab 259)</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D1-S (이산)</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1.25M</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l" indent="0" marL="0">
                        <a:buNone/>
                      </a:pPr>
                      <a:r>
                        <a:rPr lang="en-US" sz="1300" dirty="0">
                          <a:solidFill>
                            <a:schemeClr val="tx1"/>
                          </a:solidFill>
                        </a:rPr>
                        <a:t>32 intervals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6,529</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5" name="Text 2"/>
          <p:cNvSpPr txBox="1"/>
          <p:nvPr/>
        </p:nvSpPr>
        <p:spPr>
          <a:xfrm>
            <a:off x="548640" y="4069080"/>
            <a:ext cx="7315200" cy="320040"/>
          </a:xfrm>
          <a:prstGeom prst="rect">
            <a:avLst/>
          </a:prstGeom>
          <a:noFill/>
          <a:ln/>
        </p:spPr>
        <p:txBody>
          <a:bodyPr wrap="square" lIns="0" tIns="0" rIns="0" bIns="0" rtlCol="0" anchor="t"/>
          <a:lstStyle/>
          <a:p>
            <a:pPr indent="0" marL="0">
              <a:buNone/>
            </a:pPr>
            <a:r>
              <a:rPr lang="en-US" sz="1400" b="1" dirty="0">
                <a:solidFill>
                  <a:schemeClr val="accent2"/>
                </a:solidFill>
              </a:rPr>
              <a:t>다섯 파이프라인에 똑같이 적용한 규약</a:t>
            </a:r>
            <a:endParaRPr lang="en-US" sz="1400" dirty="0"/>
          </a:p>
        </p:txBody>
      </p:sp>
      <p:sp>
        <p:nvSpPr>
          <p:cNvPr id="6" name="Shape 3"/>
          <p:cNvSpPr/>
          <p:nvPr/>
        </p:nvSpPr>
        <p:spPr>
          <a:xfrm>
            <a:off x="548640" y="4480560"/>
            <a:ext cx="2567864" cy="1645920"/>
          </a:xfrm>
          <a:prstGeom prst="roundRect">
            <a:avLst>
              <a:gd name="adj" fmla="val 4444"/>
            </a:avLst>
          </a:prstGeom>
          <a:solidFill>
            <a:schemeClr val="bg2"/>
          </a:solidFill>
          <a:ln w="9525">
            <a:solidFill>
              <a:schemeClr val="bg2"/>
            </a:solidFill>
            <a:prstDash val="solid"/>
          </a:ln>
        </p:spPr>
      </p:sp>
      <p:sp>
        <p:nvSpPr>
          <p:cNvPr id="7" name="Text 4"/>
          <p:cNvSpPr txBox="1"/>
          <p:nvPr/>
        </p:nvSpPr>
        <p:spPr>
          <a:xfrm>
            <a:off x="777240" y="4663440"/>
            <a:ext cx="2110664" cy="320040"/>
          </a:xfrm>
          <a:prstGeom prst="rect">
            <a:avLst/>
          </a:prstGeom>
          <a:noFill/>
          <a:ln/>
        </p:spPr>
        <p:txBody>
          <a:bodyPr wrap="square" lIns="0" tIns="0" rIns="0" bIns="0" rtlCol="0" anchor="t"/>
          <a:lstStyle/>
          <a:p>
            <a:pPr indent="0" marL="0">
              <a:buNone/>
            </a:pPr>
            <a:r>
              <a:rPr lang="en-US" sz="1500" b="1" dirty="0">
                <a:solidFill>
                  <a:schemeClr val="tx1"/>
                </a:solidFill>
              </a:rPr>
              <a:t>학습량</a:t>
            </a:r>
            <a:endParaRPr lang="en-US" sz="1500" dirty="0"/>
          </a:p>
        </p:txBody>
      </p:sp>
      <p:sp>
        <p:nvSpPr>
          <p:cNvPr id="8" name="Text 5"/>
          <p:cNvSpPr txBox="1"/>
          <p:nvPr/>
        </p:nvSpPr>
        <p:spPr>
          <a:xfrm>
            <a:off x="777240" y="5029200"/>
            <a:ext cx="2110664" cy="10058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새 쌍 40,000 updates × 256 = 1,024만 쌍. 최종 checkpoint만 사용</a:t>
            </a:r>
            <a:endParaRPr lang="en-US" sz="1300" dirty="0"/>
          </a:p>
        </p:txBody>
      </p:sp>
      <p:sp>
        <p:nvSpPr>
          <p:cNvPr id="9" name="Shape 6"/>
          <p:cNvSpPr/>
          <p:nvPr/>
        </p:nvSpPr>
        <p:spPr>
          <a:xfrm>
            <a:off x="3390824" y="4480560"/>
            <a:ext cx="2567864" cy="1645920"/>
          </a:xfrm>
          <a:prstGeom prst="roundRect">
            <a:avLst>
              <a:gd name="adj" fmla="val 4444"/>
            </a:avLst>
          </a:prstGeom>
          <a:solidFill>
            <a:schemeClr val="bg2"/>
          </a:solidFill>
          <a:ln w="9525">
            <a:solidFill>
              <a:schemeClr val="bg2"/>
            </a:solidFill>
            <a:prstDash val="solid"/>
          </a:ln>
        </p:spPr>
      </p:sp>
      <p:sp>
        <p:nvSpPr>
          <p:cNvPr id="10" name="Text 7"/>
          <p:cNvSpPr txBox="1"/>
          <p:nvPr/>
        </p:nvSpPr>
        <p:spPr>
          <a:xfrm>
            <a:off x="3619424" y="4663440"/>
            <a:ext cx="2110664" cy="320040"/>
          </a:xfrm>
          <a:prstGeom prst="rect">
            <a:avLst/>
          </a:prstGeom>
          <a:noFill/>
          <a:ln/>
        </p:spPr>
        <p:txBody>
          <a:bodyPr wrap="square" lIns="0" tIns="0" rIns="0" bIns="0" rtlCol="0" anchor="t"/>
          <a:lstStyle/>
          <a:p>
            <a:pPr indent="0" marL="0">
              <a:buNone/>
            </a:pPr>
            <a:r>
              <a:rPr lang="en-US" sz="1500" b="1" dirty="0">
                <a:solidFill>
                  <a:schemeClr val="tx1"/>
                </a:solidFill>
              </a:rPr>
              <a:t>데이터</a:t>
            </a:r>
            <a:endParaRPr lang="en-US" sz="1500" dirty="0"/>
          </a:p>
        </p:txBody>
      </p:sp>
      <p:sp>
        <p:nvSpPr>
          <p:cNvPr id="11" name="Text 8"/>
          <p:cNvSpPr txBox="1"/>
          <p:nvPr/>
        </p:nvSpPr>
        <p:spPr>
          <a:xfrm>
            <a:off x="3619424" y="5029200"/>
            <a:ext cx="2110664" cy="10058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같은 split과 trial 목록. 같은 source는 같은 메시지 stream</a:t>
            </a:r>
            <a:endParaRPr lang="en-US" sz="1300" dirty="0"/>
          </a:p>
        </p:txBody>
      </p:sp>
      <p:sp>
        <p:nvSpPr>
          <p:cNvPr id="12" name="Shape 9"/>
          <p:cNvSpPr/>
          <p:nvPr/>
        </p:nvSpPr>
        <p:spPr>
          <a:xfrm>
            <a:off x="6233008" y="4480560"/>
            <a:ext cx="2567864" cy="1645920"/>
          </a:xfrm>
          <a:prstGeom prst="roundRect">
            <a:avLst>
              <a:gd name="adj" fmla="val 4444"/>
            </a:avLst>
          </a:prstGeom>
          <a:solidFill>
            <a:schemeClr val="bg2"/>
          </a:solidFill>
          <a:ln w="9525">
            <a:solidFill>
              <a:schemeClr val="bg2"/>
            </a:solidFill>
            <a:prstDash val="solid"/>
          </a:ln>
        </p:spPr>
      </p:sp>
      <p:sp>
        <p:nvSpPr>
          <p:cNvPr id="13" name="Text 10"/>
          <p:cNvSpPr txBox="1"/>
          <p:nvPr/>
        </p:nvSpPr>
        <p:spPr>
          <a:xfrm>
            <a:off x="6461608" y="4663440"/>
            <a:ext cx="2110664" cy="320040"/>
          </a:xfrm>
          <a:prstGeom prst="rect">
            <a:avLst/>
          </a:prstGeom>
          <a:noFill/>
          <a:ln/>
        </p:spPr>
        <p:txBody>
          <a:bodyPr wrap="square" lIns="0" tIns="0" rIns="0" bIns="0" rtlCol="0" anchor="t"/>
          <a:lstStyle/>
          <a:p>
            <a:pPr indent="0" marL="0">
              <a:buNone/>
            </a:pPr>
            <a:r>
              <a:rPr lang="en-US" sz="1500" b="1" dirty="0">
                <a:solidFill>
                  <a:schemeClr val="tx1"/>
                </a:solidFill>
              </a:rPr>
              <a:t>Loss</a:t>
            </a:r>
            <a:endParaRPr lang="en-US" sz="1500" dirty="0"/>
          </a:p>
        </p:txBody>
      </p:sp>
      <p:sp>
        <p:nvSpPr>
          <p:cNvPr id="14" name="Text 11"/>
          <p:cNvSpPr txBox="1"/>
          <p:nvPr/>
        </p:nvSpPr>
        <p:spPr>
          <a:xfrm>
            <a:off x="6461608" y="5029200"/>
            <a:ext cx="2110664" cy="10058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균일 payload loss. 합성 과제 전용 가중치를 쓰지 않음</a:t>
            </a:r>
            <a:endParaRPr lang="en-US" sz="1300" dirty="0"/>
          </a:p>
        </p:txBody>
      </p:sp>
      <p:sp>
        <p:nvSpPr>
          <p:cNvPr id="15" name="Shape 12"/>
          <p:cNvSpPr/>
          <p:nvPr/>
        </p:nvSpPr>
        <p:spPr>
          <a:xfrm>
            <a:off x="9075191" y="4480560"/>
            <a:ext cx="2567864" cy="1645920"/>
          </a:xfrm>
          <a:prstGeom prst="roundRect">
            <a:avLst>
              <a:gd name="adj" fmla="val 4444"/>
            </a:avLst>
          </a:prstGeom>
          <a:solidFill>
            <a:schemeClr val="bg2"/>
          </a:solidFill>
          <a:ln w="9525">
            <a:solidFill>
              <a:schemeClr val="bg2"/>
            </a:solidFill>
            <a:prstDash val="solid"/>
          </a:ln>
        </p:spPr>
      </p:sp>
      <p:sp>
        <p:nvSpPr>
          <p:cNvPr id="16" name="Text 13"/>
          <p:cNvSpPr txBox="1"/>
          <p:nvPr/>
        </p:nvSpPr>
        <p:spPr>
          <a:xfrm>
            <a:off x="9303791" y="4663440"/>
            <a:ext cx="2110664" cy="320040"/>
          </a:xfrm>
          <a:prstGeom prst="rect">
            <a:avLst/>
          </a:prstGeom>
          <a:noFill/>
          <a:ln/>
        </p:spPr>
        <p:txBody>
          <a:bodyPr wrap="square" lIns="0" tIns="0" rIns="0" bIns="0" rtlCol="0" anchor="t"/>
          <a:lstStyle/>
          <a:p>
            <a:pPr indent="0" marL="0">
              <a:buNone/>
            </a:pPr>
            <a:r>
              <a:rPr lang="en-US" sz="1500" b="1" dirty="0">
                <a:solidFill>
                  <a:schemeClr val="tx1"/>
                </a:solidFill>
              </a:rPr>
              <a:t>Decoder</a:t>
            </a:r>
            <a:endParaRPr lang="en-US" sz="1500" dirty="0"/>
          </a:p>
        </p:txBody>
      </p:sp>
      <p:sp>
        <p:nvSpPr>
          <p:cNvPr id="17" name="Text 14"/>
          <p:cNvSpPr txBox="1"/>
          <p:nvPr/>
        </p:nvSpPr>
        <p:spPr>
          <a:xfrm>
            <a:off x="9303791" y="5029200"/>
            <a:ext cx="2110664" cy="1005840"/>
          </a:xfrm>
          <a:prstGeom prst="rect">
            <a:avLst/>
          </a:prstGeom>
          <a:noFill/>
          <a:ln/>
        </p:spPr>
        <p:txBody>
          <a:bodyPr wrap="square" lIns="0" tIns="0" rIns="0" bIns="0" rtlCol="0" anchor="t"/>
          <a:lstStyle/>
          <a:p>
            <a:pPr indent="0" marL="0">
              <a:lnSpc>
                <a:spcPct val="110000"/>
              </a:lnSpc>
              <a:buNone/>
            </a:pPr>
            <a:r>
              <a:rPr lang="en-US" sz="1300" dirty="0">
                <a:solidFill>
                  <a:schemeClr val="tx2"/>
                </a:solidFill>
              </a:rPr>
              <a:t>source alphabet 안의 최근접 prototype. valid는 구조적으로 100%</a:t>
            </a:r>
            <a:endParaRPr lang="en-US" sz="1300" dirty="0"/>
          </a:p>
        </p:txBody>
      </p:sp>
      <p:sp>
        <p:nvSpPr>
          <p:cNvPr id="18"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과정 · 대조군과 판정 규칙</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Main을 세 대조군과 짝지어 비교했다</a:t>
            </a:r>
            <a:endParaRPr lang="en-US" sz="3000" dirty="0"/>
          </a:p>
        </p:txBody>
      </p:sp>
      <p:sp>
        <p:nvSpPr>
          <p:cNvPr id="4" name="Shape 2"/>
          <p:cNvSpPr/>
          <p:nvPr/>
        </p:nvSpPr>
        <p:spPr>
          <a:xfrm>
            <a:off x="548640" y="1508760"/>
            <a:ext cx="3154680" cy="2194560"/>
          </a:xfrm>
          <a:prstGeom prst="roundRect">
            <a:avLst>
              <a:gd name="adj" fmla="val 3333"/>
            </a:avLst>
          </a:prstGeom>
          <a:solidFill>
            <a:schemeClr val="bg2"/>
          </a:solidFill>
          <a:ln w="9525">
            <a:solidFill>
              <a:schemeClr val="bg2"/>
            </a:solidFill>
            <a:prstDash val="solid"/>
          </a:ln>
        </p:spPr>
      </p:sp>
      <p:sp>
        <p:nvSpPr>
          <p:cNvPr id="5" name="Text 3"/>
          <p:cNvSpPr txBox="1"/>
          <p:nvPr/>
        </p:nvSpPr>
        <p:spPr>
          <a:xfrm>
            <a:off x="777240" y="1691640"/>
            <a:ext cx="2697480" cy="274320"/>
          </a:xfrm>
          <a:prstGeom prst="rect">
            <a:avLst/>
          </a:prstGeom>
          <a:noFill/>
          <a:ln/>
        </p:spPr>
        <p:txBody>
          <a:bodyPr wrap="square" lIns="0" tIns="0" rIns="0" bIns="0" rtlCol="0" anchor="t"/>
          <a:lstStyle/>
          <a:p>
            <a:pPr indent="0" marL="0">
              <a:buNone/>
            </a:pPr>
            <a:r>
              <a:rPr lang="en-US" sz="1200" b="1" dirty="0">
                <a:solidFill>
                  <a:schemeClr val="accent2"/>
                </a:solidFill>
              </a:rPr>
              <a:t>MAIN</a:t>
            </a:r>
            <a:endParaRPr lang="en-US" sz="1200" dirty="0"/>
          </a:p>
        </p:txBody>
      </p:sp>
      <p:sp>
        <p:nvSpPr>
          <p:cNvPr id="6" name="Text 4"/>
          <p:cNvSpPr txBox="1"/>
          <p:nvPr/>
        </p:nvSpPr>
        <p:spPr>
          <a:xfrm>
            <a:off x="777240" y="1984248"/>
            <a:ext cx="2697480" cy="365760"/>
          </a:xfrm>
          <a:prstGeom prst="rect">
            <a:avLst/>
          </a:prstGeom>
          <a:noFill/>
          <a:ln/>
        </p:spPr>
        <p:txBody>
          <a:bodyPr wrap="square" lIns="0" tIns="0" rIns="0" bIns="0" rtlCol="0" anchor="t"/>
          <a:lstStyle/>
          <a:p>
            <a:pPr indent="0" marL="0">
              <a:buNone/>
            </a:pPr>
            <a:r>
              <a:rPr lang="en-US" sz="1700" b="1" dirty="0">
                <a:solidFill>
                  <a:schemeClr val="tx1"/>
                </a:solidFill>
              </a:rPr>
              <a:t>검증 대상</a:t>
            </a:r>
            <a:endParaRPr lang="en-US" sz="1700" dirty="0"/>
          </a:p>
        </p:txBody>
      </p:sp>
      <p:sp>
        <p:nvSpPr>
          <p:cNvPr id="7" name="Text 5"/>
          <p:cNvSpPr txBox="1"/>
          <p:nvPr/>
        </p:nvSpPr>
        <p:spPr>
          <a:xfrm>
            <a:off x="777240" y="2404872"/>
            <a:ext cx="2697480"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실제 해시 조건으로 학습하고, 요청한 target을 조건으로 후보를 만든다.</a:t>
            </a:r>
            <a:endParaRPr lang="en-US" sz="1250" dirty="0"/>
          </a:p>
        </p:txBody>
      </p:sp>
      <p:sp>
        <p:nvSpPr>
          <p:cNvPr id="8" name="Text 6"/>
          <p:cNvSpPr txBox="1"/>
          <p:nvPr/>
        </p:nvSpPr>
        <p:spPr>
          <a:xfrm>
            <a:off x="777240" y="3291840"/>
            <a:ext cx="2697480" cy="274320"/>
          </a:xfrm>
          <a:prstGeom prst="rect">
            <a:avLst/>
          </a:prstGeom>
          <a:noFill/>
          <a:ln/>
        </p:spPr>
        <p:txBody>
          <a:bodyPr wrap="square" lIns="0" tIns="0" rIns="0" bIns="0" rtlCol="0" anchor="t"/>
          <a:lstStyle/>
          <a:p>
            <a:pPr indent="0" marL="0">
              <a:buNone/>
            </a:pPr>
            <a:r>
              <a:rPr lang="en-US" sz="1250" b="1" dirty="0">
                <a:solidFill>
                  <a:schemeClr val="accent6"/>
                </a:solidFill>
              </a:rPr>
              <a:t>판정의 기준 모델</a:t>
            </a:r>
            <a:endParaRPr lang="en-US" sz="1250" dirty="0"/>
          </a:p>
        </p:txBody>
      </p:sp>
      <p:sp>
        <p:nvSpPr>
          <p:cNvPr id="9" name="Shape 7"/>
          <p:cNvSpPr/>
          <p:nvPr/>
        </p:nvSpPr>
        <p:spPr>
          <a:xfrm>
            <a:off x="3977640" y="1508760"/>
            <a:ext cx="3154680" cy="2194560"/>
          </a:xfrm>
          <a:prstGeom prst="roundRect">
            <a:avLst>
              <a:gd name="adj" fmla="val 3333"/>
            </a:avLst>
          </a:prstGeom>
          <a:solidFill>
            <a:schemeClr val="bg2"/>
          </a:solidFill>
          <a:ln w="9525">
            <a:solidFill>
              <a:schemeClr val="bg2"/>
            </a:solidFill>
            <a:prstDash val="solid"/>
          </a:ln>
        </p:spPr>
      </p:sp>
      <p:sp>
        <p:nvSpPr>
          <p:cNvPr id="10" name="Text 8"/>
          <p:cNvSpPr txBox="1"/>
          <p:nvPr/>
        </p:nvSpPr>
        <p:spPr>
          <a:xfrm>
            <a:off x="4206240" y="1691640"/>
            <a:ext cx="2697480" cy="274320"/>
          </a:xfrm>
          <a:prstGeom prst="rect">
            <a:avLst/>
          </a:prstGeom>
          <a:noFill/>
          <a:ln/>
        </p:spPr>
        <p:txBody>
          <a:bodyPr wrap="square" lIns="0" tIns="0" rIns="0" bIns="0" rtlCol="0" anchor="t"/>
          <a:lstStyle/>
          <a:p>
            <a:pPr indent="0" marL="0">
              <a:buNone/>
            </a:pPr>
            <a:r>
              <a:rPr lang="en-US" sz="1200" b="1" dirty="0">
                <a:solidFill>
                  <a:schemeClr val="accent2"/>
                </a:solidFill>
              </a:rPr>
              <a:t>SHUFFLED</a:t>
            </a:r>
            <a:endParaRPr lang="en-US" sz="1200" dirty="0"/>
          </a:p>
        </p:txBody>
      </p:sp>
      <p:sp>
        <p:nvSpPr>
          <p:cNvPr id="11" name="Text 9"/>
          <p:cNvSpPr txBox="1"/>
          <p:nvPr/>
        </p:nvSpPr>
        <p:spPr>
          <a:xfrm>
            <a:off x="4206240" y="1984248"/>
            <a:ext cx="2697480" cy="365760"/>
          </a:xfrm>
          <a:prstGeom prst="rect">
            <a:avLst/>
          </a:prstGeom>
          <a:noFill/>
          <a:ln/>
        </p:spPr>
        <p:txBody>
          <a:bodyPr wrap="square" lIns="0" tIns="0" rIns="0" bIns="0" rtlCol="0" anchor="t"/>
          <a:lstStyle/>
          <a:p>
            <a:pPr indent="0" marL="0">
              <a:buNone/>
            </a:pPr>
            <a:r>
              <a:rPr lang="en-US" sz="1700" b="1" dirty="0">
                <a:solidFill>
                  <a:schemeClr val="tx1"/>
                </a:solidFill>
              </a:rPr>
              <a:t>조건 학습의 몫</a:t>
            </a:r>
            <a:endParaRPr lang="en-US" sz="1700" dirty="0"/>
          </a:p>
        </p:txBody>
      </p:sp>
      <p:sp>
        <p:nvSpPr>
          <p:cNvPr id="12" name="Text 10"/>
          <p:cNvSpPr txBox="1"/>
          <p:nvPr/>
        </p:nvSpPr>
        <p:spPr>
          <a:xfrm>
            <a:off x="4206240" y="2404872"/>
            <a:ext cx="2697480"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데이터·초기값·난수는 Main과 같고 batch 안에서 조건만 섞어 학습한다.</a:t>
            </a:r>
            <a:endParaRPr lang="en-US" sz="1250" dirty="0"/>
          </a:p>
        </p:txBody>
      </p:sp>
      <p:sp>
        <p:nvSpPr>
          <p:cNvPr id="13" name="Text 11"/>
          <p:cNvSpPr txBox="1"/>
          <p:nvPr/>
        </p:nvSpPr>
        <p:spPr>
          <a:xfrm>
            <a:off x="4206240" y="3291840"/>
            <a:ext cx="2697480" cy="274320"/>
          </a:xfrm>
          <a:prstGeom prst="rect">
            <a:avLst/>
          </a:prstGeom>
          <a:noFill/>
          <a:ln/>
        </p:spPr>
        <p:txBody>
          <a:bodyPr wrap="square" lIns="0" tIns="0" rIns="0" bIns="0" rtlCol="0" anchor="t"/>
          <a:lstStyle/>
          <a:p>
            <a:pPr indent="0" marL="0">
              <a:buNone/>
            </a:pPr>
            <a:r>
              <a:rPr lang="en-US" sz="1250" b="1" dirty="0">
                <a:solidFill>
                  <a:schemeClr val="accent6"/>
                </a:solidFill>
              </a:rPr>
              <a:t>Δ_S = Main − Shuffled</a:t>
            </a:r>
            <a:endParaRPr lang="en-US" sz="1250" dirty="0"/>
          </a:p>
        </p:txBody>
      </p:sp>
      <p:sp>
        <p:nvSpPr>
          <p:cNvPr id="14" name="Shape 12"/>
          <p:cNvSpPr/>
          <p:nvPr/>
        </p:nvSpPr>
        <p:spPr>
          <a:xfrm>
            <a:off x="548640" y="3977640"/>
            <a:ext cx="3154680" cy="2194560"/>
          </a:xfrm>
          <a:prstGeom prst="roundRect">
            <a:avLst>
              <a:gd name="adj" fmla="val 3333"/>
            </a:avLst>
          </a:prstGeom>
          <a:solidFill>
            <a:schemeClr val="bg2"/>
          </a:solidFill>
          <a:ln w="9525">
            <a:solidFill>
              <a:schemeClr val="bg2"/>
            </a:solidFill>
            <a:prstDash val="solid"/>
          </a:ln>
        </p:spPr>
      </p:sp>
      <p:sp>
        <p:nvSpPr>
          <p:cNvPr id="15" name="Text 13"/>
          <p:cNvSpPr txBox="1"/>
          <p:nvPr/>
        </p:nvSpPr>
        <p:spPr>
          <a:xfrm>
            <a:off x="777240" y="4160520"/>
            <a:ext cx="2697480" cy="274320"/>
          </a:xfrm>
          <a:prstGeom prst="rect">
            <a:avLst/>
          </a:prstGeom>
          <a:noFill/>
          <a:ln/>
        </p:spPr>
        <p:txBody>
          <a:bodyPr wrap="square" lIns="0" tIns="0" rIns="0" bIns="0" rtlCol="0" anchor="t"/>
          <a:lstStyle/>
          <a:p>
            <a:pPr indent="0" marL="0">
              <a:buNone/>
            </a:pPr>
            <a:r>
              <a:rPr lang="en-US" sz="1200" b="1" dirty="0">
                <a:solidFill>
                  <a:schemeClr val="accent2"/>
                </a:solidFill>
              </a:rPr>
              <a:t>RANDOM</a:t>
            </a:r>
            <a:endParaRPr lang="en-US" sz="1200" dirty="0"/>
          </a:p>
        </p:txBody>
      </p:sp>
      <p:sp>
        <p:nvSpPr>
          <p:cNvPr id="16" name="Text 14"/>
          <p:cNvSpPr txBox="1"/>
          <p:nvPr/>
        </p:nvSpPr>
        <p:spPr>
          <a:xfrm>
            <a:off x="777240" y="4453128"/>
            <a:ext cx="2697480" cy="365760"/>
          </a:xfrm>
          <a:prstGeom prst="rect">
            <a:avLst/>
          </a:prstGeom>
          <a:noFill/>
          <a:ln/>
        </p:spPr>
        <p:txBody>
          <a:bodyPr wrap="square" lIns="0" tIns="0" rIns="0" bIns="0" rtlCol="0" anchor="t"/>
          <a:lstStyle/>
          <a:p>
            <a:pPr indent="0" marL="0">
              <a:buNone/>
            </a:pPr>
            <a:r>
              <a:rPr lang="en-US" sz="1700" b="1" dirty="0">
                <a:solidFill>
                  <a:schemeClr val="tx1"/>
                </a:solidFill>
              </a:rPr>
              <a:t>모델 없는 기준선</a:t>
            </a:r>
            <a:endParaRPr lang="en-US" sz="1700" dirty="0"/>
          </a:p>
        </p:txBody>
      </p:sp>
      <p:sp>
        <p:nvSpPr>
          <p:cNvPr id="17" name="Text 15"/>
          <p:cNvSpPr txBox="1"/>
          <p:nvPr/>
        </p:nvSpPr>
        <p:spPr>
          <a:xfrm>
            <a:off x="777240" y="4873752"/>
            <a:ext cx="2697480"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Source prior에서 바로 뽑는다. 같은 source는 같은 stream을 공유한다.</a:t>
            </a:r>
            <a:endParaRPr lang="en-US" sz="1250" dirty="0"/>
          </a:p>
        </p:txBody>
      </p:sp>
      <p:sp>
        <p:nvSpPr>
          <p:cNvPr id="18" name="Text 16"/>
          <p:cNvSpPr txBox="1"/>
          <p:nvPr/>
        </p:nvSpPr>
        <p:spPr>
          <a:xfrm>
            <a:off x="777240" y="5760720"/>
            <a:ext cx="2697480" cy="274320"/>
          </a:xfrm>
          <a:prstGeom prst="rect">
            <a:avLst/>
          </a:prstGeom>
          <a:noFill/>
          <a:ln/>
        </p:spPr>
        <p:txBody>
          <a:bodyPr wrap="square" lIns="0" tIns="0" rIns="0" bIns="0" rtlCol="0" anchor="t"/>
          <a:lstStyle/>
          <a:p>
            <a:pPr indent="0" marL="0">
              <a:buNone/>
            </a:pPr>
            <a:r>
              <a:rPr lang="en-US" sz="1250" b="1" dirty="0">
                <a:solidFill>
                  <a:schemeClr val="accent6"/>
                </a:solidFill>
              </a:rPr>
              <a:t>Δ_R = Main − Random</a:t>
            </a:r>
            <a:endParaRPr lang="en-US" sz="1250" dirty="0"/>
          </a:p>
        </p:txBody>
      </p:sp>
      <p:sp>
        <p:nvSpPr>
          <p:cNvPr id="19" name="Shape 17"/>
          <p:cNvSpPr/>
          <p:nvPr/>
        </p:nvSpPr>
        <p:spPr>
          <a:xfrm>
            <a:off x="3977640" y="3977640"/>
            <a:ext cx="3154680" cy="2194560"/>
          </a:xfrm>
          <a:prstGeom prst="roundRect">
            <a:avLst>
              <a:gd name="adj" fmla="val 3333"/>
            </a:avLst>
          </a:prstGeom>
          <a:solidFill>
            <a:schemeClr val="bg2"/>
          </a:solidFill>
          <a:ln w="9525">
            <a:solidFill>
              <a:schemeClr val="bg2"/>
            </a:solidFill>
            <a:prstDash val="solid"/>
          </a:ln>
        </p:spPr>
      </p:sp>
      <p:sp>
        <p:nvSpPr>
          <p:cNvPr id="20" name="Text 18"/>
          <p:cNvSpPr txBox="1"/>
          <p:nvPr/>
        </p:nvSpPr>
        <p:spPr>
          <a:xfrm>
            <a:off x="4206240" y="4160520"/>
            <a:ext cx="2697480" cy="274320"/>
          </a:xfrm>
          <a:prstGeom prst="rect">
            <a:avLst/>
          </a:prstGeom>
          <a:noFill/>
          <a:ln/>
        </p:spPr>
        <p:txBody>
          <a:bodyPr wrap="square" lIns="0" tIns="0" rIns="0" bIns="0" rtlCol="0" anchor="t"/>
          <a:lstStyle/>
          <a:p>
            <a:pPr indent="0" marL="0">
              <a:buNone/>
            </a:pPr>
            <a:r>
              <a:rPr lang="en-US" sz="1200" b="1" dirty="0">
                <a:solidFill>
                  <a:schemeClr val="accent2"/>
                </a:solidFill>
              </a:rPr>
              <a:t>MC</a:t>
            </a:r>
            <a:endParaRPr lang="en-US" sz="1200" dirty="0"/>
          </a:p>
        </p:txBody>
      </p:sp>
      <p:sp>
        <p:nvSpPr>
          <p:cNvPr id="21" name="Text 19"/>
          <p:cNvSpPr txBox="1"/>
          <p:nvPr/>
        </p:nvSpPr>
        <p:spPr>
          <a:xfrm>
            <a:off x="4206240" y="4453128"/>
            <a:ext cx="2697480" cy="365760"/>
          </a:xfrm>
          <a:prstGeom prst="rect">
            <a:avLst/>
          </a:prstGeom>
          <a:noFill/>
          <a:ln/>
        </p:spPr>
        <p:txBody>
          <a:bodyPr wrap="square" lIns="0" tIns="0" rIns="0" bIns="0" rtlCol="0" anchor="t"/>
          <a:lstStyle/>
          <a:p>
            <a:pPr indent="0" marL="0">
              <a:buNone/>
            </a:pPr>
            <a:r>
              <a:rPr lang="en-US" sz="1700" b="1" dirty="0">
                <a:solidFill>
                  <a:schemeClr val="tx1"/>
                </a:solidFill>
              </a:rPr>
              <a:t>조건 사용 확인</a:t>
            </a:r>
            <a:endParaRPr lang="en-US" sz="1700" dirty="0"/>
          </a:p>
        </p:txBody>
      </p:sp>
      <p:sp>
        <p:nvSpPr>
          <p:cNvPr id="22" name="Text 20"/>
          <p:cNvSpPr txBox="1"/>
          <p:nvPr/>
        </p:nvSpPr>
        <p:spPr>
          <a:xfrm>
            <a:off x="4206240" y="4873752"/>
            <a:ext cx="2697480"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Main 모델에 다른 trial의 target을 넣는다. Stage P와 S에서 쓴다.</a:t>
            </a:r>
            <a:endParaRPr lang="en-US" sz="1250" dirty="0"/>
          </a:p>
        </p:txBody>
      </p:sp>
      <p:sp>
        <p:nvSpPr>
          <p:cNvPr id="23" name="Text 21"/>
          <p:cNvSpPr txBox="1"/>
          <p:nvPr/>
        </p:nvSpPr>
        <p:spPr>
          <a:xfrm>
            <a:off x="4206240" y="5760720"/>
            <a:ext cx="2697480" cy="274320"/>
          </a:xfrm>
          <a:prstGeom prst="rect">
            <a:avLst/>
          </a:prstGeom>
          <a:noFill/>
          <a:ln/>
        </p:spPr>
        <p:txBody>
          <a:bodyPr wrap="square" lIns="0" tIns="0" rIns="0" bIns="0" rtlCol="0" anchor="t"/>
          <a:lstStyle/>
          <a:p>
            <a:pPr indent="0" marL="0">
              <a:buNone/>
            </a:pPr>
            <a:r>
              <a:rPr lang="en-US" sz="1250" b="1" dirty="0">
                <a:solidFill>
                  <a:schemeClr val="accent6"/>
                </a:solidFill>
              </a:rPr>
              <a:t>Main − MC</a:t>
            </a:r>
            <a:endParaRPr lang="en-US" sz="1250" dirty="0"/>
          </a:p>
        </p:txBody>
      </p:sp>
      <p:sp>
        <p:nvSpPr>
          <p:cNvPr id="24" name="Shape 22"/>
          <p:cNvSpPr/>
          <p:nvPr/>
        </p:nvSpPr>
        <p:spPr>
          <a:xfrm>
            <a:off x="7406640" y="1508760"/>
            <a:ext cx="4236415" cy="4663440"/>
          </a:xfrm>
          <a:prstGeom prst="roundRect">
            <a:avLst>
              <a:gd name="adj" fmla="val 1727"/>
            </a:avLst>
          </a:prstGeom>
          <a:solidFill>
            <a:schemeClr val="tx2"/>
          </a:solidFill>
          <a:ln w="9525">
            <a:solidFill>
              <a:schemeClr val="tx2"/>
            </a:solidFill>
            <a:prstDash val="solid"/>
          </a:ln>
        </p:spPr>
      </p:sp>
      <p:sp>
        <p:nvSpPr>
          <p:cNvPr id="25" name="Text 23"/>
          <p:cNvSpPr txBox="1"/>
          <p:nvPr/>
        </p:nvSpPr>
        <p:spPr>
          <a:xfrm>
            <a:off x="7726680" y="1737360"/>
            <a:ext cx="3596335" cy="365760"/>
          </a:xfrm>
          <a:prstGeom prst="rect">
            <a:avLst/>
          </a:prstGeom>
          <a:noFill/>
          <a:ln/>
        </p:spPr>
        <p:txBody>
          <a:bodyPr wrap="square" lIns="0" tIns="0" rIns="0" bIns="0" rtlCol="0" anchor="t"/>
          <a:lstStyle/>
          <a:p>
            <a:pPr indent="0" marL="0">
              <a:buNone/>
            </a:pPr>
            <a:r>
              <a:rPr lang="en-US" sz="1800" b="1" dirty="0">
                <a:solidFill>
                  <a:schemeClr val="bg1"/>
                </a:solidFill>
              </a:rPr>
              <a:t>판정 규칙</a:t>
            </a:r>
            <a:endParaRPr lang="en-US" sz="1800" dirty="0"/>
          </a:p>
        </p:txBody>
      </p:sp>
      <p:sp>
        <p:nvSpPr>
          <p:cNvPr id="26" name="Text 24"/>
          <p:cNvSpPr txBox="1"/>
          <p:nvPr/>
        </p:nvSpPr>
        <p:spPr>
          <a:xfrm>
            <a:off x="7726680" y="2194560"/>
            <a:ext cx="3596335" cy="548640"/>
          </a:xfrm>
          <a:prstGeom prst="rect">
            <a:avLst/>
          </a:prstGeom>
          <a:noFill/>
          <a:ln/>
        </p:spPr>
        <p:txBody>
          <a:bodyPr wrap="square" lIns="0" tIns="0" rIns="0" bIns="0" rtlCol="0" anchor="t"/>
          <a:lstStyle/>
          <a:p>
            <a:pPr indent="0" marL="0">
              <a:buNone/>
            </a:pPr>
            <a:r>
              <a:rPr lang="en-US" sz="3000" b="1" dirty="0">
                <a:solidFill>
                  <a:schemeClr val="accent1"/>
                </a:solidFill>
              </a:rPr>
              <a:t>δ = 0.5%p</a:t>
            </a:r>
            <a:endParaRPr lang="en-US" sz="3000" dirty="0"/>
          </a:p>
        </p:txBody>
      </p:sp>
      <p:sp>
        <p:nvSpPr>
          <p:cNvPr id="27" name="Text 25"/>
          <p:cNvSpPr txBox="1"/>
          <p:nvPr/>
        </p:nvSpPr>
        <p:spPr>
          <a:xfrm>
            <a:off x="7726680" y="2743200"/>
            <a:ext cx="3596335" cy="320040"/>
          </a:xfrm>
          <a:prstGeom prst="rect">
            <a:avLst/>
          </a:prstGeom>
          <a:noFill/>
          <a:ln/>
        </p:spPr>
        <p:txBody>
          <a:bodyPr wrap="square" lIns="0" tIns="0" rIns="0" bIns="0" rtlCol="0" anchor="t"/>
          <a:lstStyle/>
          <a:p>
            <a:pPr indent="0" marL="0">
              <a:buNone/>
            </a:pPr>
            <a:r>
              <a:rPr lang="en-US" sz="1300" dirty="0">
                <a:solidFill>
                  <a:schemeClr val="accent5"/>
                </a:solidFill>
              </a:rPr>
              <a:t>의미 있다고 볼 최소 이득(최소 관심 효과)</a:t>
            </a:r>
            <a:endParaRPr lang="en-US" sz="1300" dirty="0"/>
          </a:p>
        </p:txBody>
      </p:sp>
      <p:sp>
        <p:nvSpPr>
          <p:cNvPr id="28" name="Text 26"/>
          <p:cNvSpPr txBox="1"/>
          <p:nvPr/>
        </p:nvSpPr>
        <p:spPr>
          <a:xfrm>
            <a:off x="7726680" y="3291840"/>
            <a:ext cx="3596335" cy="292608"/>
          </a:xfrm>
          <a:prstGeom prst="rect">
            <a:avLst/>
          </a:prstGeom>
          <a:noFill/>
          <a:ln/>
        </p:spPr>
        <p:txBody>
          <a:bodyPr wrap="square" lIns="0" tIns="0" rIns="0" bIns="0" rtlCol="0" anchor="t"/>
          <a:lstStyle/>
          <a:p>
            <a:pPr indent="0" marL="0">
              <a:buNone/>
            </a:pPr>
            <a:r>
              <a:rPr lang="en-US" sz="1400" b="1" dirty="0">
                <a:solidFill>
                  <a:schemeClr val="bg1"/>
                </a:solidFill>
              </a:rPr>
              <a:t>POSITIVE</a:t>
            </a:r>
            <a:endParaRPr lang="en-US" sz="1400" dirty="0"/>
          </a:p>
        </p:txBody>
      </p:sp>
      <p:sp>
        <p:nvSpPr>
          <p:cNvPr id="29" name="Text 27"/>
          <p:cNvSpPr txBox="1"/>
          <p:nvPr/>
        </p:nvSpPr>
        <p:spPr>
          <a:xfrm>
            <a:off x="7726680" y="3602736"/>
            <a:ext cx="3596335" cy="548640"/>
          </a:xfrm>
          <a:prstGeom prst="rect">
            <a:avLst/>
          </a:prstGeom>
          <a:noFill/>
          <a:ln/>
        </p:spPr>
        <p:txBody>
          <a:bodyPr wrap="square" lIns="0" tIns="0" rIns="0" bIns="0" rtlCol="0" anchor="t"/>
          <a:lstStyle/>
          <a:p>
            <a:pPr indent="0" marL="0">
              <a:lnSpc>
                <a:spcPct val="110000"/>
              </a:lnSpc>
              <a:buNone/>
            </a:pPr>
            <a:r>
              <a:rPr lang="en-US" sz="1250" dirty="0">
                <a:solidFill>
                  <a:schemeClr val="accent5"/>
                </a:solidFill>
              </a:rPr>
              <a:t>Δ_R와 Δ_S의 하한이 모두 0보다 크다. W4 재현까지 통과해야 SUPPORTED</a:t>
            </a:r>
            <a:endParaRPr lang="en-US" sz="1250" dirty="0"/>
          </a:p>
        </p:txBody>
      </p:sp>
      <p:sp>
        <p:nvSpPr>
          <p:cNvPr id="30" name="Text 28"/>
          <p:cNvSpPr txBox="1"/>
          <p:nvPr/>
        </p:nvSpPr>
        <p:spPr>
          <a:xfrm>
            <a:off x="7726680" y="4206240"/>
            <a:ext cx="3596335" cy="292608"/>
          </a:xfrm>
          <a:prstGeom prst="rect">
            <a:avLst/>
          </a:prstGeom>
          <a:noFill/>
          <a:ln/>
        </p:spPr>
        <p:txBody>
          <a:bodyPr wrap="square" lIns="0" tIns="0" rIns="0" bIns="0" rtlCol="0" anchor="t"/>
          <a:lstStyle/>
          <a:p>
            <a:pPr indent="0" marL="0">
              <a:buNone/>
            </a:pPr>
            <a:r>
              <a:rPr lang="en-US" sz="1400" b="1" dirty="0">
                <a:solidFill>
                  <a:schemeClr val="bg1"/>
                </a:solidFill>
              </a:rPr>
              <a:t>REJECTED_BOUNDED</a:t>
            </a:r>
            <a:endParaRPr lang="en-US" sz="1400" dirty="0"/>
          </a:p>
        </p:txBody>
      </p:sp>
      <p:sp>
        <p:nvSpPr>
          <p:cNvPr id="31" name="Text 29"/>
          <p:cNvSpPr txBox="1"/>
          <p:nvPr/>
        </p:nvSpPr>
        <p:spPr>
          <a:xfrm>
            <a:off x="7726680" y="4517136"/>
            <a:ext cx="3596335" cy="548640"/>
          </a:xfrm>
          <a:prstGeom prst="rect">
            <a:avLst/>
          </a:prstGeom>
          <a:noFill/>
          <a:ln/>
        </p:spPr>
        <p:txBody>
          <a:bodyPr wrap="square" lIns="0" tIns="0" rIns="0" bIns="0" rtlCol="0" anchor="t"/>
          <a:lstStyle/>
          <a:p>
            <a:pPr indent="0" marL="0">
              <a:lnSpc>
                <a:spcPct val="110000"/>
              </a:lnSpc>
              <a:buNone/>
            </a:pPr>
            <a:r>
              <a:rPr lang="en-US" sz="1250" dirty="0">
                <a:solidFill>
                  <a:schemeClr val="accent5"/>
                </a:solidFill>
              </a:rPr>
              <a:t>Δ_R와 Δ_S의 상한이 모두 δ보다 작다</a:t>
            </a:r>
            <a:endParaRPr lang="en-US" sz="1250" dirty="0"/>
          </a:p>
        </p:txBody>
      </p:sp>
      <p:sp>
        <p:nvSpPr>
          <p:cNvPr id="32" name="Text 30"/>
          <p:cNvSpPr txBox="1"/>
          <p:nvPr/>
        </p:nvSpPr>
        <p:spPr>
          <a:xfrm>
            <a:off x="7726680" y="5120640"/>
            <a:ext cx="3596335" cy="292608"/>
          </a:xfrm>
          <a:prstGeom prst="rect">
            <a:avLst/>
          </a:prstGeom>
          <a:noFill/>
          <a:ln/>
        </p:spPr>
        <p:txBody>
          <a:bodyPr wrap="square" lIns="0" tIns="0" rIns="0" bIns="0" rtlCol="0" anchor="t"/>
          <a:lstStyle/>
          <a:p>
            <a:pPr indent="0" marL="0">
              <a:buNone/>
            </a:pPr>
            <a:r>
              <a:rPr lang="en-US" sz="1400" b="1" dirty="0">
                <a:solidFill>
                  <a:schemeClr val="bg1"/>
                </a:solidFill>
              </a:rPr>
              <a:t>동시 95% 구간</a:t>
            </a:r>
            <a:endParaRPr lang="en-US" sz="1400" dirty="0"/>
          </a:p>
        </p:txBody>
      </p:sp>
      <p:sp>
        <p:nvSpPr>
          <p:cNvPr id="33" name="Text 31"/>
          <p:cNvSpPr txBox="1"/>
          <p:nvPr/>
        </p:nvSpPr>
        <p:spPr>
          <a:xfrm>
            <a:off x="7726680" y="5431536"/>
            <a:ext cx="3596335" cy="548640"/>
          </a:xfrm>
          <a:prstGeom prst="rect">
            <a:avLst/>
          </a:prstGeom>
          <a:noFill/>
          <a:ln/>
        </p:spPr>
        <p:txBody>
          <a:bodyPr wrap="square" lIns="0" tIns="0" rIns="0" bIns="0" rtlCol="0" anchor="t"/>
          <a:lstStyle/>
          <a:p>
            <a:pPr indent="0" marL="0">
              <a:lnSpc>
                <a:spcPct val="110000"/>
              </a:lnSpc>
              <a:buNone/>
            </a:pPr>
            <a:r>
              <a:rPr lang="en-US" sz="1250" dirty="0">
                <a:solidFill>
                  <a:schemeClr val="accent5"/>
                </a:solidFill>
              </a:rPr>
              <a:t>3 look × 5 파이프라인 × 2 대조를 Bonferroni로 묶어 어느 look에서 멈춰도 유효</a:t>
            </a:r>
            <a:endParaRPr lang="en-US" sz="1250" dirty="0"/>
          </a:p>
        </p:txBody>
      </p:sp>
      <p:sp>
        <p:nvSpPr>
          <p:cNvPr id="3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과정 · 실험 단계</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네 단계로 나누고 MD5 데이터 전에 봉인했다</a:t>
            </a:r>
            <a:endParaRPr lang="en-US" sz="3000" dirty="0"/>
          </a:p>
        </p:txBody>
      </p:sp>
      <p:sp>
        <p:nvSpPr>
          <p:cNvPr id="4" name="Shape 2"/>
          <p:cNvSpPr/>
          <p:nvPr/>
        </p:nvSpPr>
        <p:spPr>
          <a:xfrm>
            <a:off x="548640" y="1554480"/>
            <a:ext cx="2053514" cy="2697480"/>
          </a:xfrm>
          <a:prstGeom prst="roundRect">
            <a:avLst>
              <a:gd name="adj" fmla="val 3562"/>
            </a:avLst>
          </a:prstGeom>
          <a:solidFill>
            <a:schemeClr val="bg2"/>
          </a:solidFill>
          <a:ln w="9525">
            <a:solidFill>
              <a:schemeClr val="bg2"/>
            </a:solidFill>
            <a:prstDash val="solid"/>
          </a:ln>
        </p:spPr>
      </p:sp>
      <p:sp>
        <p:nvSpPr>
          <p:cNvPr id="5" name="Text 3"/>
          <p:cNvSpPr txBox="1"/>
          <p:nvPr/>
        </p:nvSpPr>
        <p:spPr>
          <a:xfrm>
            <a:off x="749808" y="1755648"/>
            <a:ext cx="1651178" cy="274320"/>
          </a:xfrm>
          <a:prstGeom prst="rect">
            <a:avLst/>
          </a:prstGeom>
          <a:noFill/>
          <a:ln/>
        </p:spPr>
        <p:txBody>
          <a:bodyPr wrap="square" lIns="0" tIns="0" rIns="0" bIns="0" rtlCol="0" anchor="t"/>
          <a:lstStyle/>
          <a:p>
            <a:pPr indent="0" marL="0">
              <a:buNone/>
            </a:pPr>
            <a:r>
              <a:rPr lang="en-US" sz="1200" b="1" dirty="0">
                <a:solidFill>
                  <a:schemeClr val="accent2"/>
                </a:solidFill>
              </a:rPr>
              <a:t>STAGE A</a:t>
            </a:r>
            <a:endParaRPr lang="en-US" sz="1200" dirty="0"/>
          </a:p>
        </p:txBody>
      </p:sp>
      <p:sp>
        <p:nvSpPr>
          <p:cNvPr id="6" name="Text 4"/>
          <p:cNvSpPr txBox="1"/>
          <p:nvPr/>
        </p:nvSpPr>
        <p:spPr>
          <a:xfrm>
            <a:off x="749808" y="2057400"/>
            <a:ext cx="1651178" cy="411480"/>
          </a:xfrm>
          <a:prstGeom prst="rect">
            <a:avLst/>
          </a:prstGeom>
          <a:noFill/>
          <a:ln/>
        </p:spPr>
        <p:txBody>
          <a:bodyPr wrap="square" lIns="0" tIns="0" rIns="0" bIns="0" rtlCol="0" anchor="t"/>
          <a:lstStyle/>
          <a:p>
            <a:pPr indent="0" marL="0">
              <a:buNone/>
            </a:pPr>
            <a:r>
              <a:rPr lang="en-US" sz="1900" b="1" dirty="0">
                <a:solidFill>
                  <a:schemeClr val="tx1"/>
                </a:solidFill>
              </a:rPr>
              <a:t>기계 적격성</a:t>
            </a:r>
            <a:endParaRPr lang="en-US" sz="1900" dirty="0"/>
          </a:p>
        </p:txBody>
      </p:sp>
      <p:sp>
        <p:nvSpPr>
          <p:cNvPr id="7" name="Text 5"/>
          <p:cNvSpPr txBox="1"/>
          <p:nvPr/>
        </p:nvSpPr>
        <p:spPr>
          <a:xfrm>
            <a:off x="749808" y="2514600"/>
            <a:ext cx="1651178"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synthetic 조건만 사용. MD5 데이터 0</a:t>
            </a:r>
            <a:endParaRPr lang="en-US" sz="1250" dirty="0"/>
          </a:p>
        </p:txBody>
      </p:sp>
      <p:sp>
        <p:nvSpPr>
          <p:cNvPr id="8" name="Text 6"/>
          <p:cNvSpPr txBox="1"/>
          <p:nvPr/>
        </p:nvSpPr>
        <p:spPr>
          <a:xfrm>
            <a:off x="749808" y="3429000"/>
            <a:ext cx="1651178" cy="347472"/>
          </a:xfrm>
          <a:prstGeom prst="rect">
            <a:avLst/>
          </a:prstGeom>
          <a:noFill/>
          <a:ln/>
        </p:spPr>
        <p:txBody>
          <a:bodyPr wrap="square" lIns="0" tIns="0" rIns="0" bIns="0" rtlCol="0" anchor="t"/>
          <a:lstStyle/>
          <a:p>
            <a:pPr indent="0" marL="0">
              <a:buNone/>
            </a:pPr>
            <a:r>
              <a:rPr lang="en-US" sz="1600" b="1" dirty="0">
                <a:solidFill>
                  <a:schemeClr val="accent6"/>
                </a:solidFill>
              </a:rPr>
              <a:t>C1</a:t>
            </a:r>
            <a:endParaRPr lang="en-US" sz="1600" dirty="0"/>
          </a:p>
        </p:txBody>
      </p:sp>
      <p:sp>
        <p:nvSpPr>
          <p:cNvPr id="9" name="Text 7"/>
          <p:cNvSpPr txBox="1"/>
          <p:nvPr/>
        </p:nvSpPr>
        <p:spPr>
          <a:xfrm>
            <a:off x="749808" y="3794760"/>
            <a:ext cx="1651178" cy="274320"/>
          </a:xfrm>
          <a:prstGeom prst="rect">
            <a:avLst/>
          </a:prstGeom>
          <a:noFill/>
          <a:ln/>
        </p:spPr>
        <p:txBody>
          <a:bodyPr wrap="square" lIns="0" tIns="0" rIns="0" bIns="0" rtlCol="0" anchor="t"/>
          <a:lstStyle/>
          <a:p>
            <a:pPr indent="0" marL="0">
              <a:buNone/>
            </a:pPr>
            <a:r>
              <a:rPr lang="en-US" sz="1200" dirty="0">
                <a:solidFill>
                  <a:schemeClr val="accent3"/>
                </a:solidFill>
              </a:rPr>
              <a:t>15.7 h 소요</a:t>
            </a:r>
            <a:endParaRPr lang="en-US" sz="1200" dirty="0"/>
          </a:p>
        </p:txBody>
      </p:sp>
      <p:sp>
        <p:nvSpPr>
          <p:cNvPr id="10" name="Shape 8"/>
          <p:cNvSpPr/>
          <p:nvPr/>
        </p:nvSpPr>
        <p:spPr>
          <a:xfrm>
            <a:off x="2693594" y="2784348"/>
            <a:ext cx="274320" cy="237744"/>
          </a:xfrm>
          <a:prstGeom prst="rightArrow">
            <a:avLst/>
          </a:prstGeom>
          <a:solidFill>
            <a:schemeClr val="accent4"/>
          </a:solidFill>
          <a:ln w="9525">
            <a:solidFill>
              <a:schemeClr val="accent4"/>
            </a:solidFill>
            <a:prstDash val="solid"/>
          </a:ln>
        </p:spPr>
      </p:sp>
      <p:sp>
        <p:nvSpPr>
          <p:cNvPr id="11" name="Shape 9"/>
          <p:cNvSpPr/>
          <p:nvPr/>
        </p:nvSpPr>
        <p:spPr>
          <a:xfrm>
            <a:off x="3059354" y="1554480"/>
            <a:ext cx="1051560" cy="2697480"/>
          </a:xfrm>
          <a:prstGeom prst="roundRect">
            <a:avLst>
              <a:gd name="adj" fmla="val 6957"/>
            </a:avLst>
          </a:prstGeom>
          <a:solidFill>
            <a:schemeClr val="tx1"/>
          </a:solidFill>
          <a:ln w="9525">
            <a:solidFill>
              <a:schemeClr val="tx1"/>
            </a:solidFill>
            <a:prstDash val="solid"/>
          </a:ln>
        </p:spPr>
      </p:sp>
      <p:sp>
        <p:nvSpPr>
          <p:cNvPr id="12" name="Text 10"/>
          <p:cNvSpPr txBox="1"/>
          <p:nvPr/>
        </p:nvSpPr>
        <p:spPr>
          <a:xfrm>
            <a:off x="3059354" y="2377440"/>
            <a:ext cx="1051560" cy="411480"/>
          </a:xfrm>
          <a:prstGeom prst="rect">
            <a:avLst/>
          </a:prstGeom>
          <a:noFill/>
          <a:ln/>
        </p:spPr>
        <p:txBody>
          <a:bodyPr wrap="square" lIns="0" tIns="0" rIns="0" bIns="0" rtlCol="0" anchor="t"/>
          <a:lstStyle/>
          <a:p>
            <a:pPr algn="ctr" indent="0" marL="0">
              <a:buNone/>
            </a:pPr>
            <a:r>
              <a:rPr lang="en-US" sz="1800" b="1" dirty="0">
                <a:solidFill>
                  <a:schemeClr val="accent1"/>
                </a:solidFill>
              </a:rPr>
              <a:t>봉인</a:t>
            </a:r>
            <a:endParaRPr lang="en-US" sz="1800" dirty="0"/>
          </a:p>
        </p:txBody>
      </p:sp>
      <p:sp>
        <p:nvSpPr>
          <p:cNvPr id="13" name="Text 11"/>
          <p:cNvSpPr txBox="1"/>
          <p:nvPr/>
        </p:nvSpPr>
        <p:spPr>
          <a:xfrm>
            <a:off x="3169082" y="2834640"/>
            <a:ext cx="832104" cy="822960"/>
          </a:xfrm>
          <a:prstGeom prst="rect">
            <a:avLst/>
          </a:prstGeom>
          <a:noFill/>
          <a:ln/>
        </p:spPr>
        <p:txBody>
          <a:bodyPr wrap="square" lIns="0" tIns="0" rIns="0" bIns="0" rtlCol="0" anchor="t"/>
          <a:lstStyle/>
          <a:p>
            <a:pPr algn="ctr" indent="0" marL="0">
              <a:buNone/>
            </a:pPr>
            <a:r>
              <a:rPr lang="en-US" sz="1100" dirty="0">
                <a:solidFill>
                  <a:schemeClr val="accent5"/>
                </a:solidFill>
              </a:rPr>
              <a:t>설정·window·예산을 SHA-256으로</a:t>
            </a:r>
            <a:endParaRPr lang="en-US" sz="1100" dirty="0"/>
          </a:p>
        </p:txBody>
      </p:sp>
      <p:sp>
        <p:nvSpPr>
          <p:cNvPr id="14" name="Shape 12"/>
          <p:cNvSpPr/>
          <p:nvPr/>
        </p:nvSpPr>
        <p:spPr>
          <a:xfrm>
            <a:off x="4202354" y="2784348"/>
            <a:ext cx="274320" cy="237744"/>
          </a:xfrm>
          <a:prstGeom prst="rightArrow">
            <a:avLst/>
          </a:prstGeom>
          <a:solidFill>
            <a:schemeClr val="accent4"/>
          </a:solidFill>
          <a:ln w="9525">
            <a:solidFill>
              <a:schemeClr val="accent4"/>
            </a:solidFill>
            <a:prstDash val="solid"/>
          </a:ln>
        </p:spPr>
      </p:sp>
      <p:sp>
        <p:nvSpPr>
          <p:cNvPr id="15" name="Shape 13"/>
          <p:cNvSpPr/>
          <p:nvPr/>
        </p:nvSpPr>
        <p:spPr>
          <a:xfrm>
            <a:off x="4568114" y="1554480"/>
            <a:ext cx="2053514" cy="2697480"/>
          </a:xfrm>
          <a:prstGeom prst="roundRect">
            <a:avLst>
              <a:gd name="adj" fmla="val 3562"/>
            </a:avLst>
          </a:prstGeom>
          <a:solidFill>
            <a:schemeClr val="bg2"/>
          </a:solidFill>
          <a:ln w="9525">
            <a:solidFill>
              <a:schemeClr val="bg2"/>
            </a:solidFill>
            <a:prstDash val="solid"/>
          </a:ln>
        </p:spPr>
      </p:sp>
      <p:sp>
        <p:nvSpPr>
          <p:cNvPr id="16" name="Text 14"/>
          <p:cNvSpPr txBox="1"/>
          <p:nvPr/>
        </p:nvSpPr>
        <p:spPr>
          <a:xfrm>
            <a:off x="4769282" y="1755648"/>
            <a:ext cx="1651178" cy="274320"/>
          </a:xfrm>
          <a:prstGeom prst="rect">
            <a:avLst/>
          </a:prstGeom>
          <a:noFill/>
          <a:ln/>
        </p:spPr>
        <p:txBody>
          <a:bodyPr wrap="square" lIns="0" tIns="0" rIns="0" bIns="0" rtlCol="0" anchor="t"/>
          <a:lstStyle/>
          <a:p>
            <a:pPr indent="0" marL="0">
              <a:buNone/>
            </a:pPr>
            <a:r>
              <a:rPr lang="en-US" sz="1200" b="1" dirty="0">
                <a:solidFill>
                  <a:schemeClr val="accent2"/>
                </a:solidFill>
              </a:rPr>
              <a:t>STAGE C</a:t>
            </a:r>
            <a:endParaRPr lang="en-US" sz="1200" dirty="0"/>
          </a:p>
        </p:txBody>
      </p:sp>
      <p:sp>
        <p:nvSpPr>
          <p:cNvPr id="17" name="Text 15"/>
          <p:cNvSpPr txBox="1"/>
          <p:nvPr/>
        </p:nvSpPr>
        <p:spPr>
          <a:xfrm>
            <a:off x="4769282" y="2057400"/>
            <a:ext cx="1651178" cy="411480"/>
          </a:xfrm>
          <a:prstGeom prst="rect">
            <a:avLst/>
          </a:prstGeom>
          <a:noFill/>
          <a:ln/>
        </p:spPr>
        <p:txBody>
          <a:bodyPr wrap="square" lIns="0" tIns="0" rIns="0" bIns="0" rtlCol="0" anchor="t"/>
          <a:lstStyle/>
          <a:p>
            <a:pPr indent="0" marL="0">
              <a:buNone/>
            </a:pPr>
            <a:r>
              <a:rPr lang="en-US" sz="1900" b="1" dirty="0">
                <a:solidFill>
                  <a:schemeClr val="tx1"/>
                </a:solidFill>
              </a:rPr>
              <a:t>주 판정</a:t>
            </a:r>
            <a:endParaRPr lang="en-US" sz="1900" dirty="0"/>
          </a:p>
        </p:txBody>
      </p:sp>
      <p:sp>
        <p:nvSpPr>
          <p:cNvPr id="18" name="Text 16"/>
          <p:cNvSpPr txBox="1"/>
          <p:nvPr/>
        </p:nvSpPr>
        <p:spPr>
          <a:xfrm>
            <a:off x="4769282" y="2514600"/>
            <a:ext cx="1651178"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MD5-64 W3, test 1,024개. 30 run</a:t>
            </a:r>
            <a:endParaRPr lang="en-US" sz="1250" dirty="0"/>
          </a:p>
        </p:txBody>
      </p:sp>
      <p:sp>
        <p:nvSpPr>
          <p:cNvPr id="19" name="Text 17"/>
          <p:cNvSpPr txBox="1"/>
          <p:nvPr/>
        </p:nvSpPr>
        <p:spPr>
          <a:xfrm>
            <a:off x="4769282" y="3429000"/>
            <a:ext cx="1651178" cy="347472"/>
          </a:xfrm>
          <a:prstGeom prst="rect">
            <a:avLst/>
          </a:prstGeom>
          <a:noFill/>
          <a:ln/>
        </p:spPr>
        <p:txBody>
          <a:bodyPr wrap="square" lIns="0" tIns="0" rIns="0" bIns="0" rtlCol="0" anchor="t"/>
          <a:lstStyle/>
          <a:p>
            <a:pPr indent="0" marL="0">
              <a:buNone/>
            </a:pPr>
            <a:r>
              <a:rPr lang="en-US" sz="1600" b="1" dirty="0">
                <a:solidFill>
                  <a:schemeClr val="accent6"/>
                </a:solidFill>
              </a:rPr>
              <a:t>C3 · C4 · C5</a:t>
            </a:r>
            <a:endParaRPr lang="en-US" sz="1600" dirty="0"/>
          </a:p>
        </p:txBody>
      </p:sp>
      <p:sp>
        <p:nvSpPr>
          <p:cNvPr id="20" name="Text 18"/>
          <p:cNvSpPr txBox="1"/>
          <p:nvPr/>
        </p:nvSpPr>
        <p:spPr>
          <a:xfrm>
            <a:off x="4769282" y="3794760"/>
            <a:ext cx="1651178" cy="274320"/>
          </a:xfrm>
          <a:prstGeom prst="rect">
            <a:avLst/>
          </a:prstGeom>
          <a:noFill/>
          <a:ln/>
        </p:spPr>
        <p:txBody>
          <a:bodyPr wrap="square" lIns="0" tIns="0" rIns="0" bIns="0" rtlCol="0" anchor="t"/>
          <a:lstStyle/>
          <a:p>
            <a:pPr indent="0" marL="0">
              <a:buNone/>
            </a:pPr>
            <a:r>
              <a:rPr lang="en-US" sz="1200" dirty="0">
                <a:solidFill>
                  <a:schemeClr val="accent3"/>
                </a:solidFill>
              </a:rPr>
              <a:t>41.2 h 소요</a:t>
            </a:r>
            <a:endParaRPr lang="en-US" sz="1200" dirty="0"/>
          </a:p>
        </p:txBody>
      </p:sp>
      <p:sp>
        <p:nvSpPr>
          <p:cNvPr id="21" name="Shape 19"/>
          <p:cNvSpPr/>
          <p:nvPr/>
        </p:nvSpPr>
        <p:spPr>
          <a:xfrm>
            <a:off x="6713068" y="2784348"/>
            <a:ext cx="274320" cy="237744"/>
          </a:xfrm>
          <a:prstGeom prst="rightArrow">
            <a:avLst/>
          </a:prstGeom>
          <a:solidFill>
            <a:schemeClr val="accent4"/>
          </a:solidFill>
          <a:ln w="9525">
            <a:solidFill>
              <a:schemeClr val="accent4"/>
            </a:solidFill>
            <a:prstDash val="solid"/>
          </a:ln>
        </p:spPr>
      </p:sp>
      <p:sp>
        <p:nvSpPr>
          <p:cNvPr id="22" name="Shape 20"/>
          <p:cNvSpPr/>
          <p:nvPr/>
        </p:nvSpPr>
        <p:spPr>
          <a:xfrm>
            <a:off x="7078828" y="1554480"/>
            <a:ext cx="2053514" cy="2697480"/>
          </a:xfrm>
          <a:prstGeom prst="roundRect">
            <a:avLst>
              <a:gd name="adj" fmla="val 3562"/>
            </a:avLst>
          </a:prstGeom>
          <a:solidFill>
            <a:schemeClr val="bg2"/>
          </a:solidFill>
          <a:ln w="9525">
            <a:solidFill>
              <a:schemeClr val="bg2"/>
            </a:solidFill>
            <a:prstDash val="solid"/>
          </a:ln>
        </p:spPr>
      </p:sp>
      <p:sp>
        <p:nvSpPr>
          <p:cNvPr id="23" name="Text 21"/>
          <p:cNvSpPr txBox="1"/>
          <p:nvPr/>
        </p:nvSpPr>
        <p:spPr>
          <a:xfrm>
            <a:off x="7279996" y="1755648"/>
            <a:ext cx="1651178" cy="274320"/>
          </a:xfrm>
          <a:prstGeom prst="rect">
            <a:avLst/>
          </a:prstGeom>
          <a:noFill/>
          <a:ln/>
        </p:spPr>
        <p:txBody>
          <a:bodyPr wrap="square" lIns="0" tIns="0" rIns="0" bIns="0" rtlCol="0" anchor="t"/>
          <a:lstStyle/>
          <a:p>
            <a:pPr indent="0" marL="0">
              <a:buNone/>
            </a:pPr>
            <a:r>
              <a:rPr lang="en-US" sz="1200" b="1" dirty="0">
                <a:solidFill>
                  <a:schemeClr val="accent2"/>
                </a:solidFill>
              </a:rPr>
              <a:t>STAGE P</a:t>
            </a:r>
            <a:endParaRPr lang="en-US" sz="1200" dirty="0"/>
          </a:p>
        </p:txBody>
      </p:sp>
      <p:sp>
        <p:nvSpPr>
          <p:cNvPr id="24" name="Text 22"/>
          <p:cNvSpPr txBox="1"/>
          <p:nvPr/>
        </p:nvSpPr>
        <p:spPr>
          <a:xfrm>
            <a:off x="7279996" y="2057400"/>
            <a:ext cx="1651178" cy="411480"/>
          </a:xfrm>
          <a:prstGeom prst="rect">
            <a:avLst/>
          </a:prstGeom>
          <a:noFill/>
          <a:ln/>
        </p:spPr>
        <p:txBody>
          <a:bodyPr wrap="square" lIns="0" tIns="0" rIns="0" bIns="0" rtlCol="0" anchor="t"/>
          <a:lstStyle/>
          <a:p>
            <a:pPr indent="0" marL="0">
              <a:buNone/>
            </a:pPr>
            <a:r>
              <a:rPr lang="en-US" sz="1900" b="1" dirty="0">
                <a:solidFill>
                  <a:schemeClr val="tx1"/>
                </a:solidFill>
              </a:rPr>
              <a:t>구조 이용</a:t>
            </a:r>
            <a:endParaRPr lang="en-US" sz="1900" dirty="0"/>
          </a:p>
        </p:txBody>
      </p:sp>
      <p:sp>
        <p:nvSpPr>
          <p:cNvPr id="25" name="Text 23"/>
          <p:cNvSpPr txBox="1"/>
          <p:nvPr/>
        </p:nvSpPr>
        <p:spPr>
          <a:xfrm>
            <a:off x="7279996" y="2514600"/>
            <a:ext cx="1651178"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MD5를 4 step으로 줄인 양성 대조</a:t>
            </a:r>
            <a:endParaRPr lang="en-US" sz="1250" dirty="0"/>
          </a:p>
        </p:txBody>
      </p:sp>
      <p:sp>
        <p:nvSpPr>
          <p:cNvPr id="26" name="Text 24"/>
          <p:cNvSpPr txBox="1"/>
          <p:nvPr/>
        </p:nvSpPr>
        <p:spPr>
          <a:xfrm>
            <a:off x="7279996" y="3429000"/>
            <a:ext cx="1651178" cy="347472"/>
          </a:xfrm>
          <a:prstGeom prst="rect">
            <a:avLst/>
          </a:prstGeom>
          <a:noFill/>
          <a:ln/>
        </p:spPr>
        <p:txBody>
          <a:bodyPr wrap="square" lIns="0" tIns="0" rIns="0" bIns="0" rtlCol="0" anchor="t"/>
          <a:lstStyle/>
          <a:p>
            <a:pPr indent="0" marL="0">
              <a:buNone/>
            </a:pPr>
            <a:r>
              <a:rPr lang="en-US" sz="1600" b="1" dirty="0">
                <a:solidFill>
                  <a:schemeClr val="accent6"/>
                </a:solidFill>
              </a:rPr>
              <a:t>C2</a:t>
            </a:r>
            <a:endParaRPr lang="en-US" sz="1600" dirty="0"/>
          </a:p>
        </p:txBody>
      </p:sp>
      <p:sp>
        <p:nvSpPr>
          <p:cNvPr id="27" name="Text 25"/>
          <p:cNvSpPr txBox="1"/>
          <p:nvPr/>
        </p:nvSpPr>
        <p:spPr>
          <a:xfrm>
            <a:off x="7279996" y="3794760"/>
            <a:ext cx="1651178" cy="274320"/>
          </a:xfrm>
          <a:prstGeom prst="rect">
            <a:avLst/>
          </a:prstGeom>
          <a:noFill/>
          <a:ln/>
        </p:spPr>
        <p:txBody>
          <a:bodyPr wrap="square" lIns="0" tIns="0" rIns="0" bIns="0" rtlCol="0" anchor="t"/>
          <a:lstStyle/>
          <a:p>
            <a:pPr indent="0" marL="0">
              <a:buNone/>
            </a:pPr>
            <a:r>
              <a:rPr lang="en-US" sz="1200" dirty="0">
                <a:solidFill>
                  <a:schemeClr val="accent3"/>
                </a:solidFill>
              </a:rPr>
              <a:t>5.0 h 소요</a:t>
            </a:r>
            <a:endParaRPr lang="en-US" sz="1200" dirty="0"/>
          </a:p>
        </p:txBody>
      </p:sp>
      <p:sp>
        <p:nvSpPr>
          <p:cNvPr id="28" name="Shape 26"/>
          <p:cNvSpPr/>
          <p:nvPr/>
        </p:nvSpPr>
        <p:spPr>
          <a:xfrm>
            <a:off x="9223781" y="2784348"/>
            <a:ext cx="274320" cy="237744"/>
          </a:xfrm>
          <a:prstGeom prst="rightArrow">
            <a:avLst/>
          </a:prstGeom>
          <a:solidFill>
            <a:schemeClr val="accent4"/>
          </a:solidFill>
          <a:ln w="9525">
            <a:solidFill>
              <a:schemeClr val="accent4"/>
            </a:solidFill>
            <a:prstDash val="solid"/>
          </a:ln>
        </p:spPr>
      </p:sp>
      <p:sp>
        <p:nvSpPr>
          <p:cNvPr id="29" name="Shape 27"/>
          <p:cNvSpPr/>
          <p:nvPr/>
        </p:nvSpPr>
        <p:spPr>
          <a:xfrm>
            <a:off x="9589541" y="1554480"/>
            <a:ext cx="2053514" cy="2697480"/>
          </a:xfrm>
          <a:prstGeom prst="roundRect">
            <a:avLst>
              <a:gd name="adj" fmla="val 3562"/>
            </a:avLst>
          </a:prstGeom>
          <a:solidFill>
            <a:schemeClr val="bg2"/>
          </a:solidFill>
          <a:ln w="9525">
            <a:solidFill>
              <a:schemeClr val="bg2"/>
            </a:solidFill>
            <a:prstDash val="solid"/>
          </a:ln>
        </p:spPr>
      </p:sp>
      <p:sp>
        <p:nvSpPr>
          <p:cNvPr id="30" name="Text 28"/>
          <p:cNvSpPr txBox="1"/>
          <p:nvPr/>
        </p:nvSpPr>
        <p:spPr>
          <a:xfrm>
            <a:off x="9790709" y="1755648"/>
            <a:ext cx="1651178" cy="274320"/>
          </a:xfrm>
          <a:prstGeom prst="rect">
            <a:avLst/>
          </a:prstGeom>
          <a:noFill/>
          <a:ln/>
        </p:spPr>
        <p:txBody>
          <a:bodyPr wrap="square" lIns="0" tIns="0" rIns="0" bIns="0" rtlCol="0" anchor="t"/>
          <a:lstStyle/>
          <a:p>
            <a:pPr indent="0" marL="0">
              <a:buNone/>
            </a:pPr>
            <a:r>
              <a:rPr lang="en-US" sz="1200" b="1" dirty="0">
                <a:solidFill>
                  <a:schemeClr val="accent2"/>
                </a:solidFill>
              </a:rPr>
              <a:t>STAGE S</a:t>
            </a:r>
            <a:endParaRPr lang="en-US" sz="1200" dirty="0"/>
          </a:p>
        </p:txBody>
      </p:sp>
      <p:sp>
        <p:nvSpPr>
          <p:cNvPr id="31" name="Text 29"/>
          <p:cNvSpPr txBox="1"/>
          <p:nvPr/>
        </p:nvSpPr>
        <p:spPr>
          <a:xfrm>
            <a:off x="9790709" y="2057400"/>
            <a:ext cx="1651178" cy="411480"/>
          </a:xfrm>
          <a:prstGeom prst="rect">
            <a:avLst/>
          </a:prstGeom>
          <a:noFill/>
          <a:ln/>
        </p:spPr>
        <p:txBody>
          <a:bodyPr wrap="square" lIns="0" tIns="0" rIns="0" bIns="0" rtlCol="0" anchor="t"/>
          <a:lstStyle/>
          <a:p>
            <a:pPr indent="0" marL="0">
              <a:buNone/>
            </a:pPr>
            <a:r>
              <a:rPr lang="en-US" sz="1900" b="1" dirty="0">
                <a:solidFill>
                  <a:schemeClr val="tx1"/>
                </a:solidFill>
              </a:rPr>
              <a:t>규모 탐침</a:t>
            </a:r>
            <a:endParaRPr lang="en-US" sz="1900" dirty="0"/>
          </a:p>
        </p:txBody>
      </p:sp>
      <p:sp>
        <p:nvSpPr>
          <p:cNvPr id="32" name="Text 30"/>
          <p:cNvSpPr txBox="1"/>
          <p:nvPr/>
        </p:nvSpPr>
        <p:spPr>
          <a:xfrm>
            <a:off x="9790709" y="2514600"/>
            <a:ext cx="1651178" cy="86868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13배 큰 모델, 학습 4배</a:t>
            </a:r>
            <a:endParaRPr lang="en-US" sz="1250" dirty="0"/>
          </a:p>
        </p:txBody>
      </p:sp>
      <p:sp>
        <p:nvSpPr>
          <p:cNvPr id="33" name="Text 31"/>
          <p:cNvSpPr txBox="1"/>
          <p:nvPr/>
        </p:nvSpPr>
        <p:spPr>
          <a:xfrm>
            <a:off x="9790709" y="3429000"/>
            <a:ext cx="1651178" cy="347472"/>
          </a:xfrm>
          <a:prstGeom prst="rect">
            <a:avLst/>
          </a:prstGeom>
          <a:noFill/>
          <a:ln/>
        </p:spPr>
        <p:txBody>
          <a:bodyPr wrap="square" lIns="0" tIns="0" rIns="0" bIns="0" rtlCol="0" anchor="t"/>
          <a:lstStyle/>
          <a:p>
            <a:pPr indent="0" marL="0">
              <a:buNone/>
            </a:pPr>
            <a:r>
              <a:rPr lang="en-US" sz="1600" b="1" dirty="0">
                <a:solidFill>
                  <a:schemeClr val="accent6"/>
                </a:solidFill>
              </a:rPr>
              <a:t>CLP</a:t>
            </a:r>
            <a:endParaRPr lang="en-US" sz="1600" dirty="0"/>
          </a:p>
        </p:txBody>
      </p:sp>
      <p:sp>
        <p:nvSpPr>
          <p:cNvPr id="34" name="Text 32"/>
          <p:cNvSpPr txBox="1"/>
          <p:nvPr/>
        </p:nvSpPr>
        <p:spPr>
          <a:xfrm>
            <a:off x="9790709" y="3794760"/>
            <a:ext cx="1651178" cy="274320"/>
          </a:xfrm>
          <a:prstGeom prst="rect">
            <a:avLst/>
          </a:prstGeom>
          <a:noFill/>
          <a:ln/>
        </p:spPr>
        <p:txBody>
          <a:bodyPr wrap="square" lIns="0" tIns="0" rIns="0" bIns="0" rtlCol="0" anchor="t"/>
          <a:lstStyle/>
          <a:p>
            <a:pPr indent="0" marL="0">
              <a:buNone/>
            </a:pPr>
            <a:r>
              <a:rPr lang="en-US" sz="1200" dirty="0">
                <a:solidFill>
                  <a:schemeClr val="accent3"/>
                </a:solidFill>
              </a:rPr>
              <a:t>5.4 h 소요</a:t>
            </a:r>
            <a:endParaRPr lang="en-US" sz="1200" dirty="0"/>
          </a:p>
        </p:txBody>
      </p:sp>
      <p:sp>
        <p:nvSpPr>
          <p:cNvPr id="35" name="Text 33"/>
          <p:cNvSpPr txBox="1"/>
          <p:nvPr/>
        </p:nvSpPr>
        <p:spPr>
          <a:xfrm>
            <a:off x="548640" y="4434840"/>
            <a:ext cx="11094415" cy="320040"/>
          </a:xfrm>
          <a:prstGeom prst="rect">
            <a:avLst/>
          </a:prstGeom>
          <a:noFill/>
          <a:ln/>
        </p:spPr>
        <p:txBody>
          <a:bodyPr wrap="square" lIns="0" tIns="0" rIns="0" bIns="0" rtlCol="0" anchor="t"/>
          <a:lstStyle/>
          <a:p>
            <a:pPr indent="0" marL="0">
              <a:buNone/>
            </a:pPr>
            <a:r>
              <a:rPr lang="en-US" sz="1250" dirty="0">
                <a:solidFill>
                  <a:schemeClr val="accent3"/>
                </a:solidFill>
              </a:rPr>
              <a:t>Stage R(W4 재현)는 POSITIVE가 있을 때만 실행한다. 이번에는 해당하는 파이프라인이 없어 실행하지 않았다.</a:t>
            </a:r>
            <a:endParaRPr lang="en-US" sz="1250" dirty="0"/>
          </a:p>
        </p:txBody>
      </p:sp>
      <p:sp>
        <p:nvSpPr>
          <p:cNvPr id="36" name="Shape 34"/>
          <p:cNvSpPr/>
          <p:nvPr/>
        </p:nvSpPr>
        <p:spPr>
          <a:xfrm>
            <a:off x="548640" y="4937760"/>
            <a:ext cx="2567864" cy="1188720"/>
          </a:xfrm>
          <a:prstGeom prst="roundRect">
            <a:avLst>
              <a:gd name="adj" fmla="val 6154"/>
            </a:avLst>
          </a:prstGeom>
          <a:solidFill>
            <a:schemeClr val="bg2"/>
          </a:solidFill>
          <a:ln w="9525">
            <a:solidFill>
              <a:schemeClr val="bg2"/>
            </a:solidFill>
            <a:prstDash val="solid"/>
          </a:ln>
        </p:spPr>
      </p:sp>
      <p:sp>
        <p:nvSpPr>
          <p:cNvPr id="37" name="Text 35"/>
          <p:cNvSpPr txBox="1"/>
          <p:nvPr/>
        </p:nvSpPr>
        <p:spPr>
          <a:xfrm>
            <a:off x="777240" y="5074920"/>
            <a:ext cx="2110664" cy="457200"/>
          </a:xfrm>
          <a:prstGeom prst="rect">
            <a:avLst/>
          </a:prstGeom>
          <a:noFill/>
          <a:ln/>
        </p:spPr>
        <p:txBody>
          <a:bodyPr wrap="square" lIns="0" tIns="0" rIns="0" bIns="0" rtlCol="0" anchor="t"/>
          <a:lstStyle/>
          <a:p>
            <a:pPr indent="0" marL="0">
              <a:buNone/>
            </a:pPr>
            <a:r>
              <a:rPr lang="en-US" sz="2200" b="1" dirty="0">
                <a:solidFill>
                  <a:schemeClr val="tx2"/>
                </a:solidFill>
              </a:rPr>
              <a:t>δ = 0.5%p</a:t>
            </a:r>
            <a:endParaRPr lang="en-US" sz="2200" dirty="0"/>
          </a:p>
        </p:txBody>
      </p:sp>
      <p:sp>
        <p:nvSpPr>
          <p:cNvPr id="38" name="Text 36"/>
          <p:cNvSpPr txBox="1"/>
          <p:nvPr/>
        </p:nvSpPr>
        <p:spPr>
          <a:xfrm>
            <a:off x="777240" y="5559552"/>
            <a:ext cx="2110664" cy="457200"/>
          </a:xfrm>
          <a:prstGeom prst="rect">
            <a:avLst/>
          </a:prstGeom>
          <a:noFill/>
          <a:ln/>
        </p:spPr>
        <p:txBody>
          <a:bodyPr wrap="square" lIns="0" tIns="0" rIns="0" bIns="0" rtlCol="0" anchor="t"/>
          <a:lstStyle/>
          <a:p>
            <a:pPr indent="0" marL="0">
              <a:buNone/>
            </a:pPr>
            <a:r>
              <a:rPr lang="en-US" sz="1200" dirty="0">
                <a:solidFill>
                  <a:schemeClr val="accent3"/>
                </a:solidFill>
              </a:rPr>
              <a:t>최소 관심 효과</a:t>
            </a:r>
            <a:endParaRPr lang="en-US" sz="1200" dirty="0"/>
          </a:p>
        </p:txBody>
      </p:sp>
      <p:sp>
        <p:nvSpPr>
          <p:cNvPr id="39" name="Shape 37"/>
          <p:cNvSpPr/>
          <p:nvPr/>
        </p:nvSpPr>
        <p:spPr>
          <a:xfrm>
            <a:off x="3390824" y="4937760"/>
            <a:ext cx="2567864" cy="1188720"/>
          </a:xfrm>
          <a:prstGeom prst="roundRect">
            <a:avLst>
              <a:gd name="adj" fmla="val 6154"/>
            </a:avLst>
          </a:prstGeom>
          <a:solidFill>
            <a:schemeClr val="bg2"/>
          </a:solidFill>
          <a:ln w="9525">
            <a:solidFill>
              <a:schemeClr val="bg2"/>
            </a:solidFill>
            <a:prstDash val="solid"/>
          </a:ln>
        </p:spPr>
      </p:sp>
      <p:sp>
        <p:nvSpPr>
          <p:cNvPr id="40" name="Text 38"/>
          <p:cNvSpPr txBox="1"/>
          <p:nvPr/>
        </p:nvSpPr>
        <p:spPr>
          <a:xfrm>
            <a:off x="3619424" y="5074920"/>
            <a:ext cx="2110664" cy="457200"/>
          </a:xfrm>
          <a:prstGeom prst="rect">
            <a:avLst/>
          </a:prstGeom>
          <a:noFill/>
          <a:ln/>
        </p:spPr>
        <p:txBody>
          <a:bodyPr wrap="square" lIns="0" tIns="0" rIns="0" bIns="0" rtlCol="0" anchor="t"/>
          <a:lstStyle/>
          <a:p>
            <a:pPr indent="0" marL="0">
              <a:buNone/>
            </a:pPr>
            <a:r>
              <a:rPr lang="en-US" sz="2200" b="1" dirty="0">
                <a:solidFill>
                  <a:schemeClr val="tx2"/>
                </a:solidFill>
              </a:rPr>
              <a:t>8,192 × 3</a:t>
            </a:r>
            <a:endParaRPr lang="en-US" sz="2200" dirty="0"/>
          </a:p>
        </p:txBody>
      </p:sp>
      <p:sp>
        <p:nvSpPr>
          <p:cNvPr id="41" name="Text 39"/>
          <p:cNvSpPr txBox="1"/>
          <p:nvPr/>
        </p:nvSpPr>
        <p:spPr>
          <a:xfrm>
            <a:off x="3619424" y="5559552"/>
            <a:ext cx="2110664" cy="457200"/>
          </a:xfrm>
          <a:prstGeom prst="rect">
            <a:avLst/>
          </a:prstGeom>
          <a:noFill/>
          <a:ln/>
        </p:spPr>
        <p:txBody>
          <a:bodyPr wrap="square" lIns="0" tIns="0" rIns="0" bIns="0" rtlCol="0" anchor="t"/>
          <a:lstStyle/>
          <a:p>
            <a:pPr indent="0" marL="0">
              <a:buNone/>
            </a:pPr>
            <a:r>
              <a:rPr lang="en-US" sz="1200" dirty="0">
                <a:solidFill>
                  <a:schemeClr val="accent3"/>
                </a:solidFill>
              </a:rPr>
              <a:t>trial 블록 × 최대 look, 공동 중단</a:t>
            </a:r>
            <a:endParaRPr lang="en-US" sz="1200" dirty="0"/>
          </a:p>
        </p:txBody>
      </p:sp>
      <p:sp>
        <p:nvSpPr>
          <p:cNvPr id="42" name="Shape 40"/>
          <p:cNvSpPr/>
          <p:nvPr/>
        </p:nvSpPr>
        <p:spPr>
          <a:xfrm>
            <a:off x="6233008" y="4937760"/>
            <a:ext cx="2567864" cy="1188720"/>
          </a:xfrm>
          <a:prstGeom prst="roundRect">
            <a:avLst>
              <a:gd name="adj" fmla="val 6154"/>
            </a:avLst>
          </a:prstGeom>
          <a:solidFill>
            <a:schemeClr val="bg2"/>
          </a:solidFill>
          <a:ln w="9525">
            <a:solidFill>
              <a:schemeClr val="bg2"/>
            </a:solidFill>
            <a:prstDash val="solid"/>
          </a:ln>
        </p:spPr>
      </p:sp>
      <p:sp>
        <p:nvSpPr>
          <p:cNvPr id="43" name="Text 41"/>
          <p:cNvSpPr txBox="1"/>
          <p:nvPr/>
        </p:nvSpPr>
        <p:spPr>
          <a:xfrm>
            <a:off x="6461608" y="5074920"/>
            <a:ext cx="2110664" cy="457200"/>
          </a:xfrm>
          <a:prstGeom prst="rect">
            <a:avLst/>
          </a:prstGeom>
          <a:noFill/>
          <a:ln/>
        </p:spPr>
        <p:txBody>
          <a:bodyPr wrap="square" lIns="0" tIns="0" rIns="0" bIns="0" rtlCol="0" anchor="t"/>
          <a:lstStyle/>
          <a:p>
            <a:pPr indent="0" marL="0">
              <a:buNone/>
            </a:pPr>
            <a:r>
              <a:rPr lang="en-US" sz="2200" b="1" dirty="0">
                <a:solidFill>
                  <a:schemeClr val="tx2"/>
                </a:solidFill>
              </a:rPr>
              <a:t>K = 100</a:t>
            </a:r>
            <a:endParaRPr lang="en-US" sz="2200" dirty="0"/>
          </a:p>
        </p:txBody>
      </p:sp>
      <p:sp>
        <p:nvSpPr>
          <p:cNvPr id="44" name="Text 42"/>
          <p:cNvSpPr txBox="1"/>
          <p:nvPr/>
        </p:nvSpPr>
        <p:spPr>
          <a:xfrm>
            <a:off x="6461608" y="5559552"/>
            <a:ext cx="2110664" cy="457200"/>
          </a:xfrm>
          <a:prstGeom prst="rect">
            <a:avLst/>
          </a:prstGeom>
          <a:noFill/>
          <a:ln/>
        </p:spPr>
        <p:txBody>
          <a:bodyPr wrap="square" lIns="0" tIns="0" rIns="0" bIns="0" rtlCol="0" anchor="t"/>
          <a:lstStyle/>
          <a:p>
            <a:pPr indent="0" marL="0">
              <a:buNone/>
            </a:pPr>
            <a:r>
              <a:rPr lang="en-US" sz="1200" dirty="0">
                <a:solidFill>
                  <a:schemeClr val="accent3"/>
                </a:solidFill>
              </a:rPr>
              <a:t>trial당 후보 수, seed 3개</a:t>
            </a:r>
            <a:endParaRPr lang="en-US" sz="1200" dirty="0"/>
          </a:p>
        </p:txBody>
      </p:sp>
      <p:sp>
        <p:nvSpPr>
          <p:cNvPr id="45" name="Shape 43"/>
          <p:cNvSpPr/>
          <p:nvPr/>
        </p:nvSpPr>
        <p:spPr>
          <a:xfrm>
            <a:off x="9075191" y="4937760"/>
            <a:ext cx="2567864" cy="1188720"/>
          </a:xfrm>
          <a:prstGeom prst="roundRect">
            <a:avLst>
              <a:gd name="adj" fmla="val 6154"/>
            </a:avLst>
          </a:prstGeom>
          <a:solidFill>
            <a:schemeClr val="bg2"/>
          </a:solidFill>
          <a:ln w="9525">
            <a:solidFill>
              <a:schemeClr val="bg2"/>
            </a:solidFill>
            <a:prstDash val="solid"/>
          </a:ln>
        </p:spPr>
      </p:sp>
      <p:sp>
        <p:nvSpPr>
          <p:cNvPr id="46" name="Text 44"/>
          <p:cNvSpPr txBox="1"/>
          <p:nvPr/>
        </p:nvSpPr>
        <p:spPr>
          <a:xfrm>
            <a:off x="9303791" y="5074920"/>
            <a:ext cx="2110664" cy="457200"/>
          </a:xfrm>
          <a:prstGeom prst="rect">
            <a:avLst/>
          </a:prstGeom>
          <a:noFill/>
          <a:ln/>
        </p:spPr>
        <p:txBody>
          <a:bodyPr wrap="square" lIns="0" tIns="0" rIns="0" bIns="0" rtlCol="0" anchor="t"/>
          <a:lstStyle/>
          <a:p>
            <a:pPr indent="0" marL="0">
              <a:buNone/>
            </a:pPr>
            <a:r>
              <a:rPr lang="en-US" sz="2200" b="1" dirty="0">
                <a:solidFill>
                  <a:schemeClr val="tx2"/>
                </a:solidFill>
              </a:rPr>
              <a:t>동시 95%</a:t>
            </a:r>
            <a:endParaRPr lang="en-US" sz="2200" dirty="0"/>
          </a:p>
        </p:txBody>
      </p:sp>
      <p:sp>
        <p:nvSpPr>
          <p:cNvPr id="47" name="Text 45"/>
          <p:cNvSpPr txBox="1"/>
          <p:nvPr/>
        </p:nvSpPr>
        <p:spPr>
          <a:xfrm>
            <a:off x="9303791" y="5559552"/>
            <a:ext cx="2110664" cy="457200"/>
          </a:xfrm>
          <a:prstGeom prst="rect">
            <a:avLst/>
          </a:prstGeom>
          <a:noFill/>
          <a:ln/>
        </p:spPr>
        <p:txBody>
          <a:bodyPr wrap="square" lIns="0" tIns="0" rIns="0" bIns="0" rtlCol="0" anchor="t"/>
          <a:lstStyle/>
          <a:p>
            <a:pPr indent="0" marL="0">
              <a:buNone/>
            </a:pPr>
            <a:r>
              <a:rPr lang="en-US" sz="1200" dirty="0">
                <a:solidFill>
                  <a:schemeClr val="accent3"/>
                </a:solidFill>
              </a:rPr>
              <a:t>모든 look·파이프라인·대조의 구간</a:t>
            </a:r>
            <a:endParaRPr lang="en-US" sz="1200" dirty="0"/>
          </a:p>
        </p:txBody>
      </p:sp>
      <p:sp>
        <p:nvSpPr>
          <p:cNvPr id="48"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과정 · 실행 기록</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67.3시간 동안 모든 단계를 cap 안에서 마쳤다</a:t>
            </a:r>
            <a:endParaRPr lang="en-US" sz="3000" dirty="0"/>
          </a:p>
        </p:txBody>
      </p:sp>
      <p:graphicFrame>
        <p:nvGraphicFramePr>
          <p:cNvPr id="4" name="Chart 0" descr=""/>
          <p:cNvGraphicFramePr/>
          <p:nvPr/>
        </p:nvGraphicFramePr>
        <p:xfrm>
          <a:off x="548640" y="1463040"/>
          <a:ext cx="6126480" cy="4709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23176" y="1691640"/>
            <a:ext cx="0" cy="2578608"/>
          </a:xfrm>
          <a:prstGeom prst="line">
            <a:avLst/>
          </a:prstGeom>
          <a:noFill/>
          <a:ln w="19050">
            <a:solidFill>
              <a:srgbClr val="AEB8C3"/>
            </a:solidFill>
            <a:prstDash val="solid"/>
          </a:ln>
        </p:spPr>
      </p:sp>
      <p:sp>
        <p:nvSpPr>
          <p:cNvPr id="6" name="Shape 3"/>
          <p:cNvSpPr/>
          <p:nvPr/>
        </p:nvSpPr>
        <p:spPr>
          <a:xfrm>
            <a:off x="7040880" y="1609344"/>
            <a:ext cx="164592" cy="164592"/>
          </a:xfrm>
          <a:prstGeom prst="ellipse">
            <a:avLst/>
          </a:prstGeom>
          <a:solidFill>
            <a:schemeClr val="bg1"/>
          </a:solidFill>
          <a:ln w="19050">
            <a:solidFill>
              <a:schemeClr val="accent3"/>
            </a:solidFill>
            <a:prstDash val="solid"/>
          </a:ln>
        </p:spPr>
      </p:sp>
      <p:sp>
        <p:nvSpPr>
          <p:cNvPr id="7" name="Text 4"/>
          <p:cNvSpPr txBox="1"/>
          <p:nvPr/>
        </p:nvSpPr>
        <p:spPr>
          <a:xfrm>
            <a:off x="7360920" y="1572768"/>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09-30 20:36</a:t>
            </a:r>
            <a:endParaRPr lang="en-US" sz="1250" dirty="0"/>
          </a:p>
        </p:txBody>
      </p:sp>
      <p:sp>
        <p:nvSpPr>
          <p:cNvPr id="8" name="Text 5"/>
          <p:cNvSpPr txBox="1"/>
          <p:nvPr/>
        </p:nvSpPr>
        <p:spPr>
          <a:xfrm>
            <a:off x="8778240" y="1572768"/>
            <a:ext cx="2862072" cy="274320"/>
          </a:xfrm>
          <a:prstGeom prst="rect">
            <a:avLst/>
          </a:prstGeom>
          <a:noFill/>
          <a:ln/>
        </p:spPr>
        <p:txBody>
          <a:bodyPr wrap="square" lIns="0" tIns="0" rIns="0" bIns="0" rtlCol="0" anchor="ctr"/>
          <a:lstStyle/>
          <a:p>
            <a:pPr indent="0" marL="0">
              <a:buNone/>
            </a:pPr>
            <a:r>
              <a:rPr lang="en-US" sz="1250" dirty="0">
                <a:solidFill>
                  <a:schemeClr val="tx1"/>
                </a:solidFill>
              </a:rPr>
              <a:t>새 실행 root(r2) 시작</a:t>
            </a:r>
            <a:endParaRPr lang="en-US" sz="1250" dirty="0"/>
          </a:p>
        </p:txBody>
      </p:sp>
      <p:sp>
        <p:nvSpPr>
          <p:cNvPr id="9" name="Shape 6"/>
          <p:cNvSpPr/>
          <p:nvPr/>
        </p:nvSpPr>
        <p:spPr>
          <a:xfrm>
            <a:off x="7040880" y="2039112"/>
            <a:ext cx="164592" cy="164592"/>
          </a:xfrm>
          <a:prstGeom prst="ellipse">
            <a:avLst/>
          </a:prstGeom>
          <a:solidFill>
            <a:schemeClr val="bg1"/>
          </a:solidFill>
          <a:ln w="19050">
            <a:solidFill>
              <a:schemeClr val="accent3"/>
            </a:solidFill>
            <a:prstDash val="solid"/>
          </a:ln>
        </p:spPr>
      </p:sp>
      <p:sp>
        <p:nvSpPr>
          <p:cNvPr id="10" name="Text 7"/>
          <p:cNvSpPr txBox="1"/>
          <p:nvPr/>
        </p:nvSpPr>
        <p:spPr>
          <a:xfrm>
            <a:off x="7360920" y="2002536"/>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10-01 12:19</a:t>
            </a:r>
            <a:endParaRPr lang="en-US" sz="1250" dirty="0"/>
          </a:p>
        </p:txBody>
      </p:sp>
      <p:sp>
        <p:nvSpPr>
          <p:cNvPr id="11" name="Text 8"/>
          <p:cNvSpPr txBox="1"/>
          <p:nvPr/>
        </p:nvSpPr>
        <p:spPr>
          <a:xfrm>
            <a:off x="8778240" y="2002536"/>
            <a:ext cx="2862072" cy="274320"/>
          </a:xfrm>
          <a:prstGeom prst="rect">
            <a:avLst/>
          </a:prstGeom>
          <a:noFill/>
          <a:ln/>
        </p:spPr>
        <p:txBody>
          <a:bodyPr wrap="square" lIns="0" tIns="0" rIns="0" bIns="0" rtlCol="0" anchor="ctr"/>
          <a:lstStyle/>
          <a:p>
            <a:pPr indent="0" marL="0">
              <a:buNone/>
            </a:pPr>
            <a:r>
              <a:rPr lang="en-US" sz="1250" dirty="0">
                <a:solidFill>
                  <a:schemeClr val="tx1"/>
                </a:solidFill>
              </a:rPr>
              <a:t>Stage A 완료, 설정 봉인</a:t>
            </a:r>
            <a:endParaRPr lang="en-US" sz="1250" dirty="0"/>
          </a:p>
        </p:txBody>
      </p:sp>
      <p:sp>
        <p:nvSpPr>
          <p:cNvPr id="12" name="Shape 9"/>
          <p:cNvSpPr/>
          <p:nvPr/>
        </p:nvSpPr>
        <p:spPr>
          <a:xfrm>
            <a:off x="7040880" y="2468880"/>
            <a:ext cx="164592" cy="164592"/>
          </a:xfrm>
          <a:prstGeom prst="ellipse">
            <a:avLst/>
          </a:prstGeom>
          <a:solidFill>
            <a:schemeClr val="bg1"/>
          </a:solidFill>
          <a:ln w="19050">
            <a:solidFill>
              <a:schemeClr val="accent3"/>
            </a:solidFill>
            <a:prstDash val="solid"/>
          </a:ln>
        </p:spPr>
      </p:sp>
      <p:sp>
        <p:nvSpPr>
          <p:cNvPr id="13" name="Text 10"/>
          <p:cNvSpPr txBox="1"/>
          <p:nvPr/>
        </p:nvSpPr>
        <p:spPr>
          <a:xfrm>
            <a:off x="7360920" y="2432304"/>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10-02 12:22</a:t>
            </a:r>
            <a:endParaRPr lang="en-US" sz="1250" dirty="0"/>
          </a:p>
        </p:txBody>
      </p:sp>
      <p:sp>
        <p:nvSpPr>
          <p:cNvPr id="14" name="Text 11"/>
          <p:cNvSpPr txBox="1"/>
          <p:nvPr/>
        </p:nvSpPr>
        <p:spPr>
          <a:xfrm>
            <a:off x="8778240" y="2432304"/>
            <a:ext cx="2862072" cy="274320"/>
          </a:xfrm>
          <a:prstGeom prst="rect">
            <a:avLst/>
          </a:prstGeom>
          <a:noFill/>
          <a:ln/>
        </p:spPr>
        <p:txBody>
          <a:bodyPr wrap="square" lIns="0" tIns="0" rIns="0" bIns="0" rtlCol="0" anchor="ctr"/>
          <a:lstStyle/>
          <a:p>
            <a:pPr indent="0" marL="0">
              <a:buNone/>
            </a:pPr>
            <a:r>
              <a:rPr lang="en-US" sz="1250" dirty="0">
                <a:solidFill>
                  <a:schemeClr val="tx1"/>
                </a:solidFill>
              </a:rPr>
              <a:t>Stage C 학습 30 run 완료</a:t>
            </a:r>
            <a:endParaRPr lang="en-US" sz="1250" dirty="0"/>
          </a:p>
        </p:txBody>
      </p:sp>
      <p:sp>
        <p:nvSpPr>
          <p:cNvPr id="15" name="Shape 12"/>
          <p:cNvSpPr/>
          <p:nvPr/>
        </p:nvSpPr>
        <p:spPr>
          <a:xfrm>
            <a:off x="7040880" y="2898648"/>
            <a:ext cx="164592" cy="164592"/>
          </a:xfrm>
          <a:prstGeom prst="ellipse">
            <a:avLst/>
          </a:prstGeom>
          <a:solidFill>
            <a:schemeClr val="bg1"/>
          </a:solidFill>
          <a:ln w="19050">
            <a:solidFill>
              <a:schemeClr val="accent3"/>
            </a:solidFill>
            <a:prstDash val="solid"/>
          </a:ln>
        </p:spPr>
      </p:sp>
      <p:sp>
        <p:nvSpPr>
          <p:cNvPr id="16" name="Text 13"/>
          <p:cNvSpPr txBox="1"/>
          <p:nvPr/>
        </p:nvSpPr>
        <p:spPr>
          <a:xfrm>
            <a:off x="7360920" y="2862072"/>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10-02 20:41</a:t>
            </a:r>
            <a:endParaRPr lang="en-US" sz="1250" dirty="0"/>
          </a:p>
        </p:txBody>
      </p:sp>
      <p:sp>
        <p:nvSpPr>
          <p:cNvPr id="17" name="Text 14"/>
          <p:cNvSpPr txBox="1"/>
          <p:nvPr/>
        </p:nvSpPr>
        <p:spPr>
          <a:xfrm>
            <a:off x="8778240" y="2862072"/>
            <a:ext cx="2862072" cy="274320"/>
          </a:xfrm>
          <a:prstGeom prst="rect">
            <a:avLst/>
          </a:prstGeom>
          <a:noFill/>
          <a:ln/>
        </p:spPr>
        <p:txBody>
          <a:bodyPr wrap="square" lIns="0" tIns="0" rIns="0" bIns="0" rtlCol="0" anchor="ctr"/>
          <a:lstStyle/>
          <a:p>
            <a:pPr indent="0" marL="0">
              <a:buNone/>
            </a:pPr>
            <a:r>
              <a:rPr lang="en-US" sz="1250" dirty="0">
                <a:solidFill>
                  <a:schemeClr val="tx1"/>
                </a:solidFill>
              </a:rPr>
              <a:t>look 1 → 계속</a:t>
            </a:r>
            <a:endParaRPr lang="en-US" sz="1250" dirty="0"/>
          </a:p>
        </p:txBody>
      </p:sp>
      <p:sp>
        <p:nvSpPr>
          <p:cNvPr id="18" name="Shape 15"/>
          <p:cNvSpPr/>
          <p:nvPr/>
        </p:nvSpPr>
        <p:spPr>
          <a:xfrm>
            <a:off x="7040880" y="3328416"/>
            <a:ext cx="164592" cy="164592"/>
          </a:xfrm>
          <a:prstGeom prst="ellipse">
            <a:avLst/>
          </a:prstGeom>
          <a:solidFill>
            <a:schemeClr val="accent1"/>
          </a:solidFill>
          <a:ln w="19050">
            <a:solidFill>
              <a:schemeClr val="accent1"/>
            </a:solidFill>
            <a:prstDash val="solid"/>
          </a:ln>
        </p:spPr>
      </p:sp>
      <p:sp>
        <p:nvSpPr>
          <p:cNvPr id="19" name="Text 16"/>
          <p:cNvSpPr txBox="1"/>
          <p:nvPr/>
        </p:nvSpPr>
        <p:spPr>
          <a:xfrm>
            <a:off x="7360920" y="3291840"/>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10-03 04:56</a:t>
            </a:r>
            <a:endParaRPr lang="en-US" sz="1250" dirty="0"/>
          </a:p>
        </p:txBody>
      </p:sp>
      <p:sp>
        <p:nvSpPr>
          <p:cNvPr id="20" name="Text 17"/>
          <p:cNvSpPr txBox="1"/>
          <p:nvPr/>
        </p:nvSpPr>
        <p:spPr>
          <a:xfrm>
            <a:off x="8778240" y="3291840"/>
            <a:ext cx="2862072" cy="274320"/>
          </a:xfrm>
          <a:prstGeom prst="rect">
            <a:avLst/>
          </a:prstGeom>
          <a:noFill/>
          <a:ln/>
        </p:spPr>
        <p:txBody>
          <a:bodyPr wrap="square" lIns="0" tIns="0" rIns="0" bIns="0" rtlCol="0" anchor="ctr"/>
          <a:lstStyle/>
          <a:p>
            <a:pPr indent="0" marL="0">
              <a:buNone/>
            </a:pPr>
            <a:r>
              <a:rPr lang="en-US" sz="1250" b="1" dirty="0">
                <a:solidFill>
                  <a:schemeClr val="tx1"/>
                </a:solidFill>
              </a:rPr>
              <a:t>look 2 → 공동 중단, 판정 확정</a:t>
            </a:r>
            <a:endParaRPr lang="en-US" sz="1250" dirty="0"/>
          </a:p>
        </p:txBody>
      </p:sp>
      <p:sp>
        <p:nvSpPr>
          <p:cNvPr id="21" name="Shape 18"/>
          <p:cNvSpPr/>
          <p:nvPr/>
        </p:nvSpPr>
        <p:spPr>
          <a:xfrm>
            <a:off x="7040880" y="3758184"/>
            <a:ext cx="164592" cy="164592"/>
          </a:xfrm>
          <a:prstGeom prst="ellipse">
            <a:avLst/>
          </a:prstGeom>
          <a:solidFill>
            <a:schemeClr val="bg1"/>
          </a:solidFill>
          <a:ln w="19050">
            <a:solidFill>
              <a:schemeClr val="accent3"/>
            </a:solidFill>
            <a:prstDash val="solid"/>
          </a:ln>
        </p:spPr>
      </p:sp>
      <p:sp>
        <p:nvSpPr>
          <p:cNvPr id="22" name="Text 19"/>
          <p:cNvSpPr txBox="1"/>
          <p:nvPr/>
        </p:nvSpPr>
        <p:spPr>
          <a:xfrm>
            <a:off x="7360920" y="3721608"/>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10-03 10:33</a:t>
            </a:r>
            <a:endParaRPr lang="en-US" sz="1250" dirty="0"/>
          </a:p>
        </p:txBody>
      </p:sp>
      <p:sp>
        <p:nvSpPr>
          <p:cNvPr id="23" name="Text 20"/>
          <p:cNvSpPr txBox="1"/>
          <p:nvPr/>
        </p:nvSpPr>
        <p:spPr>
          <a:xfrm>
            <a:off x="8778240" y="3721608"/>
            <a:ext cx="2862072" cy="274320"/>
          </a:xfrm>
          <a:prstGeom prst="rect">
            <a:avLst/>
          </a:prstGeom>
          <a:noFill/>
          <a:ln/>
        </p:spPr>
        <p:txBody>
          <a:bodyPr wrap="square" lIns="0" tIns="0" rIns="0" bIns="0" rtlCol="0" anchor="ctr"/>
          <a:lstStyle/>
          <a:p>
            <a:pPr indent="0" marL="0">
              <a:buNone/>
            </a:pPr>
            <a:r>
              <a:rPr lang="en-US" sz="1250" dirty="0">
                <a:solidFill>
                  <a:schemeClr val="tx1"/>
                </a:solidFill>
              </a:rPr>
              <a:t>Stage P 완료</a:t>
            </a:r>
            <a:endParaRPr lang="en-US" sz="1250" dirty="0"/>
          </a:p>
        </p:txBody>
      </p:sp>
      <p:sp>
        <p:nvSpPr>
          <p:cNvPr id="24" name="Shape 21"/>
          <p:cNvSpPr/>
          <p:nvPr/>
        </p:nvSpPr>
        <p:spPr>
          <a:xfrm>
            <a:off x="7040880" y="4187952"/>
            <a:ext cx="164592" cy="164592"/>
          </a:xfrm>
          <a:prstGeom prst="ellipse">
            <a:avLst/>
          </a:prstGeom>
          <a:solidFill>
            <a:schemeClr val="bg1"/>
          </a:solidFill>
          <a:ln w="19050">
            <a:solidFill>
              <a:schemeClr val="accent3"/>
            </a:solidFill>
            <a:prstDash val="solid"/>
          </a:ln>
        </p:spPr>
      </p:sp>
      <p:sp>
        <p:nvSpPr>
          <p:cNvPr id="25" name="Text 22"/>
          <p:cNvSpPr txBox="1"/>
          <p:nvPr/>
        </p:nvSpPr>
        <p:spPr>
          <a:xfrm>
            <a:off x="7360920" y="4151376"/>
            <a:ext cx="1371600" cy="274320"/>
          </a:xfrm>
          <a:prstGeom prst="rect">
            <a:avLst/>
          </a:prstGeom>
          <a:noFill/>
          <a:ln/>
        </p:spPr>
        <p:txBody>
          <a:bodyPr wrap="square" lIns="0" tIns="0" rIns="0" bIns="0" rtlCol="0" anchor="ctr"/>
          <a:lstStyle/>
          <a:p>
            <a:pPr indent="0" marL="0">
              <a:buNone/>
            </a:pPr>
            <a:r>
              <a:rPr lang="en-US" sz="1250" b="1" dirty="0">
                <a:solidFill>
                  <a:schemeClr val="accent2"/>
                </a:solidFill>
              </a:rPr>
              <a:t>10-03 15:57</a:t>
            </a:r>
            <a:endParaRPr lang="en-US" sz="1250" dirty="0"/>
          </a:p>
        </p:txBody>
      </p:sp>
      <p:sp>
        <p:nvSpPr>
          <p:cNvPr id="26" name="Text 23"/>
          <p:cNvSpPr txBox="1"/>
          <p:nvPr/>
        </p:nvSpPr>
        <p:spPr>
          <a:xfrm>
            <a:off x="8778240" y="4151376"/>
            <a:ext cx="2862072" cy="274320"/>
          </a:xfrm>
          <a:prstGeom prst="rect">
            <a:avLst/>
          </a:prstGeom>
          <a:noFill/>
          <a:ln/>
        </p:spPr>
        <p:txBody>
          <a:bodyPr wrap="square" lIns="0" tIns="0" rIns="0" bIns="0" rtlCol="0" anchor="ctr"/>
          <a:lstStyle/>
          <a:p>
            <a:pPr indent="0" marL="0">
              <a:buNone/>
            </a:pPr>
            <a:r>
              <a:rPr lang="en-US" sz="1250" dirty="0">
                <a:solidFill>
                  <a:schemeClr val="tx1"/>
                </a:solidFill>
              </a:rPr>
              <a:t>Stage S 완료, 상태 TERMINAL</a:t>
            </a:r>
            <a:endParaRPr lang="en-US" sz="1250" dirty="0"/>
          </a:p>
        </p:txBody>
      </p:sp>
      <p:sp>
        <p:nvSpPr>
          <p:cNvPr id="27" name="Shape 24"/>
          <p:cNvSpPr/>
          <p:nvPr/>
        </p:nvSpPr>
        <p:spPr>
          <a:xfrm>
            <a:off x="7040880" y="4709160"/>
            <a:ext cx="4602175" cy="1463040"/>
          </a:xfrm>
          <a:prstGeom prst="roundRect">
            <a:avLst>
              <a:gd name="adj" fmla="val 5000"/>
            </a:avLst>
          </a:prstGeom>
          <a:solidFill>
            <a:schemeClr val="bg2"/>
          </a:solidFill>
          <a:ln w="9525">
            <a:solidFill>
              <a:schemeClr val="bg2"/>
            </a:solidFill>
            <a:prstDash val="solid"/>
          </a:ln>
        </p:spPr>
      </p:sp>
      <p:sp>
        <p:nvSpPr>
          <p:cNvPr id="28" name="Text 25"/>
          <p:cNvSpPr txBox="1"/>
          <p:nvPr/>
        </p:nvSpPr>
        <p:spPr>
          <a:xfrm>
            <a:off x="7269480" y="4846320"/>
            <a:ext cx="4114800" cy="274320"/>
          </a:xfrm>
          <a:prstGeom prst="rect">
            <a:avLst/>
          </a:prstGeom>
          <a:noFill/>
          <a:ln/>
        </p:spPr>
        <p:txBody>
          <a:bodyPr wrap="square" lIns="0" tIns="0" rIns="0" bIns="0" rtlCol="0" anchor="t"/>
          <a:lstStyle/>
          <a:p>
            <a:pPr indent="0" marL="0">
              <a:buNone/>
            </a:pPr>
            <a:r>
              <a:rPr lang="en-US" sz="1300" b="1" dirty="0">
                <a:solidFill>
                  <a:schemeClr val="tx1"/>
                </a:solidFill>
              </a:rPr>
              <a:t>무결성 기록</a:t>
            </a:r>
            <a:endParaRPr lang="en-US" sz="1300" dirty="0"/>
          </a:p>
        </p:txBody>
      </p:sp>
      <p:sp>
        <p:nvSpPr>
          <p:cNvPr id="29" name="Text 26"/>
          <p:cNvSpPr txBox="1"/>
          <p:nvPr/>
        </p:nvSpPr>
        <p:spPr>
          <a:xfrm>
            <a:off x="7269480" y="5166360"/>
            <a:ext cx="4144975" cy="91440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첫 실행은 Stage A 처리량 측정 중 재생성 감사에서 멈췄다(MD5 데이터 생성 전). 감사를 고친 뒤(425bcdb) 처음부터 다시 실행했고, 이후 무결성 실패는 0건이다.</a:t>
            </a:r>
            <a:endParaRPr lang="en-US" sz="1200" dirty="0"/>
          </a:p>
        </p:txBody>
      </p:sp>
      <p:sp>
        <p:nvSpPr>
          <p:cNvPr id="30"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3657600" cy="1097280"/>
          </a:xfrm>
          <a:prstGeom prst="rect">
            <a:avLst/>
          </a:prstGeom>
          <a:noFill/>
          <a:ln/>
        </p:spPr>
        <p:txBody>
          <a:bodyPr wrap="square" lIns="0" tIns="0" rIns="0" bIns="0" rtlCol="0"/>
          <a:lstStyle/>
          <a:p>
            <a:pPr indent="0" marL="0">
              <a:buNone/>
            </a:pPr>
            <a:r>
              <a:rPr lang="en-US" sz="6600" b="1" dirty="0">
                <a:solidFill>
                  <a:schemeClr val="accent1"/>
                </a:solidFill>
              </a:rPr>
              <a:t>03</a:t>
            </a:r>
            <a:endParaRPr lang="en-US" sz="66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rPr>
              <a:t>결과</a:t>
            </a:r>
            <a:endParaRPr lang="en-US" sz="4000" dirty="0"/>
          </a:p>
        </p:txBody>
      </p:sp>
      <p:sp>
        <p:nvSpPr>
          <p:cNvPr id="4" name="Text 0"/>
          <p:cNvSpPr/>
          <p:nvPr>
            <p:ph idx="102" type="body" hasCustomPrompt="1"/>
          </p:nvPr>
        </p:nvSpPr>
        <p:spPr>
          <a:xfrm>
            <a:off x="731520" y="4069080"/>
            <a:ext cx="10698480" cy="1097280"/>
          </a:xfrm>
          <a:prstGeom prst="rect">
            <a:avLst/>
          </a:prstGeom>
          <a:noFill/>
          <a:ln/>
        </p:spPr>
        <p:txBody>
          <a:bodyPr wrap="square" lIns="0" tIns="0" rIns="0" bIns="0" rtlCol="0" anchor="t"/>
          <a:lstStyle/>
          <a:p>
            <a:pPr indent="0" marL="0">
              <a:buNone/>
            </a:pPr>
            <a:r>
              <a:rPr lang="en-US" sz="1800" dirty="0">
                <a:solidFill>
                  <a:schemeClr val="accent5"/>
                </a:solidFill>
              </a:rPr>
              <a:t>무엇이 나왔는가 — 기계 적격성, 주 판정, 양성 대조, 정보 신호, 계산 우위</a:t>
            </a:r>
            <a:endParaRPr lang="en-US" sz="18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최종 결론 카드</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5개 파이프라인의 판정이 모두 같았다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828800"/>
                <a:gridCol w="2011680"/>
                <a:gridCol w="2560320"/>
                <a:gridCol w="2560320"/>
                <a:gridCol w="2133295"/>
              </a:tblGrid>
              <a:tr h="658368">
                <a:tc>
                  <a:txBody>
                    <a:bodyPr/>
                    <a:lstStyle/>
                    <a:p>
                      <a:pPr indent="0" marL="0">
                        <a:buNone/>
                      </a:pPr>
                      <a:r>
                        <a:rPr lang="en-US" sz="1400" b="1" dirty="0">
                          <a:solidFill>
                            <a:schemeClr val="bg1"/>
                          </a:solidFill>
                        </a:rPr>
                        <a:t>파이프라인</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C1 기계</a:t>
                      </a:r>
                      <a:endParaRPr lang="en-US" sz="1400" dirty="0"/>
                    </a:p>
                    <a:p>
                      <a:pPr indent="0" marL="0">
                        <a:buNone/>
                      </a:pPr>
                      <a:r>
                        <a:rPr lang="en-US" sz="1100" b="1" dirty="0">
                          <a:solidFill>
                            <a:schemeClr val="accent5"/>
                          </a:solidFill>
                        </a:rPr>
                        <a:t>조건을 쓰는가</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C2 구조 이용 (r=4)</a:t>
                      </a:r>
                      <a:endParaRPr lang="en-US" sz="1400" dirty="0"/>
                    </a:p>
                    <a:p>
                      <a:pPr indent="0" marL="0">
                        <a:buNone/>
                      </a:pPr>
                      <a:r>
                        <a:rPr lang="en-US" sz="1100" b="1" dirty="0">
                          <a:solidFill>
                            <a:schemeClr val="accent5"/>
                          </a:solidFill>
                        </a:rPr>
                        <a:t>약한 해시를 이용하는가</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C3 연구 가설</a:t>
                      </a:r>
                      <a:endParaRPr lang="en-US" sz="1400" dirty="0"/>
                    </a:p>
                    <a:p>
                      <a:pPr indent="0" marL="0">
                        <a:buNone/>
                      </a:pPr>
                      <a:r>
                        <a:rPr lang="en-US" sz="1100" b="1" dirty="0">
                          <a:solidFill>
                            <a:schemeClr val="accent5"/>
                          </a:solidFill>
                        </a:rPr>
                        <a:t>MD5-64에서 이득이 있는가</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C4 계산 우위</a:t>
                      </a:r>
                      <a:endParaRPr lang="en-US" sz="1400" dirty="0"/>
                    </a:p>
                    <a:p>
                      <a:pPr indent="0" marL="0">
                        <a:buNone/>
                      </a:pPr>
                      <a:r>
                        <a:rPr lang="en-US" sz="1100" b="1" dirty="0">
                          <a:solidFill>
                            <a:schemeClr val="accent5"/>
                          </a:solidFill>
                        </a:rPr>
                        <a:t>MD5 직접 시도보다 싼가</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420624">
                <a:tc>
                  <a:txBody>
                    <a:bodyPr/>
                    <a:lstStyle/>
                    <a:p>
                      <a:pPr indent="0" marL="0">
                        <a:buNone/>
                      </a:pPr>
                      <a:r>
                        <a:rPr lang="en-US" sz="1400" b="1" dirty="0">
                          <a:solidFill>
                            <a:schemeClr val="tx1"/>
                          </a:solidFill>
                        </a:rPr>
                        <a:t>P-G-BGV</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PASS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GEN_4 · INFO_4 성립</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chemeClr val="accent6"/>
                          </a:solidFill>
                        </a:rPr>
                        <a:t>REJECTED_BOUNDED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NO_ADVANTAGE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0624">
                <a:tc>
                  <a:txBody>
                    <a:bodyPr/>
                    <a:lstStyle/>
                    <a:p>
                      <a:pPr indent="0" marL="0">
                        <a:buNone/>
                      </a:pPr>
                      <a:r>
                        <a:rPr lang="en-US" sz="1400" b="1" dirty="0">
                          <a:solidFill>
                            <a:schemeClr val="tx1"/>
                          </a:solidFill>
                        </a:rPr>
                        <a:t>P-G-CGGE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PASS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GEN_4 · INFO_4 성립</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chemeClr val="accent6"/>
                          </a:solidFill>
                        </a:rPr>
                        <a:t>REJECTED_BOUNDED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NO_ADVANTAGE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0624">
                <a:tc>
                  <a:txBody>
                    <a:bodyPr/>
                    <a:lstStyle/>
                    <a:p>
                      <a:pPr indent="0" marL="0">
                        <a:buNone/>
                      </a:pPr>
                      <a:r>
                        <a:rPr lang="en-US" sz="1400" b="1" dirty="0">
                          <a:solidFill>
                            <a:schemeClr val="tx1"/>
                          </a:solidFill>
                        </a:rPr>
                        <a:t>P-DISC</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PASS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GEN_4 · INFO_4 성립</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chemeClr val="accent6"/>
                          </a:solidFill>
                        </a:rPr>
                        <a:t>REJECTED_BOUNDED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NO_ADVANTAGE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0624">
                <a:tc>
                  <a:txBody>
                    <a:bodyPr/>
                    <a:lstStyle/>
                    <a:p>
                      <a:pPr indent="0" marL="0">
                        <a:buNone/>
                      </a:pPr>
                      <a:r>
                        <a:rPr lang="en-US" sz="1400" b="1" dirty="0">
                          <a:solidFill>
                            <a:schemeClr val="tx1"/>
                          </a:solidFill>
                        </a:rPr>
                        <a:t>R-G-BGV</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PASS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GEN_4 · INFO_4 성립</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chemeClr val="accent6"/>
                          </a:solidFill>
                        </a:rPr>
                        <a:t>REJECTED_BOUNDED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NO_ADVANTAGE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0624">
                <a:tc>
                  <a:txBody>
                    <a:bodyPr/>
                    <a:lstStyle/>
                    <a:p>
                      <a:pPr indent="0" marL="0">
                        <a:buNone/>
                      </a:pPr>
                      <a:r>
                        <a:rPr lang="en-US" sz="1400" b="1" dirty="0">
                          <a:solidFill>
                            <a:schemeClr val="tx1"/>
                          </a:solidFill>
                        </a:rPr>
                        <a:t>R-DISC</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PASS</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GEN_4 · INFO_4 성립</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b="1" dirty="0">
                          <a:solidFill>
                            <a:schemeClr val="accent6"/>
                          </a:solidFill>
                        </a:rPr>
                        <a:t>REJECTED_BOUNDED</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400" dirty="0">
                          <a:solidFill>
                            <a:schemeClr val="tx1"/>
                          </a:solidFill>
                        </a:rPr>
                        <a:t>NO_ADVANTAGE</a:t>
                      </a:r>
                      <a:endParaRPr lang="en-US" sz="14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5" name="Shape 2"/>
          <p:cNvSpPr/>
          <p:nvPr/>
        </p:nvSpPr>
        <p:spPr>
          <a:xfrm>
            <a:off x="548640" y="4846320"/>
            <a:ext cx="11094415" cy="1280160"/>
          </a:xfrm>
          <a:prstGeom prst="roundRect">
            <a:avLst>
              <a:gd name="adj" fmla="val 5714"/>
            </a:avLst>
          </a:prstGeom>
          <a:solidFill>
            <a:schemeClr val="tx1"/>
          </a:solidFill>
          <a:ln w="9525">
            <a:solidFill>
              <a:schemeClr val="tx1"/>
            </a:solidFill>
            <a:prstDash val="solid"/>
          </a:ln>
        </p:spPr>
      </p:sp>
      <p:sp>
        <p:nvSpPr>
          <p:cNvPr id="6" name="Text 3"/>
          <p:cNvSpPr txBox="1"/>
          <p:nvPr/>
        </p:nvSpPr>
        <p:spPr>
          <a:xfrm>
            <a:off x="868680" y="4846320"/>
            <a:ext cx="3657600" cy="1280160"/>
          </a:xfrm>
          <a:prstGeom prst="rect">
            <a:avLst/>
          </a:prstGeom>
          <a:noFill/>
          <a:ln/>
        </p:spPr>
        <p:txBody>
          <a:bodyPr wrap="square" lIns="0" tIns="0" rIns="0" bIns="0" rtlCol="0" anchor="ctr"/>
          <a:lstStyle/>
          <a:p>
            <a:pPr indent="0" marL="0">
              <a:buNone/>
            </a:pPr>
            <a:r>
              <a:rPr lang="en-US" sz="2800" b="1" dirty="0">
                <a:solidFill>
                  <a:schemeClr val="accent1"/>
                </a:solidFill>
              </a:rPr>
              <a:t>FINAL_REJECTED</a:t>
            </a:r>
            <a:endParaRPr lang="en-US" sz="2800" dirty="0"/>
          </a:p>
        </p:txBody>
      </p:sp>
      <p:sp>
        <p:nvSpPr>
          <p:cNvPr id="7" name="Text 4"/>
          <p:cNvSpPr txBox="1"/>
          <p:nvPr/>
        </p:nvSpPr>
        <p:spPr>
          <a:xfrm>
            <a:off x="4663440" y="4846320"/>
            <a:ext cx="6720840" cy="1280160"/>
          </a:xfrm>
          <a:prstGeom prst="rect">
            <a:avLst/>
          </a:prstGeom>
          <a:noFill/>
          <a:ln/>
        </p:spPr>
        <p:txBody>
          <a:bodyPr wrap="square" lIns="0" tIns="0" rIns="0" bIns="0" rtlCol="0" anchor="ctr"/>
          <a:lstStyle/>
          <a:p>
            <a:pPr indent="0" marL="0">
              <a:lnSpc>
                <a:spcPct val="115000"/>
              </a:lnSpc>
              <a:buNone/>
            </a:pPr>
            <a:r>
              <a:rPr lang="en-US" sz="1400" dirty="0">
                <a:solidFill>
                  <a:schemeClr val="bg1"/>
                </a:solidFill>
              </a:rPr>
              <a:t>다섯 개 모두 REJECTED이므로 사전 규칙의 종합 판정은 가설 기각이다. C5 대비 12건은 δ 내 동등 8건, 미확정 4건, 차이 확인 0건이었다.</a:t>
            </a:r>
            <a:endParaRPr lang="en-US" sz="1400" dirty="0"/>
          </a:p>
        </p:txBody>
      </p:sp>
      <p:sp>
        <p:nvSpPr>
          <p:cNvPr id="8"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C1 기계 적격성</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기계는 synthetic 조건을 완벽히 사용했다</a:t>
            </a:r>
            <a:endParaRPr lang="en-US" sz="3000" dirty="0"/>
          </a:p>
        </p:txBody>
      </p:sp>
      <p:sp>
        <p:nvSpPr>
          <p:cNvPr id="4" name="Shape 2"/>
          <p:cNvSpPr/>
          <p:nvPr/>
        </p:nvSpPr>
        <p:spPr>
          <a:xfrm>
            <a:off x="548640" y="1508760"/>
            <a:ext cx="3515258" cy="1920240"/>
          </a:xfrm>
          <a:prstGeom prst="roundRect">
            <a:avLst>
              <a:gd name="adj" fmla="val 3810"/>
            </a:avLst>
          </a:prstGeom>
          <a:solidFill>
            <a:schemeClr val="bg2"/>
          </a:solidFill>
          <a:ln w="9525">
            <a:solidFill>
              <a:schemeClr val="bg2"/>
            </a:solidFill>
            <a:prstDash val="solid"/>
          </a:ln>
        </p:spPr>
      </p:sp>
      <p:sp>
        <p:nvSpPr>
          <p:cNvPr id="5" name="Text 3"/>
          <p:cNvSpPr txBox="1"/>
          <p:nvPr/>
        </p:nvSpPr>
        <p:spPr>
          <a:xfrm>
            <a:off x="822960" y="1737360"/>
            <a:ext cx="2966618" cy="685800"/>
          </a:xfrm>
          <a:prstGeom prst="rect">
            <a:avLst/>
          </a:prstGeom>
          <a:noFill/>
          <a:ln/>
        </p:spPr>
        <p:txBody>
          <a:bodyPr wrap="square" lIns="0" tIns="0" rIns="0" bIns="0" rtlCol="0" anchor="ctr"/>
          <a:lstStyle/>
          <a:p>
            <a:pPr indent="0" marL="0">
              <a:buNone/>
            </a:pPr>
            <a:r>
              <a:rPr lang="en-US" sz="3600" b="1" dirty="0">
                <a:solidFill>
                  <a:schemeClr val="accent6"/>
                </a:solidFill>
              </a:rPr>
              <a:t>15 / 15 run</a:t>
            </a:r>
            <a:endParaRPr lang="en-US" sz="3600" dirty="0"/>
          </a:p>
        </p:txBody>
      </p:sp>
      <p:sp>
        <p:nvSpPr>
          <p:cNvPr id="6" name="Text 4"/>
          <p:cNvSpPr txBox="1"/>
          <p:nvPr/>
        </p:nvSpPr>
        <p:spPr>
          <a:xfrm>
            <a:off x="822960" y="2514600"/>
            <a:ext cx="2966618" cy="685800"/>
          </a:xfrm>
          <a:prstGeom prst="rect">
            <a:avLst/>
          </a:prstGeom>
          <a:noFill/>
          <a:ln/>
        </p:spPr>
        <p:txBody>
          <a:bodyPr wrap="square" lIns="0" tIns="0" rIns="0" bIns="0" rtlCol="0" anchor="t"/>
          <a:lstStyle/>
          <a:p>
            <a:pPr indent="0" marL="0">
              <a:buNone/>
            </a:pPr>
            <a:r>
              <a:rPr lang="en-US" sz="1300" dirty="0">
                <a:solidFill>
                  <a:schemeClr val="accent3"/>
                </a:solidFill>
              </a:rPr>
              <a:t>정상·반전 조건 모두 acceptance 512/512 만점 (기준 461 이상)</a:t>
            </a:r>
            <a:endParaRPr lang="en-US" sz="1300" dirty="0"/>
          </a:p>
        </p:txBody>
      </p:sp>
      <p:sp>
        <p:nvSpPr>
          <p:cNvPr id="7" name="Shape 5"/>
          <p:cNvSpPr/>
          <p:nvPr/>
        </p:nvSpPr>
        <p:spPr>
          <a:xfrm>
            <a:off x="4338218" y="1508760"/>
            <a:ext cx="3515258" cy="1920240"/>
          </a:xfrm>
          <a:prstGeom prst="roundRect">
            <a:avLst>
              <a:gd name="adj" fmla="val 3810"/>
            </a:avLst>
          </a:prstGeom>
          <a:solidFill>
            <a:schemeClr val="bg2"/>
          </a:solidFill>
          <a:ln w="9525">
            <a:solidFill>
              <a:schemeClr val="bg2"/>
            </a:solidFill>
            <a:prstDash val="solid"/>
          </a:ln>
        </p:spPr>
      </p:sp>
      <p:sp>
        <p:nvSpPr>
          <p:cNvPr id="8" name="Text 6"/>
          <p:cNvSpPr txBox="1"/>
          <p:nvPr/>
        </p:nvSpPr>
        <p:spPr>
          <a:xfrm>
            <a:off x="4612538" y="1737360"/>
            <a:ext cx="2966618" cy="685800"/>
          </a:xfrm>
          <a:prstGeom prst="rect">
            <a:avLst/>
          </a:prstGeom>
          <a:noFill/>
          <a:ln/>
        </p:spPr>
        <p:txBody>
          <a:bodyPr wrap="square" lIns="0" tIns="0" rIns="0" bIns="0" rtlCol="0" anchor="ctr"/>
          <a:lstStyle/>
          <a:p>
            <a:pPr indent="0" marL="0">
              <a:buNone/>
            </a:pPr>
            <a:r>
              <a:rPr lang="en-US" sz="3600" b="1" dirty="0">
                <a:solidFill>
                  <a:schemeClr val="accent6"/>
                </a:solidFill>
              </a:rPr>
              <a:t>0건</a:t>
            </a:r>
            <a:endParaRPr lang="en-US" sz="3600" dirty="0"/>
          </a:p>
        </p:txBody>
      </p:sp>
      <p:sp>
        <p:nvSpPr>
          <p:cNvPr id="9" name="Text 7"/>
          <p:cNvSpPr txBox="1"/>
          <p:nvPr/>
        </p:nvSpPr>
        <p:spPr>
          <a:xfrm>
            <a:off x="4612538" y="2514600"/>
            <a:ext cx="2966618" cy="685800"/>
          </a:xfrm>
          <a:prstGeom prst="rect">
            <a:avLst/>
          </a:prstGeom>
          <a:noFill/>
          <a:ln/>
        </p:spPr>
        <p:txBody>
          <a:bodyPr wrap="square" lIns="0" tIns="0" rIns="0" bIns="0" rtlCol="0" anchor="t"/>
          <a:lstStyle/>
          <a:p>
            <a:pPr indent="0" marL="0">
              <a:buNone/>
            </a:pPr>
            <a:r>
              <a:rPr lang="en-US" sz="1300" dirty="0">
                <a:solidFill>
                  <a:schemeClr val="accent3"/>
                </a:solidFill>
              </a:rPr>
              <a:t>반전 후보가 원래 조건으로 성공한 경우 (기준 25 이하)</a:t>
            </a:r>
            <a:endParaRPr lang="en-US" sz="1300" dirty="0"/>
          </a:p>
        </p:txBody>
      </p:sp>
      <p:sp>
        <p:nvSpPr>
          <p:cNvPr id="10" name="Shape 8"/>
          <p:cNvSpPr/>
          <p:nvPr/>
        </p:nvSpPr>
        <p:spPr>
          <a:xfrm>
            <a:off x="8127797" y="1508760"/>
            <a:ext cx="3515258" cy="1920240"/>
          </a:xfrm>
          <a:prstGeom prst="roundRect">
            <a:avLst>
              <a:gd name="adj" fmla="val 3810"/>
            </a:avLst>
          </a:prstGeom>
          <a:solidFill>
            <a:schemeClr val="bg2"/>
          </a:solidFill>
          <a:ln w="9525">
            <a:solidFill>
              <a:schemeClr val="bg2"/>
            </a:solidFill>
            <a:prstDash val="solid"/>
          </a:ln>
        </p:spPr>
      </p:sp>
      <p:sp>
        <p:nvSpPr>
          <p:cNvPr id="11" name="Text 9"/>
          <p:cNvSpPr txBox="1"/>
          <p:nvPr/>
        </p:nvSpPr>
        <p:spPr>
          <a:xfrm>
            <a:off x="8402117" y="1737360"/>
            <a:ext cx="2966618" cy="685800"/>
          </a:xfrm>
          <a:prstGeom prst="rect">
            <a:avLst/>
          </a:prstGeom>
          <a:noFill/>
          <a:ln/>
        </p:spPr>
        <p:txBody>
          <a:bodyPr wrap="square" lIns="0" tIns="0" rIns="0" bIns="0" rtlCol="0" anchor="ctr"/>
          <a:lstStyle/>
          <a:p>
            <a:pPr indent="0" marL="0">
              <a:buNone/>
            </a:pPr>
            <a:r>
              <a:rPr lang="en-US" sz="3600" b="1" dirty="0">
                <a:solidFill>
                  <a:schemeClr val="accent6"/>
                </a:solidFill>
              </a:rPr>
              <a:t>z 102–117</a:t>
            </a:r>
            <a:endParaRPr lang="en-US" sz="3600" dirty="0"/>
          </a:p>
        </p:txBody>
      </p:sp>
      <p:sp>
        <p:nvSpPr>
          <p:cNvPr id="12" name="Text 10"/>
          <p:cNvSpPr txBox="1"/>
          <p:nvPr/>
        </p:nvSpPr>
        <p:spPr>
          <a:xfrm>
            <a:off x="8402117" y="2514600"/>
            <a:ext cx="2966618" cy="685800"/>
          </a:xfrm>
          <a:prstGeom prst="rect">
            <a:avLst/>
          </a:prstGeom>
          <a:noFill/>
          <a:ln/>
        </p:spPr>
        <p:txBody>
          <a:bodyPr wrap="square" lIns="0" tIns="0" rIns="0" bIns="0" rtlCol="0" anchor="t"/>
          <a:lstStyle/>
          <a:p>
            <a:pPr indent="0" marL="0">
              <a:buNone/>
            </a:pPr>
            <a:r>
              <a:rPr lang="en-US" sz="1300" dirty="0">
                <a:solidFill>
                  <a:schemeClr val="accent3"/>
                </a:solidFill>
              </a:rPr>
              <a:t>synthetic CLP 정보 신호 (기준 3.26 초과)</a:t>
            </a:r>
            <a:endParaRPr lang="en-US" sz="1300" dirty="0"/>
          </a:p>
        </p:txBody>
      </p:sp>
      <p:sp>
        <p:nvSpPr>
          <p:cNvPr id="13" name="Text 11"/>
          <p:cNvSpPr txBox="1"/>
          <p:nvPr/>
        </p:nvSpPr>
        <p:spPr>
          <a:xfrm>
            <a:off x="548640" y="3703320"/>
            <a:ext cx="11094415" cy="365760"/>
          </a:xfrm>
          <a:prstGeom prst="rect">
            <a:avLst/>
          </a:prstGeom>
          <a:noFill/>
          <a:ln/>
        </p:spPr>
        <p:txBody>
          <a:bodyPr wrap="square" lIns="0" tIns="0" rIns="0" bIns="0" rtlCol="0" anchor="t"/>
          <a:lstStyle/>
          <a:p>
            <a:pPr indent="0" marL="0">
              <a:buNone/>
            </a:pPr>
            <a:r>
              <a:rPr lang="en-US" sz="1600" b="1" dirty="0">
                <a:solidFill>
                  <a:schemeClr val="tx1"/>
                </a:solidFill>
              </a:rPr>
              <a:t>Printable Gaussian 적격성 문제를 decoder 통일로 해결했다</a:t>
            </a:r>
            <a:endParaRPr lang="en-US" sz="1600" dirty="0"/>
          </a:p>
        </p:txBody>
      </p:sp>
      <p:sp>
        <p:nvSpPr>
          <p:cNvPr id="14" name="Shape 12"/>
          <p:cNvSpPr/>
          <p:nvPr/>
        </p:nvSpPr>
        <p:spPr>
          <a:xfrm>
            <a:off x="548640" y="4206240"/>
            <a:ext cx="5074920" cy="1920240"/>
          </a:xfrm>
          <a:prstGeom prst="roundRect">
            <a:avLst>
              <a:gd name="adj" fmla="val 3810"/>
            </a:avLst>
          </a:prstGeom>
          <a:solidFill>
            <a:schemeClr val="bg2"/>
          </a:solidFill>
          <a:ln w="9525">
            <a:solidFill>
              <a:schemeClr val="bg2"/>
            </a:solidFill>
            <a:prstDash val="solid"/>
          </a:ln>
        </p:spPr>
      </p:sp>
      <p:sp>
        <p:nvSpPr>
          <p:cNvPr id="15" name="Text 13"/>
          <p:cNvSpPr txBox="1"/>
          <p:nvPr/>
        </p:nvSpPr>
        <p:spPr>
          <a:xfrm>
            <a:off x="777240" y="4389120"/>
            <a:ext cx="4617720" cy="274320"/>
          </a:xfrm>
          <a:prstGeom prst="rect">
            <a:avLst/>
          </a:prstGeom>
          <a:noFill/>
          <a:ln/>
        </p:spPr>
        <p:txBody>
          <a:bodyPr wrap="square" lIns="0" tIns="0" rIns="0" bIns="0" rtlCol="0" anchor="t"/>
          <a:lstStyle/>
          <a:p>
            <a:pPr indent="0" marL="0">
              <a:buNone/>
            </a:pPr>
            <a:r>
              <a:rPr lang="en-US" sz="1200" b="1" dirty="0">
                <a:solidFill>
                  <a:schemeClr val="accent3"/>
                </a:solidFill>
              </a:rPr>
              <a:t>이전 (v3.1)</a:t>
            </a:r>
            <a:endParaRPr lang="en-US" sz="1200" dirty="0"/>
          </a:p>
        </p:txBody>
      </p:sp>
      <p:sp>
        <p:nvSpPr>
          <p:cNvPr id="16" name="Text 14"/>
          <p:cNvSpPr txBox="1"/>
          <p:nvPr/>
        </p:nvSpPr>
        <p:spPr>
          <a:xfrm>
            <a:off x="777240" y="4709160"/>
            <a:ext cx="4617720" cy="411480"/>
          </a:xfrm>
          <a:prstGeom prst="rect">
            <a:avLst/>
          </a:prstGeom>
          <a:noFill/>
          <a:ln/>
        </p:spPr>
        <p:txBody>
          <a:bodyPr wrap="square" lIns="0" tIns="0" rIns="0" bIns="0" rtlCol="0" anchor="t"/>
          <a:lstStyle/>
          <a:p>
            <a:pPr indent="0" marL="0">
              <a:buNone/>
            </a:pPr>
            <a:r>
              <a:rPr lang="en-US" sz="2000" b="1" dirty="0">
                <a:solidFill>
                  <a:schemeClr val="tx2"/>
                </a:solidFill>
              </a:rPr>
              <a:t>P-G-BGV 5/11 · P-G-CGGE 39/47</a:t>
            </a:r>
            <a:endParaRPr lang="en-US" sz="2000" dirty="0"/>
          </a:p>
        </p:txBody>
      </p:sp>
      <p:sp>
        <p:nvSpPr>
          <p:cNvPr id="17" name="Text 15"/>
          <p:cNvSpPr txBox="1"/>
          <p:nvPr/>
        </p:nvSpPr>
        <p:spPr>
          <a:xfrm>
            <a:off x="777240" y="5212080"/>
            <a:ext cx="4617720" cy="73152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정상/반전 joint, 분모 128. suffix 바이트가 Printable 범위를 벗어나 형식 실패</a:t>
            </a:r>
            <a:endParaRPr lang="en-US" sz="1250" dirty="0"/>
          </a:p>
        </p:txBody>
      </p:sp>
      <p:sp>
        <p:nvSpPr>
          <p:cNvPr id="18" name="Shape 16"/>
          <p:cNvSpPr/>
          <p:nvPr/>
        </p:nvSpPr>
        <p:spPr>
          <a:xfrm>
            <a:off x="5806440" y="5029200"/>
            <a:ext cx="548640" cy="365760"/>
          </a:xfrm>
          <a:prstGeom prst="rightArrow">
            <a:avLst/>
          </a:prstGeom>
          <a:solidFill>
            <a:schemeClr val="accent1"/>
          </a:solidFill>
          <a:ln w="9525">
            <a:solidFill>
              <a:schemeClr val="accent1"/>
            </a:solidFill>
            <a:prstDash val="solid"/>
          </a:ln>
        </p:spPr>
      </p:sp>
      <p:sp>
        <p:nvSpPr>
          <p:cNvPr id="19" name="Shape 17"/>
          <p:cNvSpPr/>
          <p:nvPr/>
        </p:nvSpPr>
        <p:spPr>
          <a:xfrm>
            <a:off x="6537960" y="4206240"/>
            <a:ext cx="5105095" cy="1920240"/>
          </a:xfrm>
          <a:prstGeom prst="roundRect">
            <a:avLst>
              <a:gd name="adj" fmla="val 3810"/>
            </a:avLst>
          </a:prstGeom>
          <a:solidFill>
            <a:schemeClr val="tx2"/>
          </a:solidFill>
          <a:ln w="9525">
            <a:solidFill>
              <a:schemeClr val="tx2"/>
            </a:solidFill>
            <a:prstDash val="solid"/>
          </a:ln>
        </p:spPr>
      </p:sp>
      <p:sp>
        <p:nvSpPr>
          <p:cNvPr id="20" name="Text 18"/>
          <p:cNvSpPr txBox="1"/>
          <p:nvPr/>
        </p:nvSpPr>
        <p:spPr>
          <a:xfrm>
            <a:off x="6766560" y="4389120"/>
            <a:ext cx="2743200" cy="274320"/>
          </a:xfrm>
          <a:prstGeom prst="rect">
            <a:avLst/>
          </a:prstGeom>
          <a:noFill/>
          <a:ln/>
        </p:spPr>
        <p:txBody>
          <a:bodyPr wrap="square" lIns="0" tIns="0" rIns="0" bIns="0" rtlCol="0" anchor="t"/>
          <a:lstStyle/>
          <a:p>
            <a:pPr indent="0" marL="0">
              <a:buNone/>
            </a:pPr>
            <a:r>
              <a:rPr lang="en-US" sz="1200" b="1" dirty="0">
                <a:solidFill>
                  <a:schemeClr val="accent5"/>
                </a:solidFill>
              </a:rPr>
              <a:t>V6</a:t>
            </a:r>
            <a:endParaRPr lang="en-US" sz="1200" dirty="0"/>
          </a:p>
        </p:txBody>
      </p:sp>
      <p:sp>
        <p:nvSpPr>
          <p:cNvPr id="21" name="Text 19"/>
          <p:cNvSpPr txBox="1"/>
          <p:nvPr/>
        </p:nvSpPr>
        <p:spPr>
          <a:xfrm>
            <a:off x="6766560" y="4709160"/>
            <a:ext cx="4647895" cy="411480"/>
          </a:xfrm>
          <a:prstGeom prst="rect">
            <a:avLst/>
          </a:prstGeom>
          <a:noFill/>
          <a:ln/>
        </p:spPr>
        <p:txBody>
          <a:bodyPr wrap="square" lIns="0" tIns="0" rIns="0" bIns="0" rtlCol="0" anchor="t"/>
          <a:lstStyle/>
          <a:p>
            <a:pPr indent="0" marL="0">
              <a:buNone/>
            </a:pPr>
            <a:r>
              <a:rPr lang="en-US" sz="2000" b="1" dirty="0">
                <a:solidFill>
                  <a:schemeClr val="bg1"/>
                </a:solidFill>
              </a:rPr>
              <a:t>5개 × seed 3개 모두 512/512</a:t>
            </a:r>
            <a:endParaRPr lang="en-US" sz="2000" dirty="0"/>
          </a:p>
        </p:txBody>
      </p:sp>
      <p:sp>
        <p:nvSpPr>
          <p:cNvPr id="22" name="Text 20"/>
          <p:cNvSpPr txBox="1"/>
          <p:nvPr/>
        </p:nvSpPr>
        <p:spPr>
          <a:xfrm>
            <a:off x="6766560" y="5212080"/>
            <a:ext cx="4647895" cy="731520"/>
          </a:xfrm>
          <a:prstGeom prst="rect">
            <a:avLst/>
          </a:prstGeom>
          <a:noFill/>
          <a:ln/>
        </p:spPr>
        <p:txBody>
          <a:bodyPr wrap="square" lIns="0" tIns="0" rIns="0" bIns="0" rtlCol="0" anchor="t"/>
          <a:lstStyle/>
          <a:p>
            <a:pPr indent="0" marL="0">
              <a:lnSpc>
                <a:spcPct val="110000"/>
              </a:lnSpc>
              <a:buNone/>
            </a:pPr>
            <a:r>
              <a:rPr lang="en-US" sz="1250" dirty="0">
                <a:solidFill>
                  <a:schemeClr val="accent5"/>
                </a:solidFill>
              </a:rPr>
              <a:t>source alphabet 최근접 prototype decoder로 형식 실패를 없앴다. Gaussian step 수는 dev에서 25로 선택, 보완 학습 불필요</a:t>
            </a:r>
            <a:endParaRPr lang="en-US" sz="1250" dirty="0"/>
          </a:p>
        </p:txBody>
      </p:sp>
      <p:sp>
        <p:nvSpPr>
          <p:cNvPr id="23"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C3 연구 가설 (주 판정)</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모든 이득 상한이 δ = 0.5%p 아래에 있다</a:t>
            </a:r>
            <a:endParaRPr lang="en-US" sz="3000" dirty="0"/>
          </a:p>
        </p:txBody>
      </p:sp>
      <p:sp>
        <p:nvSpPr>
          <p:cNvPr id="4" name="Shape 2"/>
          <p:cNvSpPr/>
          <p:nvPr/>
        </p:nvSpPr>
        <p:spPr>
          <a:xfrm>
            <a:off x="548640" y="1481328"/>
            <a:ext cx="365760" cy="73152"/>
          </a:xfrm>
          <a:prstGeom prst="rect">
            <a:avLst/>
          </a:prstGeom>
          <a:solidFill>
            <a:srgbClr val="2F6F7E"/>
          </a:solidFill>
          <a:ln w="6350">
            <a:solidFill>
              <a:srgbClr val="2F6F7E"/>
            </a:solidFill>
            <a:prstDash val="solid"/>
          </a:ln>
        </p:spPr>
      </p:sp>
      <p:sp>
        <p:nvSpPr>
          <p:cNvPr id="5" name="Text 3"/>
          <p:cNvSpPr txBox="1"/>
          <p:nvPr/>
        </p:nvSpPr>
        <p:spPr>
          <a:xfrm>
            <a:off x="1005840" y="1371600"/>
            <a:ext cx="2194560" cy="274320"/>
          </a:xfrm>
          <a:prstGeom prst="rect">
            <a:avLst/>
          </a:prstGeom>
          <a:noFill/>
          <a:ln/>
        </p:spPr>
        <p:txBody>
          <a:bodyPr wrap="square" lIns="0" tIns="0" rIns="0" bIns="0" rtlCol="0" anchor="ctr"/>
          <a:lstStyle/>
          <a:p>
            <a:pPr indent="0" marL="0">
              <a:buNone/>
            </a:pPr>
            <a:r>
              <a:rPr lang="en-US" sz="1200" dirty="0">
                <a:solidFill>
                  <a:schemeClr val="tx2"/>
                </a:solidFill>
              </a:rPr>
              <a:t>Δ_R = Main − Random</a:t>
            </a:r>
            <a:endParaRPr lang="en-US" sz="1200" dirty="0"/>
          </a:p>
        </p:txBody>
      </p:sp>
      <p:sp>
        <p:nvSpPr>
          <p:cNvPr id="6" name="Shape 4"/>
          <p:cNvSpPr/>
          <p:nvPr/>
        </p:nvSpPr>
        <p:spPr>
          <a:xfrm>
            <a:off x="3291840" y="1481328"/>
            <a:ext cx="365760" cy="73152"/>
          </a:xfrm>
          <a:prstGeom prst="rect">
            <a:avLst/>
          </a:prstGeom>
          <a:solidFill>
            <a:srgbClr val="D9731A"/>
          </a:solidFill>
          <a:ln w="6350">
            <a:solidFill>
              <a:srgbClr val="D9731A"/>
            </a:solidFill>
            <a:prstDash val="solid"/>
          </a:ln>
        </p:spPr>
      </p:sp>
      <p:sp>
        <p:nvSpPr>
          <p:cNvPr id="7" name="Text 5"/>
          <p:cNvSpPr txBox="1"/>
          <p:nvPr/>
        </p:nvSpPr>
        <p:spPr>
          <a:xfrm>
            <a:off x="3749040" y="1371600"/>
            <a:ext cx="2194560" cy="274320"/>
          </a:xfrm>
          <a:prstGeom prst="rect">
            <a:avLst/>
          </a:prstGeom>
          <a:noFill/>
          <a:ln/>
        </p:spPr>
        <p:txBody>
          <a:bodyPr wrap="square" lIns="0" tIns="0" rIns="0" bIns="0" rtlCol="0" anchor="ctr"/>
          <a:lstStyle/>
          <a:p>
            <a:pPr indent="0" marL="0">
              <a:buNone/>
            </a:pPr>
            <a:r>
              <a:rPr lang="en-US" sz="1200" dirty="0">
                <a:solidFill>
                  <a:schemeClr val="tx2"/>
                </a:solidFill>
              </a:rPr>
              <a:t>Δ_S = Main − Shuffled</a:t>
            </a:r>
            <a:endParaRPr lang="en-US" sz="1200" dirty="0"/>
          </a:p>
        </p:txBody>
      </p:sp>
      <p:sp>
        <p:nvSpPr>
          <p:cNvPr id="8" name="Shape 6"/>
          <p:cNvSpPr/>
          <p:nvPr/>
        </p:nvSpPr>
        <p:spPr>
          <a:xfrm>
            <a:off x="6217920" y="1389888"/>
            <a:ext cx="0" cy="256032"/>
          </a:xfrm>
          <a:prstGeom prst="line">
            <a:avLst/>
          </a:prstGeom>
          <a:noFill/>
          <a:ln w="19050">
            <a:solidFill>
              <a:srgbClr val="15202B"/>
            </a:solidFill>
            <a:prstDash val="dash"/>
          </a:ln>
        </p:spPr>
      </p:sp>
      <p:sp>
        <p:nvSpPr>
          <p:cNvPr id="9" name="Text 7"/>
          <p:cNvSpPr txBox="1"/>
          <p:nvPr/>
        </p:nvSpPr>
        <p:spPr>
          <a:xfrm>
            <a:off x="6492240" y="1371600"/>
            <a:ext cx="2194560" cy="274320"/>
          </a:xfrm>
          <a:prstGeom prst="rect">
            <a:avLst/>
          </a:prstGeom>
          <a:noFill/>
          <a:ln/>
        </p:spPr>
        <p:txBody>
          <a:bodyPr wrap="square" lIns="0" tIns="0" rIns="0" bIns="0" rtlCol="0" anchor="ctr"/>
          <a:lstStyle/>
          <a:p>
            <a:pPr indent="0" marL="0">
              <a:buNone/>
            </a:pPr>
            <a:r>
              <a:rPr lang="en-US" sz="1200" dirty="0">
                <a:solidFill>
                  <a:schemeClr val="tx2"/>
                </a:solidFill>
              </a:rPr>
              <a:t>δ = +0.5%p</a:t>
            </a:r>
            <a:endParaRPr lang="en-US" sz="1200" dirty="0"/>
          </a:p>
        </p:txBody>
      </p:sp>
      <p:sp>
        <p:nvSpPr>
          <p:cNvPr id="10" name="Shape 8"/>
          <p:cNvSpPr/>
          <p:nvPr/>
        </p:nvSpPr>
        <p:spPr>
          <a:xfrm>
            <a:off x="8961120" y="1389888"/>
            <a:ext cx="0" cy="256032"/>
          </a:xfrm>
          <a:prstGeom prst="line">
            <a:avLst/>
          </a:prstGeom>
          <a:noFill/>
          <a:ln w="19050">
            <a:solidFill>
              <a:srgbClr val="AEB8C3"/>
            </a:solidFill>
            <a:prstDash val="solid"/>
          </a:ln>
        </p:spPr>
      </p:sp>
      <p:sp>
        <p:nvSpPr>
          <p:cNvPr id="11" name="Text 9"/>
          <p:cNvSpPr txBox="1"/>
          <p:nvPr/>
        </p:nvSpPr>
        <p:spPr>
          <a:xfrm>
            <a:off x="9235440" y="1371600"/>
            <a:ext cx="2194560" cy="274320"/>
          </a:xfrm>
          <a:prstGeom prst="rect">
            <a:avLst/>
          </a:prstGeom>
          <a:noFill/>
          <a:ln/>
        </p:spPr>
        <p:txBody>
          <a:bodyPr wrap="square" lIns="0" tIns="0" rIns="0" bIns="0" rtlCol="0" anchor="ctr"/>
          <a:lstStyle/>
          <a:p>
            <a:pPr indent="0" marL="0">
              <a:buNone/>
            </a:pPr>
            <a:r>
              <a:rPr lang="en-US" sz="1200" dirty="0">
                <a:solidFill>
                  <a:schemeClr val="tx2"/>
                </a:solidFill>
              </a:rPr>
              <a:t>0 (효과 없음)</a:t>
            </a:r>
            <a:endParaRPr lang="en-US" sz="1200" dirty="0"/>
          </a:p>
        </p:txBody>
      </p:sp>
      <p:sp>
        <p:nvSpPr>
          <p:cNvPr id="12" name="Text 10"/>
          <p:cNvSpPr txBox="1"/>
          <p:nvPr/>
        </p:nvSpPr>
        <p:spPr>
          <a:xfrm>
            <a:off x="2388413" y="1810512"/>
            <a:ext cx="914400" cy="237744"/>
          </a:xfrm>
          <a:prstGeom prst="rect">
            <a:avLst/>
          </a:prstGeom>
          <a:noFill/>
          <a:ln/>
        </p:spPr>
        <p:txBody>
          <a:bodyPr wrap="square" lIns="0" tIns="0" rIns="0" bIns="0" rtlCol="0" anchor="t"/>
          <a:lstStyle/>
          <a:p>
            <a:pPr algn="ctr" indent="0" marL="0">
              <a:buNone/>
            </a:pPr>
            <a:r>
              <a:rPr lang="en-US" sz="1100" dirty="0">
                <a:solidFill>
                  <a:schemeClr val="accent3"/>
                </a:solidFill>
              </a:rPr>
              <a:t>−0.5</a:t>
            </a:r>
            <a:endParaRPr lang="en-US" sz="1100" dirty="0"/>
          </a:p>
        </p:txBody>
      </p:sp>
      <p:sp>
        <p:nvSpPr>
          <p:cNvPr id="13" name="Text 11"/>
          <p:cNvSpPr txBox="1"/>
          <p:nvPr/>
        </p:nvSpPr>
        <p:spPr>
          <a:xfrm>
            <a:off x="3558845" y="1810512"/>
            <a:ext cx="914400" cy="237744"/>
          </a:xfrm>
          <a:prstGeom prst="rect">
            <a:avLst/>
          </a:prstGeom>
          <a:noFill/>
          <a:ln/>
        </p:spPr>
        <p:txBody>
          <a:bodyPr wrap="square" lIns="0" tIns="0" rIns="0" bIns="0" rtlCol="0" anchor="t"/>
          <a:lstStyle/>
          <a:p>
            <a:pPr algn="ctr" indent="0" marL="0">
              <a:buNone/>
            </a:pPr>
            <a:r>
              <a:rPr lang="en-US" sz="1100" dirty="0">
                <a:solidFill>
                  <a:schemeClr val="accent3"/>
                </a:solidFill>
              </a:rPr>
              <a:t>−0.25</a:t>
            </a:r>
            <a:endParaRPr lang="en-US" sz="1100" dirty="0"/>
          </a:p>
        </p:txBody>
      </p:sp>
      <p:sp>
        <p:nvSpPr>
          <p:cNvPr id="14" name="Text 12"/>
          <p:cNvSpPr txBox="1"/>
          <p:nvPr/>
        </p:nvSpPr>
        <p:spPr>
          <a:xfrm>
            <a:off x="4729277" y="1810512"/>
            <a:ext cx="914400" cy="237744"/>
          </a:xfrm>
          <a:prstGeom prst="rect">
            <a:avLst/>
          </a:prstGeom>
          <a:noFill/>
          <a:ln/>
        </p:spPr>
        <p:txBody>
          <a:bodyPr wrap="square" lIns="0" tIns="0" rIns="0" bIns="0" rtlCol="0" anchor="t"/>
          <a:lstStyle/>
          <a:p>
            <a:pPr algn="ctr" indent="0" marL="0">
              <a:buNone/>
            </a:pPr>
            <a:r>
              <a:rPr lang="en-US" sz="1100" dirty="0">
                <a:solidFill>
                  <a:schemeClr val="accent3"/>
                </a:solidFill>
              </a:rPr>
              <a:t>0</a:t>
            </a:r>
            <a:endParaRPr lang="en-US" sz="1100" dirty="0"/>
          </a:p>
        </p:txBody>
      </p:sp>
      <p:sp>
        <p:nvSpPr>
          <p:cNvPr id="15" name="Text 13"/>
          <p:cNvSpPr txBox="1"/>
          <p:nvPr/>
        </p:nvSpPr>
        <p:spPr>
          <a:xfrm>
            <a:off x="5899709" y="1810512"/>
            <a:ext cx="914400" cy="237744"/>
          </a:xfrm>
          <a:prstGeom prst="rect">
            <a:avLst/>
          </a:prstGeom>
          <a:noFill/>
          <a:ln/>
        </p:spPr>
        <p:txBody>
          <a:bodyPr wrap="square" lIns="0" tIns="0" rIns="0" bIns="0" rtlCol="0" anchor="t"/>
          <a:lstStyle/>
          <a:p>
            <a:pPr algn="ctr" indent="0" marL="0">
              <a:buNone/>
            </a:pPr>
            <a:r>
              <a:rPr lang="en-US" sz="1100" dirty="0">
                <a:solidFill>
                  <a:schemeClr val="accent3"/>
                </a:solidFill>
              </a:rPr>
              <a:t>+0.25</a:t>
            </a:r>
            <a:endParaRPr lang="en-US" sz="1100" dirty="0"/>
          </a:p>
        </p:txBody>
      </p:sp>
      <p:sp>
        <p:nvSpPr>
          <p:cNvPr id="16" name="Text 14"/>
          <p:cNvSpPr txBox="1"/>
          <p:nvPr/>
        </p:nvSpPr>
        <p:spPr>
          <a:xfrm>
            <a:off x="7070141" y="1810512"/>
            <a:ext cx="914400" cy="237744"/>
          </a:xfrm>
          <a:prstGeom prst="rect">
            <a:avLst/>
          </a:prstGeom>
          <a:noFill/>
          <a:ln/>
        </p:spPr>
        <p:txBody>
          <a:bodyPr wrap="square" lIns="0" tIns="0" rIns="0" bIns="0" rtlCol="0" anchor="t"/>
          <a:lstStyle/>
          <a:p>
            <a:pPr algn="ctr" indent="0" marL="0">
              <a:buNone/>
            </a:pPr>
            <a:r>
              <a:rPr lang="en-US" sz="1100" dirty="0">
                <a:solidFill>
                  <a:schemeClr val="accent3"/>
                </a:solidFill>
              </a:rPr>
              <a:t>+0.5 (δ)</a:t>
            </a:r>
            <a:endParaRPr lang="en-US" sz="1100" dirty="0"/>
          </a:p>
        </p:txBody>
      </p:sp>
      <p:sp>
        <p:nvSpPr>
          <p:cNvPr id="17" name="Text 15"/>
          <p:cNvSpPr txBox="1"/>
          <p:nvPr/>
        </p:nvSpPr>
        <p:spPr>
          <a:xfrm>
            <a:off x="8412480" y="1810512"/>
            <a:ext cx="3230575" cy="237744"/>
          </a:xfrm>
          <a:prstGeom prst="rect">
            <a:avLst/>
          </a:prstGeom>
          <a:noFill/>
          <a:ln/>
        </p:spPr>
        <p:txBody>
          <a:bodyPr wrap="square" lIns="0" tIns="0" rIns="0" bIns="0" rtlCol="0" anchor="t"/>
          <a:lstStyle/>
          <a:p>
            <a:pPr indent="0" marL="0">
              <a:buNone/>
            </a:pPr>
            <a:r>
              <a:rPr lang="en-US" sz="1100" dirty="0">
                <a:solidFill>
                  <a:schemeClr val="accent3"/>
                </a:solidFill>
              </a:rPr>
              <a:t>추정 [동시 95% 구간], %p</a:t>
            </a:r>
            <a:endParaRPr lang="en-US" sz="1100" dirty="0"/>
          </a:p>
        </p:txBody>
      </p:sp>
      <p:sp>
        <p:nvSpPr>
          <p:cNvPr id="18" name="Shape 16"/>
          <p:cNvSpPr/>
          <p:nvPr/>
        </p:nvSpPr>
        <p:spPr>
          <a:xfrm>
            <a:off x="5186477" y="2075688"/>
            <a:ext cx="0" cy="3703320"/>
          </a:xfrm>
          <a:prstGeom prst="line">
            <a:avLst/>
          </a:prstGeom>
          <a:noFill/>
          <a:ln w="19050">
            <a:solidFill>
              <a:srgbClr val="AEB8C3"/>
            </a:solidFill>
            <a:prstDash val="solid"/>
          </a:ln>
        </p:spPr>
      </p:sp>
      <p:sp>
        <p:nvSpPr>
          <p:cNvPr id="19" name="Shape 17"/>
          <p:cNvSpPr/>
          <p:nvPr/>
        </p:nvSpPr>
        <p:spPr>
          <a:xfrm>
            <a:off x="7527341" y="2075688"/>
            <a:ext cx="0" cy="3703320"/>
          </a:xfrm>
          <a:prstGeom prst="line">
            <a:avLst/>
          </a:prstGeom>
          <a:noFill/>
          <a:ln w="19050">
            <a:solidFill>
              <a:srgbClr val="15202B"/>
            </a:solidFill>
            <a:prstDash val="dash"/>
          </a:ln>
        </p:spPr>
      </p:sp>
      <p:sp>
        <p:nvSpPr>
          <p:cNvPr id="20" name="Shape 18"/>
          <p:cNvSpPr/>
          <p:nvPr/>
        </p:nvSpPr>
        <p:spPr>
          <a:xfrm>
            <a:off x="548640" y="2121408"/>
            <a:ext cx="11094415" cy="0"/>
          </a:xfrm>
          <a:prstGeom prst="line">
            <a:avLst/>
          </a:prstGeom>
          <a:noFill/>
          <a:ln w="9525">
            <a:solidFill>
              <a:srgbClr val="D5DCE3"/>
            </a:solidFill>
            <a:prstDash val="solid"/>
          </a:ln>
        </p:spPr>
      </p:sp>
      <p:sp>
        <p:nvSpPr>
          <p:cNvPr id="21" name="Text 19"/>
          <p:cNvSpPr txBox="1"/>
          <p:nvPr/>
        </p:nvSpPr>
        <p:spPr>
          <a:xfrm>
            <a:off x="548640" y="2286000"/>
            <a:ext cx="1737360" cy="411480"/>
          </a:xfrm>
          <a:prstGeom prst="rect">
            <a:avLst/>
          </a:prstGeom>
          <a:noFill/>
          <a:ln/>
        </p:spPr>
        <p:txBody>
          <a:bodyPr wrap="square" lIns="0" tIns="0" rIns="0" bIns="0" rtlCol="0" anchor="ctr"/>
          <a:lstStyle/>
          <a:p>
            <a:pPr indent="0" marL="0">
              <a:buNone/>
            </a:pPr>
            <a:r>
              <a:rPr lang="en-US" sz="1500" b="1" dirty="0">
                <a:solidFill>
                  <a:schemeClr val="tx1"/>
                </a:solidFill>
              </a:rPr>
              <a:t>P-G-BGV</a:t>
            </a:r>
            <a:endParaRPr lang="en-US" sz="1500" dirty="0"/>
          </a:p>
        </p:txBody>
      </p:sp>
      <p:sp>
        <p:nvSpPr>
          <p:cNvPr id="22" name="Shape 20"/>
          <p:cNvSpPr/>
          <p:nvPr/>
        </p:nvSpPr>
        <p:spPr>
          <a:xfrm>
            <a:off x="2904202" y="2336292"/>
            <a:ext cx="2830999" cy="64008"/>
          </a:xfrm>
          <a:prstGeom prst="rect">
            <a:avLst/>
          </a:prstGeom>
          <a:solidFill>
            <a:srgbClr val="2F6F7E"/>
          </a:solidFill>
          <a:ln w="6350">
            <a:solidFill>
              <a:srgbClr val="2F6F7E"/>
            </a:solidFill>
            <a:prstDash val="solid"/>
          </a:ln>
        </p:spPr>
      </p:sp>
      <p:sp>
        <p:nvSpPr>
          <p:cNvPr id="23" name="Shape 21"/>
          <p:cNvSpPr/>
          <p:nvPr/>
        </p:nvSpPr>
        <p:spPr>
          <a:xfrm>
            <a:off x="4241978" y="2290572"/>
            <a:ext cx="155448" cy="155448"/>
          </a:xfrm>
          <a:prstGeom prst="ellipse">
            <a:avLst/>
          </a:prstGeom>
          <a:solidFill>
            <a:srgbClr val="2F6F7E"/>
          </a:solidFill>
          <a:ln w="12700">
            <a:solidFill>
              <a:srgbClr val="FFFFFF"/>
            </a:solidFill>
            <a:prstDash val="solid"/>
          </a:ln>
        </p:spPr>
      </p:sp>
      <p:sp>
        <p:nvSpPr>
          <p:cNvPr id="24" name="Text 22"/>
          <p:cNvSpPr txBox="1"/>
          <p:nvPr/>
        </p:nvSpPr>
        <p:spPr>
          <a:xfrm>
            <a:off x="8412480" y="2240280"/>
            <a:ext cx="3230575" cy="256032"/>
          </a:xfrm>
          <a:prstGeom prst="rect">
            <a:avLst/>
          </a:prstGeom>
          <a:noFill/>
          <a:ln/>
        </p:spPr>
        <p:txBody>
          <a:bodyPr wrap="square" lIns="0" tIns="0" rIns="0" bIns="0" rtlCol="0" anchor="ctr"/>
          <a:lstStyle/>
          <a:p>
            <a:pPr indent="0" marL="0">
              <a:buNone/>
            </a:pPr>
            <a:r>
              <a:rPr lang="en-US" sz="1200" dirty="0">
                <a:solidFill>
                  <a:schemeClr val="accent2"/>
                </a:solidFill>
              </a:rPr>
              <a:t>Δ_R −0.185 [−0.487, +0.117]</a:t>
            </a:r>
            <a:endParaRPr lang="en-US" sz="1200" dirty="0"/>
          </a:p>
        </p:txBody>
      </p:sp>
      <p:sp>
        <p:nvSpPr>
          <p:cNvPr id="25" name="Shape 23"/>
          <p:cNvSpPr/>
          <p:nvPr/>
        </p:nvSpPr>
        <p:spPr>
          <a:xfrm>
            <a:off x="3366310" y="2574036"/>
            <a:ext cx="2783083" cy="64008"/>
          </a:xfrm>
          <a:prstGeom prst="rect">
            <a:avLst/>
          </a:prstGeom>
          <a:solidFill>
            <a:srgbClr val="D9731A"/>
          </a:solidFill>
          <a:ln w="6350">
            <a:solidFill>
              <a:srgbClr val="D9731A"/>
            </a:solidFill>
            <a:prstDash val="solid"/>
          </a:ln>
        </p:spPr>
      </p:sp>
      <p:sp>
        <p:nvSpPr>
          <p:cNvPr id="26" name="Shape 24"/>
          <p:cNvSpPr/>
          <p:nvPr/>
        </p:nvSpPr>
        <p:spPr>
          <a:xfrm>
            <a:off x="4680128" y="2528316"/>
            <a:ext cx="155448" cy="155448"/>
          </a:xfrm>
          <a:prstGeom prst="ellipse">
            <a:avLst/>
          </a:prstGeom>
          <a:solidFill>
            <a:srgbClr val="D9731A"/>
          </a:solidFill>
          <a:ln w="12700">
            <a:solidFill>
              <a:srgbClr val="FFFFFF"/>
            </a:solidFill>
            <a:prstDash val="solid"/>
          </a:ln>
        </p:spPr>
      </p:sp>
      <p:sp>
        <p:nvSpPr>
          <p:cNvPr id="27" name="Text 25"/>
          <p:cNvSpPr txBox="1"/>
          <p:nvPr/>
        </p:nvSpPr>
        <p:spPr>
          <a:xfrm>
            <a:off x="8412480" y="2478024"/>
            <a:ext cx="3230575" cy="256032"/>
          </a:xfrm>
          <a:prstGeom prst="rect">
            <a:avLst/>
          </a:prstGeom>
          <a:noFill/>
          <a:ln/>
        </p:spPr>
        <p:txBody>
          <a:bodyPr wrap="square" lIns="0" tIns="0" rIns="0" bIns="0" rtlCol="0" anchor="ctr"/>
          <a:lstStyle/>
          <a:p>
            <a:pPr indent="0" marL="0">
              <a:buNone/>
            </a:pPr>
            <a:r>
              <a:rPr lang="en-US" sz="1200" dirty="0">
                <a:solidFill>
                  <a:schemeClr val="accent6"/>
                </a:solidFill>
              </a:rPr>
              <a:t>Δ_S −0.092 [−0.389, +0.206]</a:t>
            </a:r>
            <a:endParaRPr lang="en-US" sz="1200" dirty="0"/>
          </a:p>
        </p:txBody>
      </p:sp>
      <p:sp>
        <p:nvSpPr>
          <p:cNvPr id="28" name="Shape 26"/>
          <p:cNvSpPr/>
          <p:nvPr/>
        </p:nvSpPr>
        <p:spPr>
          <a:xfrm>
            <a:off x="548640" y="2852928"/>
            <a:ext cx="11094415" cy="0"/>
          </a:xfrm>
          <a:prstGeom prst="line">
            <a:avLst/>
          </a:prstGeom>
          <a:noFill/>
          <a:ln w="9525">
            <a:solidFill>
              <a:srgbClr val="D5DCE3"/>
            </a:solidFill>
            <a:prstDash val="solid"/>
          </a:ln>
        </p:spPr>
      </p:sp>
      <p:sp>
        <p:nvSpPr>
          <p:cNvPr id="29" name="Text 27"/>
          <p:cNvSpPr txBox="1"/>
          <p:nvPr/>
        </p:nvSpPr>
        <p:spPr>
          <a:xfrm>
            <a:off x="548640" y="3017520"/>
            <a:ext cx="1737360" cy="411480"/>
          </a:xfrm>
          <a:prstGeom prst="rect">
            <a:avLst/>
          </a:prstGeom>
          <a:noFill/>
          <a:ln/>
        </p:spPr>
        <p:txBody>
          <a:bodyPr wrap="square" lIns="0" tIns="0" rIns="0" bIns="0" rtlCol="0" anchor="ctr"/>
          <a:lstStyle/>
          <a:p>
            <a:pPr indent="0" marL="0">
              <a:buNone/>
            </a:pPr>
            <a:r>
              <a:rPr lang="en-US" sz="1500" b="1" dirty="0">
                <a:solidFill>
                  <a:schemeClr val="tx1"/>
                </a:solidFill>
              </a:rPr>
              <a:t>P-G-CGGE</a:t>
            </a:r>
            <a:endParaRPr lang="en-US" sz="1500" dirty="0"/>
          </a:p>
        </p:txBody>
      </p:sp>
      <p:sp>
        <p:nvSpPr>
          <p:cNvPr id="30" name="Shape 28"/>
          <p:cNvSpPr/>
          <p:nvPr/>
        </p:nvSpPr>
        <p:spPr>
          <a:xfrm>
            <a:off x="3719997" y="3067812"/>
            <a:ext cx="2894859" cy="64008"/>
          </a:xfrm>
          <a:prstGeom prst="rect">
            <a:avLst/>
          </a:prstGeom>
          <a:solidFill>
            <a:srgbClr val="2F6F7E"/>
          </a:solidFill>
          <a:ln w="6350">
            <a:solidFill>
              <a:srgbClr val="2F6F7E"/>
            </a:solidFill>
            <a:prstDash val="solid"/>
          </a:ln>
        </p:spPr>
      </p:sp>
      <p:sp>
        <p:nvSpPr>
          <p:cNvPr id="31" name="Shape 29"/>
          <p:cNvSpPr/>
          <p:nvPr/>
        </p:nvSpPr>
        <p:spPr>
          <a:xfrm>
            <a:off x="5089703" y="3022092"/>
            <a:ext cx="155448" cy="155448"/>
          </a:xfrm>
          <a:prstGeom prst="ellipse">
            <a:avLst/>
          </a:prstGeom>
          <a:solidFill>
            <a:srgbClr val="2F6F7E"/>
          </a:solidFill>
          <a:ln w="12700">
            <a:solidFill>
              <a:srgbClr val="FFFFFF"/>
            </a:solidFill>
            <a:prstDash val="solid"/>
          </a:ln>
        </p:spPr>
      </p:sp>
      <p:sp>
        <p:nvSpPr>
          <p:cNvPr id="32" name="Text 30"/>
          <p:cNvSpPr txBox="1"/>
          <p:nvPr/>
        </p:nvSpPr>
        <p:spPr>
          <a:xfrm>
            <a:off x="8412480" y="2971800"/>
            <a:ext cx="3230575" cy="256032"/>
          </a:xfrm>
          <a:prstGeom prst="rect">
            <a:avLst/>
          </a:prstGeom>
          <a:noFill/>
          <a:ln/>
        </p:spPr>
        <p:txBody>
          <a:bodyPr wrap="square" lIns="0" tIns="0" rIns="0" bIns="0" rtlCol="0" anchor="ctr"/>
          <a:lstStyle/>
          <a:p>
            <a:pPr indent="0" marL="0">
              <a:buNone/>
            </a:pPr>
            <a:r>
              <a:rPr lang="en-US" sz="1200" dirty="0">
                <a:solidFill>
                  <a:schemeClr val="accent2"/>
                </a:solidFill>
              </a:rPr>
              <a:t>Δ_R −0.004 [−0.313, +0.305]</a:t>
            </a:r>
            <a:endParaRPr lang="en-US" sz="1200" dirty="0"/>
          </a:p>
        </p:txBody>
      </p:sp>
      <p:sp>
        <p:nvSpPr>
          <p:cNvPr id="33" name="Shape 31"/>
          <p:cNvSpPr/>
          <p:nvPr/>
        </p:nvSpPr>
        <p:spPr>
          <a:xfrm>
            <a:off x="4036696" y="3305556"/>
            <a:ext cx="2852011" cy="64008"/>
          </a:xfrm>
          <a:prstGeom prst="rect">
            <a:avLst/>
          </a:prstGeom>
          <a:solidFill>
            <a:srgbClr val="D9731A"/>
          </a:solidFill>
          <a:ln w="6350">
            <a:solidFill>
              <a:srgbClr val="D9731A"/>
            </a:solidFill>
            <a:prstDash val="solid"/>
          </a:ln>
        </p:spPr>
      </p:sp>
      <p:sp>
        <p:nvSpPr>
          <p:cNvPr id="34" name="Shape 32"/>
          <p:cNvSpPr/>
          <p:nvPr/>
        </p:nvSpPr>
        <p:spPr>
          <a:xfrm>
            <a:off x="5384978" y="3259836"/>
            <a:ext cx="155448" cy="155448"/>
          </a:xfrm>
          <a:prstGeom prst="ellipse">
            <a:avLst/>
          </a:prstGeom>
          <a:solidFill>
            <a:srgbClr val="D9731A"/>
          </a:solidFill>
          <a:ln w="12700">
            <a:solidFill>
              <a:srgbClr val="FFFFFF"/>
            </a:solidFill>
            <a:prstDash val="solid"/>
          </a:ln>
        </p:spPr>
      </p:sp>
      <p:sp>
        <p:nvSpPr>
          <p:cNvPr id="35" name="Text 33"/>
          <p:cNvSpPr txBox="1"/>
          <p:nvPr/>
        </p:nvSpPr>
        <p:spPr>
          <a:xfrm>
            <a:off x="8412480" y="3209544"/>
            <a:ext cx="3230575" cy="256032"/>
          </a:xfrm>
          <a:prstGeom prst="rect">
            <a:avLst/>
          </a:prstGeom>
          <a:noFill/>
          <a:ln/>
        </p:spPr>
        <p:txBody>
          <a:bodyPr wrap="square" lIns="0" tIns="0" rIns="0" bIns="0" rtlCol="0" anchor="ctr"/>
          <a:lstStyle/>
          <a:p>
            <a:pPr indent="0" marL="0">
              <a:buNone/>
            </a:pPr>
            <a:r>
              <a:rPr lang="en-US" sz="1200" dirty="0">
                <a:solidFill>
                  <a:schemeClr val="accent6"/>
                </a:solidFill>
              </a:rPr>
              <a:t>Δ_S +0.059 [−0.246, +0.364]</a:t>
            </a:r>
            <a:endParaRPr lang="en-US" sz="1200" dirty="0"/>
          </a:p>
        </p:txBody>
      </p:sp>
      <p:sp>
        <p:nvSpPr>
          <p:cNvPr id="36" name="Shape 34"/>
          <p:cNvSpPr/>
          <p:nvPr/>
        </p:nvSpPr>
        <p:spPr>
          <a:xfrm>
            <a:off x="548640" y="3584448"/>
            <a:ext cx="11094415" cy="0"/>
          </a:xfrm>
          <a:prstGeom prst="line">
            <a:avLst/>
          </a:prstGeom>
          <a:noFill/>
          <a:ln w="9525">
            <a:solidFill>
              <a:srgbClr val="D5DCE3"/>
            </a:solidFill>
            <a:prstDash val="solid"/>
          </a:ln>
        </p:spPr>
      </p:sp>
      <p:sp>
        <p:nvSpPr>
          <p:cNvPr id="37" name="Text 35"/>
          <p:cNvSpPr txBox="1"/>
          <p:nvPr/>
        </p:nvSpPr>
        <p:spPr>
          <a:xfrm>
            <a:off x="548640" y="3749040"/>
            <a:ext cx="1737360" cy="411480"/>
          </a:xfrm>
          <a:prstGeom prst="rect">
            <a:avLst/>
          </a:prstGeom>
          <a:noFill/>
          <a:ln/>
        </p:spPr>
        <p:txBody>
          <a:bodyPr wrap="square" lIns="0" tIns="0" rIns="0" bIns="0" rtlCol="0" anchor="ctr"/>
          <a:lstStyle/>
          <a:p>
            <a:pPr indent="0" marL="0">
              <a:buNone/>
            </a:pPr>
            <a:r>
              <a:rPr lang="en-US" sz="1500" b="1" dirty="0">
                <a:solidFill>
                  <a:schemeClr val="tx1"/>
                </a:solidFill>
              </a:rPr>
              <a:t>P-DISC</a:t>
            </a:r>
            <a:endParaRPr lang="en-US" sz="1500" dirty="0"/>
          </a:p>
        </p:txBody>
      </p:sp>
      <p:sp>
        <p:nvSpPr>
          <p:cNvPr id="38" name="Shape 36"/>
          <p:cNvSpPr/>
          <p:nvPr/>
        </p:nvSpPr>
        <p:spPr>
          <a:xfrm>
            <a:off x="4005163" y="3799332"/>
            <a:ext cx="2896028" cy="64008"/>
          </a:xfrm>
          <a:prstGeom prst="rect">
            <a:avLst/>
          </a:prstGeom>
          <a:solidFill>
            <a:srgbClr val="2F6F7E"/>
          </a:solidFill>
          <a:ln w="6350">
            <a:solidFill>
              <a:srgbClr val="2F6F7E"/>
            </a:solidFill>
            <a:prstDash val="solid"/>
          </a:ln>
        </p:spPr>
      </p:sp>
      <p:sp>
        <p:nvSpPr>
          <p:cNvPr id="39" name="Shape 37"/>
          <p:cNvSpPr/>
          <p:nvPr/>
        </p:nvSpPr>
        <p:spPr>
          <a:xfrm>
            <a:off x="5375453" y="3753612"/>
            <a:ext cx="155448" cy="155448"/>
          </a:xfrm>
          <a:prstGeom prst="ellipse">
            <a:avLst/>
          </a:prstGeom>
          <a:solidFill>
            <a:srgbClr val="2F6F7E"/>
          </a:solidFill>
          <a:ln w="12700">
            <a:solidFill>
              <a:srgbClr val="FFFFFF"/>
            </a:solidFill>
            <a:prstDash val="solid"/>
          </a:ln>
        </p:spPr>
      </p:sp>
      <p:sp>
        <p:nvSpPr>
          <p:cNvPr id="40" name="Text 38"/>
          <p:cNvSpPr txBox="1"/>
          <p:nvPr/>
        </p:nvSpPr>
        <p:spPr>
          <a:xfrm>
            <a:off x="8412480" y="3703320"/>
            <a:ext cx="3230575" cy="256032"/>
          </a:xfrm>
          <a:prstGeom prst="rect">
            <a:avLst/>
          </a:prstGeom>
          <a:noFill/>
          <a:ln/>
        </p:spPr>
        <p:txBody>
          <a:bodyPr wrap="square" lIns="0" tIns="0" rIns="0" bIns="0" rtlCol="0" anchor="ctr"/>
          <a:lstStyle/>
          <a:p>
            <a:pPr indent="0" marL="0">
              <a:buNone/>
            </a:pPr>
            <a:r>
              <a:rPr lang="en-US" sz="1200" dirty="0">
                <a:solidFill>
                  <a:schemeClr val="accent2"/>
                </a:solidFill>
              </a:rPr>
              <a:t>Δ_R +0.057 [−0.252, +0.366]</a:t>
            </a:r>
            <a:endParaRPr lang="en-US" sz="1200" dirty="0"/>
          </a:p>
        </p:txBody>
      </p:sp>
      <p:sp>
        <p:nvSpPr>
          <p:cNvPr id="41" name="Shape 39"/>
          <p:cNvSpPr/>
          <p:nvPr/>
        </p:nvSpPr>
        <p:spPr>
          <a:xfrm>
            <a:off x="4065315" y="4037076"/>
            <a:ext cx="2890025" cy="64008"/>
          </a:xfrm>
          <a:prstGeom prst="rect">
            <a:avLst/>
          </a:prstGeom>
          <a:solidFill>
            <a:srgbClr val="D9731A"/>
          </a:solidFill>
          <a:ln w="6350">
            <a:solidFill>
              <a:srgbClr val="D9731A"/>
            </a:solidFill>
            <a:prstDash val="solid"/>
          </a:ln>
        </p:spPr>
      </p:sp>
      <p:sp>
        <p:nvSpPr>
          <p:cNvPr id="42" name="Shape 40"/>
          <p:cNvSpPr/>
          <p:nvPr/>
        </p:nvSpPr>
        <p:spPr>
          <a:xfrm>
            <a:off x="5432603" y="3991356"/>
            <a:ext cx="155448" cy="155448"/>
          </a:xfrm>
          <a:prstGeom prst="ellipse">
            <a:avLst/>
          </a:prstGeom>
          <a:solidFill>
            <a:srgbClr val="D9731A"/>
          </a:solidFill>
          <a:ln w="12700">
            <a:solidFill>
              <a:srgbClr val="FFFFFF"/>
            </a:solidFill>
            <a:prstDash val="solid"/>
          </a:ln>
        </p:spPr>
      </p:sp>
      <p:sp>
        <p:nvSpPr>
          <p:cNvPr id="43" name="Text 41"/>
          <p:cNvSpPr txBox="1"/>
          <p:nvPr/>
        </p:nvSpPr>
        <p:spPr>
          <a:xfrm>
            <a:off x="8412480" y="3941064"/>
            <a:ext cx="3230575" cy="256032"/>
          </a:xfrm>
          <a:prstGeom prst="rect">
            <a:avLst/>
          </a:prstGeom>
          <a:noFill/>
          <a:ln/>
        </p:spPr>
        <p:txBody>
          <a:bodyPr wrap="square" lIns="0" tIns="0" rIns="0" bIns="0" rtlCol="0" anchor="ctr"/>
          <a:lstStyle/>
          <a:p>
            <a:pPr indent="0" marL="0">
              <a:buNone/>
            </a:pPr>
            <a:r>
              <a:rPr lang="en-US" sz="1200" dirty="0">
                <a:solidFill>
                  <a:schemeClr val="accent6"/>
                </a:solidFill>
              </a:rPr>
              <a:t>Δ_S +0.069 [−0.239, +0.378]</a:t>
            </a:r>
            <a:endParaRPr lang="en-US" sz="1200" dirty="0"/>
          </a:p>
        </p:txBody>
      </p:sp>
      <p:sp>
        <p:nvSpPr>
          <p:cNvPr id="44" name="Shape 42"/>
          <p:cNvSpPr/>
          <p:nvPr/>
        </p:nvSpPr>
        <p:spPr>
          <a:xfrm>
            <a:off x="548640" y="4315968"/>
            <a:ext cx="11094415" cy="0"/>
          </a:xfrm>
          <a:prstGeom prst="line">
            <a:avLst/>
          </a:prstGeom>
          <a:noFill/>
          <a:ln w="9525">
            <a:solidFill>
              <a:srgbClr val="D5DCE3"/>
            </a:solidFill>
            <a:prstDash val="solid"/>
          </a:ln>
        </p:spPr>
      </p:sp>
      <p:sp>
        <p:nvSpPr>
          <p:cNvPr id="45" name="Text 43"/>
          <p:cNvSpPr txBox="1"/>
          <p:nvPr/>
        </p:nvSpPr>
        <p:spPr>
          <a:xfrm>
            <a:off x="548640" y="4480560"/>
            <a:ext cx="1737360" cy="411480"/>
          </a:xfrm>
          <a:prstGeom prst="rect">
            <a:avLst/>
          </a:prstGeom>
          <a:noFill/>
          <a:ln/>
        </p:spPr>
        <p:txBody>
          <a:bodyPr wrap="square" lIns="0" tIns="0" rIns="0" bIns="0" rtlCol="0" anchor="ctr"/>
          <a:lstStyle/>
          <a:p>
            <a:pPr indent="0" marL="0">
              <a:buNone/>
            </a:pPr>
            <a:r>
              <a:rPr lang="en-US" sz="1500" b="1" dirty="0">
                <a:solidFill>
                  <a:schemeClr val="tx1"/>
                </a:solidFill>
              </a:rPr>
              <a:t>R-G-BGV</a:t>
            </a:r>
            <a:endParaRPr lang="en-US" sz="1500" dirty="0"/>
          </a:p>
        </p:txBody>
      </p:sp>
      <p:sp>
        <p:nvSpPr>
          <p:cNvPr id="46" name="Shape 44"/>
          <p:cNvSpPr/>
          <p:nvPr/>
        </p:nvSpPr>
        <p:spPr>
          <a:xfrm>
            <a:off x="3581920" y="4530852"/>
            <a:ext cx="2847164" cy="64008"/>
          </a:xfrm>
          <a:prstGeom prst="rect">
            <a:avLst/>
          </a:prstGeom>
          <a:solidFill>
            <a:srgbClr val="2F6F7E"/>
          </a:solidFill>
          <a:ln w="6350">
            <a:solidFill>
              <a:srgbClr val="2F6F7E"/>
            </a:solidFill>
            <a:prstDash val="solid"/>
          </a:ln>
        </p:spPr>
      </p:sp>
      <p:sp>
        <p:nvSpPr>
          <p:cNvPr id="47" name="Shape 45"/>
          <p:cNvSpPr/>
          <p:nvPr/>
        </p:nvSpPr>
        <p:spPr>
          <a:xfrm>
            <a:off x="4927778" y="4485132"/>
            <a:ext cx="155448" cy="155448"/>
          </a:xfrm>
          <a:prstGeom prst="ellipse">
            <a:avLst/>
          </a:prstGeom>
          <a:solidFill>
            <a:srgbClr val="2F6F7E"/>
          </a:solidFill>
          <a:ln w="12700">
            <a:solidFill>
              <a:srgbClr val="FFFFFF"/>
            </a:solidFill>
            <a:prstDash val="solid"/>
          </a:ln>
        </p:spPr>
      </p:sp>
      <p:sp>
        <p:nvSpPr>
          <p:cNvPr id="48" name="Text 46"/>
          <p:cNvSpPr txBox="1"/>
          <p:nvPr/>
        </p:nvSpPr>
        <p:spPr>
          <a:xfrm>
            <a:off x="8412480" y="4434840"/>
            <a:ext cx="3230575" cy="256032"/>
          </a:xfrm>
          <a:prstGeom prst="rect">
            <a:avLst/>
          </a:prstGeom>
          <a:noFill/>
          <a:ln/>
        </p:spPr>
        <p:txBody>
          <a:bodyPr wrap="square" lIns="0" tIns="0" rIns="0" bIns="0" rtlCol="0" anchor="ctr"/>
          <a:lstStyle/>
          <a:p>
            <a:pPr indent="0" marL="0">
              <a:buNone/>
            </a:pPr>
            <a:r>
              <a:rPr lang="en-US" sz="1200" dirty="0">
                <a:solidFill>
                  <a:schemeClr val="accent2"/>
                </a:solidFill>
              </a:rPr>
              <a:t>Δ_R −0.039 [−0.343, +0.265]</a:t>
            </a:r>
            <a:endParaRPr lang="en-US" sz="1200" dirty="0"/>
          </a:p>
        </p:txBody>
      </p:sp>
      <p:sp>
        <p:nvSpPr>
          <p:cNvPr id="49" name="Shape 47"/>
          <p:cNvSpPr/>
          <p:nvPr/>
        </p:nvSpPr>
        <p:spPr>
          <a:xfrm>
            <a:off x="3663083" y="4768596"/>
            <a:ext cx="2856288" cy="64008"/>
          </a:xfrm>
          <a:prstGeom prst="rect">
            <a:avLst/>
          </a:prstGeom>
          <a:solidFill>
            <a:srgbClr val="D9731A"/>
          </a:solidFill>
          <a:ln w="6350">
            <a:solidFill>
              <a:srgbClr val="D9731A"/>
            </a:solidFill>
            <a:prstDash val="solid"/>
          </a:ln>
        </p:spPr>
      </p:sp>
      <p:sp>
        <p:nvSpPr>
          <p:cNvPr id="50" name="Shape 48"/>
          <p:cNvSpPr/>
          <p:nvPr/>
        </p:nvSpPr>
        <p:spPr>
          <a:xfrm>
            <a:off x="5013503" y="4722876"/>
            <a:ext cx="155448" cy="155448"/>
          </a:xfrm>
          <a:prstGeom prst="ellipse">
            <a:avLst/>
          </a:prstGeom>
          <a:solidFill>
            <a:srgbClr val="D9731A"/>
          </a:solidFill>
          <a:ln w="12700">
            <a:solidFill>
              <a:srgbClr val="FFFFFF"/>
            </a:solidFill>
            <a:prstDash val="solid"/>
          </a:ln>
        </p:spPr>
      </p:sp>
      <p:sp>
        <p:nvSpPr>
          <p:cNvPr id="51" name="Text 49"/>
          <p:cNvSpPr txBox="1"/>
          <p:nvPr/>
        </p:nvSpPr>
        <p:spPr>
          <a:xfrm>
            <a:off x="8412480" y="4672584"/>
            <a:ext cx="3230575" cy="256032"/>
          </a:xfrm>
          <a:prstGeom prst="rect">
            <a:avLst/>
          </a:prstGeom>
          <a:noFill/>
          <a:ln/>
        </p:spPr>
        <p:txBody>
          <a:bodyPr wrap="square" lIns="0" tIns="0" rIns="0" bIns="0" rtlCol="0" anchor="ctr"/>
          <a:lstStyle/>
          <a:p>
            <a:pPr indent="0" marL="0">
              <a:buNone/>
            </a:pPr>
            <a:r>
              <a:rPr lang="en-US" sz="1200" dirty="0">
                <a:solidFill>
                  <a:schemeClr val="accent6"/>
                </a:solidFill>
              </a:rPr>
              <a:t>Δ_S −0.020 [−0.325, +0.285]</a:t>
            </a:r>
            <a:endParaRPr lang="en-US" sz="1200" dirty="0"/>
          </a:p>
        </p:txBody>
      </p:sp>
      <p:sp>
        <p:nvSpPr>
          <p:cNvPr id="52" name="Shape 50"/>
          <p:cNvSpPr/>
          <p:nvPr/>
        </p:nvSpPr>
        <p:spPr>
          <a:xfrm>
            <a:off x="548640" y="5047488"/>
            <a:ext cx="11094415" cy="0"/>
          </a:xfrm>
          <a:prstGeom prst="line">
            <a:avLst/>
          </a:prstGeom>
          <a:noFill/>
          <a:ln w="9525">
            <a:solidFill>
              <a:srgbClr val="D5DCE3"/>
            </a:solidFill>
            <a:prstDash val="solid"/>
          </a:ln>
        </p:spPr>
      </p:sp>
      <p:sp>
        <p:nvSpPr>
          <p:cNvPr id="53" name="Text 51"/>
          <p:cNvSpPr txBox="1"/>
          <p:nvPr/>
        </p:nvSpPr>
        <p:spPr>
          <a:xfrm>
            <a:off x="548640" y="5212080"/>
            <a:ext cx="1737360" cy="411480"/>
          </a:xfrm>
          <a:prstGeom prst="rect">
            <a:avLst/>
          </a:prstGeom>
          <a:noFill/>
          <a:ln/>
        </p:spPr>
        <p:txBody>
          <a:bodyPr wrap="square" lIns="0" tIns="0" rIns="0" bIns="0" rtlCol="0" anchor="ctr"/>
          <a:lstStyle/>
          <a:p>
            <a:pPr indent="0" marL="0">
              <a:buNone/>
            </a:pPr>
            <a:r>
              <a:rPr lang="en-US" sz="1500" b="1" dirty="0">
                <a:solidFill>
                  <a:schemeClr val="tx1"/>
                </a:solidFill>
              </a:rPr>
              <a:t>R-DISC</a:t>
            </a:r>
            <a:endParaRPr lang="en-US" sz="1500" dirty="0"/>
          </a:p>
        </p:txBody>
      </p:sp>
      <p:sp>
        <p:nvSpPr>
          <p:cNvPr id="54" name="Shape 52"/>
          <p:cNvSpPr/>
          <p:nvPr/>
        </p:nvSpPr>
        <p:spPr>
          <a:xfrm>
            <a:off x="3602796" y="5262372"/>
            <a:ext cx="2843512" cy="64008"/>
          </a:xfrm>
          <a:prstGeom prst="rect">
            <a:avLst/>
          </a:prstGeom>
          <a:solidFill>
            <a:srgbClr val="2F6F7E"/>
          </a:solidFill>
          <a:ln w="6350">
            <a:solidFill>
              <a:srgbClr val="2F6F7E"/>
            </a:solidFill>
            <a:prstDash val="solid"/>
          </a:ln>
        </p:spPr>
      </p:sp>
      <p:sp>
        <p:nvSpPr>
          <p:cNvPr id="55" name="Shape 53"/>
          <p:cNvSpPr/>
          <p:nvPr/>
        </p:nvSpPr>
        <p:spPr>
          <a:xfrm>
            <a:off x="4946828" y="5216652"/>
            <a:ext cx="155448" cy="155448"/>
          </a:xfrm>
          <a:prstGeom prst="ellipse">
            <a:avLst/>
          </a:prstGeom>
          <a:solidFill>
            <a:srgbClr val="2F6F7E"/>
          </a:solidFill>
          <a:ln w="12700">
            <a:solidFill>
              <a:srgbClr val="FFFFFF"/>
            </a:solidFill>
            <a:prstDash val="solid"/>
          </a:ln>
        </p:spPr>
      </p:sp>
      <p:sp>
        <p:nvSpPr>
          <p:cNvPr id="56" name="Text 54"/>
          <p:cNvSpPr txBox="1"/>
          <p:nvPr/>
        </p:nvSpPr>
        <p:spPr>
          <a:xfrm>
            <a:off x="8412480" y="5166360"/>
            <a:ext cx="3230575" cy="256032"/>
          </a:xfrm>
          <a:prstGeom prst="rect">
            <a:avLst/>
          </a:prstGeom>
          <a:noFill/>
          <a:ln/>
        </p:spPr>
        <p:txBody>
          <a:bodyPr wrap="square" lIns="0" tIns="0" rIns="0" bIns="0" rtlCol="0" anchor="ctr"/>
          <a:lstStyle/>
          <a:p>
            <a:pPr indent="0" marL="0">
              <a:buNone/>
            </a:pPr>
            <a:r>
              <a:rPr lang="en-US" sz="1200" dirty="0">
                <a:solidFill>
                  <a:schemeClr val="accent2"/>
                </a:solidFill>
              </a:rPr>
              <a:t>Δ_R −0.035 [−0.338, +0.269]</a:t>
            </a:r>
            <a:endParaRPr lang="en-US" sz="1200" dirty="0"/>
          </a:p>
        </p:txBody>
      </p:sp>
      <p:sp>
        <p:nvSpPr>
          <p:cNvPr id="57" name="Shape 55"/>
          <p:cNvSpPr/>
          <p:nvPr/>
        </p:nvSpPr>
        <p:spPr>
          <a:xfrm>
            <a:off x="3760152" y="5500116"/>
            <a:ext cx="2852649" cy="64008"/>
          </a:xfrm>
          <a:prstGeom prst="rect">
            <a:avLst/>
          </a:prstGeom>
          <a:solidFill>
            <a:srgbClr val="D9731A"/>
          </a:solidFill>
          <a:ln w="6350">
            <a:solidFill>
              <a:srgbClr val="D9731A"/>
            </a:solidFill>
            <a:prstDash val="solid"/>
          </a:ln>
        </p:spPr>
      </p:sp>
      <p:sp>
        <p:nvSpPr>
          <p:cNvPr id="58" name="Shape 56"/>
          <p:cNvSpPr/>
          <p:nvPr/>
        </p:nvSpPr>
        <p:spPr>
          <a:xfrm>
            <a:off x="5108753" y="5454396"/>
            <a:ext cx="155448" cy="155448"/>
          </a:xfrm>
          <a:prstGeom prst="ellipse">
            <a:avLst/>
          </a:prstGeom>
          <a:solidFill>
            <a:srgbClr val="D9731A"/>
          </a:solidFill>
          <a:ln w="12700">
            <a:solidFill>
              <a:srgbClr val="FFFFFF"/>
            </a:solidFill>
            <a:prstDash val="solid"/>
          </a:ln>
        </p:spPr>
      </p:sp>
      <p:sp>
        <p:nvSpPr>
          <p:cNvPr id="59" name="Text 57"/>
          <p:cNvSpPr txBox="1"/>
          <p:nvPr/>
        </p:nvSpPr>
        <p:spPr>
          <a:xfrm>
            <a:off x="8412480" y="5404104"/>
            <a:ext cx="3230575" cy="256032"/>
          </a:xfrm>
          <a:prstGeom prst="rect">
            <a:avLst/>
          </a:prstGeom>
          <a:noFill/>
          <a:ln/>
        </p:spPr>
        <p:txBody>
          <a:bodyPr wrap="square" lIns="0" tIns="0" rIns="0" bIns="0" rtlCol="0" anchor="ctr"/>
          <a:lstStyle/>
          <a:p>
            <a:pPr indent="0" marL="0">
              <a:buNone/>
            </a:pPr>
            <a:r>
              <a:rPr lang="en-US" sz="1200" dirty="0">
                <a:solidFill>
                  <a:schemeClr val="accent6"/>
                </a:solidFill>
              </a:rPr>
              <a:t>Δ_S 0.000 [−0.305, +0.305]</a:t>
            </a:r>
            <a:endParaRPr lang="en-US" sz="1200" dirty="0"/>
          </a:p>
        </p:txBody>
      </p:sp>
      <p:sp>
        <p:nvSpPr>
          <p:cNvPr id="60" name="Shape 58"/>
          <p:cNvSpPr/>
          <p:nvPr/>
        </p:nvSpPr>
        <p:spPr>
          <a:xfrm>
            <a:off x="548640" y="5779008"/>
            <a:ext cx="11094415" cy="0"/>
          </a:xfrm>
          <a:prstGeom prst="line">
            <a:avLst/>
          </a:prstGeom>
          <a:noFill/>
          <a:ln w="9525">
            <a:solidFill>
              <a:srgbClr val="D5DCE3"/>
            </a:solidFill>
            <a:prstDash val="solid"/>
          </a:ln>
        </p:spPr>
      </p:sp>
      <p:sp>
        <p:nvSpPr>
          <p:cNvPr id="61" name="Text 59"/>
          <p:cNvSpPr txBox="1"/>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chemeClr val="accent3"/>
                </a:solidFill>
              </a:rPr>
              <a:t>Success@100 차이. look 2: 16,384 trials × seed 3개. 3 look × 5 파이프라인 × 2 대조의 동시 95% 구간</a:t>
            </a:r>
            <a:endParaRPr lang="en-US" sz="1100" dirty="0"/>
          </a:p>
        </p:txBody>
      </p:sp>
      <p:sp>
        <p:nvSpPr>
          <p:cNvPr id="62"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C3 원자료</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모든 방법이 이론값 2.412% 근처에 머물렀다</a:t>
            </a:r>
            <a:endParaRPr lang="en-US" sz="3000" dirty="0"/>
          </a:p>
        </p:txBody>
      </p:sp>
      <p:graphicFrame>
        <p:nvGraphicFramePr>
          <p:cNvPr id="4" name="Chart 0" descr=""/>
          <p:cNvGraphicFramePr/>
          <p:nvPr/>
        </p:nvGraphicFramePr>
        <p:xfrm>
          <a:off x="548640" y="1463040"/>
          <a:ext cx="7406640" cy="4709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508760"/>
            <a:ext cx="3413455" cy="1463040"/>
          </a:xfrm>
          <a:prstGeom prst="roundRect">
            <a:avLst>
              <a:gd name="adj" fmla="val 5000"/>
            </a:avLst>
          </a:prstGeom>
          <a:solidFill>
            <a:schemeClr val="bg2"/>
          </a:solidFill>
          <a:ln w="9525">
            <a:solidFill>
              <a:schemeClr val="bg2"/>
            </a:solidFill>
            <a:prstDash val="solid"/>
          </a:ln>
        </p:spPr>
      </p:sp>
      <p:sp>
        <p:nvSpPr>
          <p:cNvPr id="6" name="Text 3"/>
          <p:cNvSpPr txBox="1"/>
          <p:nvPr/>
        </p:nvSpPr>
        <p:spPr>
          <a:xfrm>
            <a:off x="8503920" y="1737360"/>
            <a:ext cx="2864815" cy="548640"/>
          </a:xfrm>
          <a:prstGeom prst="rect">
            <a:avLst/>
          </a:prstGeom>
          <a:noFill/>
          <a:ln/>
        </p:spPr>
        <p:txBody>
          <a:bodyPr wrap="square" lIns="0" tIns="0" rIns="0" bIns="0" rtlCol="0" anchor="ctr"/>
          <a:lstStyle/>
          <a:p>
            <a:pPr indent="0" marL="0">
              <a:buNone/>
            </a:pPr>
            <a:r>
              <a:rPr lang="en-US" sz="2800" b="1" dirty="0">
                <a:solidFill>
                  <a:schemeClr val="accent6"/>
                </a:solidFill>
              </a:rPr>
              <a:t>0.93–1.02배</a:t>
            </a:r>
            <a:endParaRPr lang="en-US" sz="2800" dirty="0"/>
          </a:p>
        </p:txBody>
      </p:sp>
      <p:sp>
        <p:nvSpPr>
          <p:cNvPr id="7" name="Text 4"/>
          <p:cNvSpPr txBox="1"/>
          <p:nvPr/>
        </p:nvSpPr>
        <p:spPr>
          <a:xfrm>
            <a:off x="8503920" y="2377440"/>
            <a:ext cx="2864815" cy="365760"/>
          </a:xfrm>
          <a:prstGeom prst="rect">
            <a:avLst/>
          </a:prstGeom>
          <a:noFill/>
          <a:ln/>
        </p:spPr>
        <p:txBody>
          <a:bodyPr wrap="square" lIns="0" tIns="0" rIns="0" bIns="0" rtlCol="0" anchor="t"/>
          <a:lstStyle/>
          <a:p>
            <a:pPr indent="0" marL="0">
              <a:buNone/>
            </a:pPr>
            <a:r>
              <a:rPr lang="en-US" sz="1300" dirty="0">
                <a:solidFill>
                  <a:schemeClr val="accent3"/>
                </a:solidFill>
              </a:rPr>
              <a:t>Main / Random 비율</a:t>
            </a:r>
            <a:endParaRPr lang="en-US" sz="1300" dirty="0"/>
          </a:p>
        </p:txBody>
      </p:sp>
      <p:sp>
        <p:nvSpPr>
          <p:cNvPr id="8" name="Shape 5"/>
          <p:cNvSpPr/>
          <p:nvPr/>
        </p:nvSpPr>
        <p:spPr>
          <a:xfrm>
            <a:off x="8229600" y="3108960"/>
            <a:ext cx="3413455" cy="1463040"/>
          </a:xfrm>
          <a:prstGeom prst="roundRect">
            <a:avLst>
              <a:gd name="adj" fmla="val 5000"/>
            </a:avLst>
          </a:prstGeom>
          <a:solidFill>
            <a:schemeClr val="bg2"/>
          </a:solidFill>
          <a:ln w="9525">
            <a:solidFill>
              <a:schemeClr val="bg2"/>
            </a:solidFill>
            <a:prstDash val="solid"/>
          </a:ln>
        </p:spPr>
      </p:sp>
      <p:sp>
        <p:nvSpPr>
          <p:cNvPr id="9" name="Text 6"/>
          <p:cNvSpPr txBox="1"/>
          <p:nvPr/>
        </p:nvSpPr>
        <p:spPr>
          <a:xfrm>
            <a:off x="8503920" y="3337560"/>
            <a:ext cx="2864815" cy="548640"/>
          </a:xfrm>
          <a:prstGeom prst="rect">
            <a:avLst/>
          </a:prstGeom>
          <a:noFill/>
          <a:ln/>
        </p:spPr>
        <p:txBody>
          <a:bodyPr wrap="square" lIns="0" tIns="0" rIns="0" bIns="0" rtlCol="0" anchor="ctr"/>
          <a:lstStyle/>
          <a:p>
            <a:pPr indent="0" marL="0">
              <a:buNone/>
            </a:pPr>
            <a:r>
              <a:rPr lang="en-US" sz="2800" b="1" dirty="0">
                <a:solidFill>
                  <a:schemeClr val="accent6"/>
                </a:solidFill>
              </a:rPr>
              <a:t>5,898만 개</a:t>
            </a:r>
            <a:endParaRPr lang="en-US" sz="2800" dirty="0"/>
          </a:p>
        </p:txBody>
      </p:sp>
      <p:sp>
        <p:nvSpPr>
          <p:cNvPr id="10" name="Text 7"/>
          <p:cNvSpPr txBox="1"/>
          <p:nvPr/>
        </p:nvSpPr>
        <p:spPr>
          <a:xfrm>
            <a:off x="8503920" y="3977640"/>
            <a:ext cx="2864815" cy="365760"/>
          </a:xfrm>
          <a:prstGeom prst="rect">
            <a:avLst/>
          </a:prstGeom>
          <a:noFill/>
          <a:ln/>
        </p:spPr>
        <p:txBody>
          <a:bodyPr wrap="square" lIns="0" tIns="0" rIns="0" bIns="0" rtlCol="0" anchor="t"/>
          <a:lstStyle/>
          <a:p>
            <a:pPr indent="0" marL="0">
              <a:buNone/>
            </a:pPr>
            <a:r>
              <a:rPr lang="en-US" sz="1300" dirty="0">
                <a:solidFill>
                  <a:schemeClr val="accent3"/>
                </a:solidFill>
              </a:rPr>
              <a:t>look 2까지 생성하고 다시 해시한 후보</a:t>
            </a:r>
            <a:endParaRPr lang="en-US" sz="1300" dirty="0"/>
          </a:p>
        </p:txBody>
      </p:sp>
      <p:sp>
        <p:nvSpPr>
          <p:cNvPr id="11" name="Shape 8"/>
          <p:cNvSpPr/>
          <p:nvPr/>
        </p:nvSpPr>
        <p:spPr>
          <a:xfrm>
            <a:off x="8229600" y="4709160"/>
            <a:ext cx="3413455" cy="1463040"/>
          </a:xfrm>
          <a:prstGeom prst="roundRect">
            <a:avLst>
              <a:gd name="adj" fmla="val 5000"/>
            </a:avLst>
          </a:prstGeom>
          <a:solidFill>
            <a:schemeClr val="bg2"/>
          </a:solidFill>
          <a:ln w="9525">
            <a:solidFill>
              <a:schemeClr val="bg2"/>
            </a:solidFill>
            <a:prstDash val="solid"/>
          </a:ln>
        </p:spPr>
      </p:sp>
      <p:sp>
        <p:nvSpPr>
          <p:cNvPr id="12" name="Text 9"/>
          <p:cNvSpPr txBox="1"/>
          <p:nvPr/>
        </p:nvSpPr>
        <p:spPr>
          <a:xfrm>
            <a:off x="8503920" y="4937760"/>
            <a:ext cx="2864815" cy="548640"/>
          </a:xfrm>
          <a:prstGeom prst="rect">
            <a:avLst/>
          </a:prstGeom>
          <a:noFill/>
          <a:ln/>
        </p:spPr>
        <p:txBody>
          <a:bodyPr wrap="square" lIns="0" tIns="0" rIns="0" bIns="0" rtlCol="0" anchor="ctr"/>
          <a:lstStyle/>
          <a:p>
            <a:pPr indent="0" marL="0">
              <a:buNone/>
            </a:pPr>
            <a:r>
              <a:rPr lang="en-US" sz="2800" b="1" dirty="0">
                <a:solidFill>
                  <a:schemeClr val="accent6"/>
                </a:solidFill>
              </a:rPr>
              <a:t>100% · 0</a:t>
            </a:r>
            <a:endParaRPr lang="en-US" sz="2800" dirty="0"/>
          </a:p>
        </p:txBody>
      </p:sp>
      <p:sp>
        <p:nvSpPr>
          <p:cNvPr id="13" name="Text 10"/>
          <p:cNvSpPr txBox="1"/>
          <p:nvPr/>
        </p:nvSpPr>
        <p:spPr>
          <a:xfrm>
            <a:off x="8503920" y="5577840"/>
            <a:ext cx="2864815" cy="365760"/>
          </a:xfrm>
          <a:prstGeom prst="rect">
            <a:avLst/>
          </a:prstGeom>
          <a:noFill/>
          <a:ln/>
        </p:spPr>
        <p:txBody>
          <a:bodyPr wrap="square" lIns="0" tIns="0" rIns="0" bIns="0" rtlCol="0" anchor="t"/>
          <a:lstStyle/>
          <a:p>
            <a:pPr indent="0" marL="0">
              <a:buNone/>
            </a:pPr>
            <a:r>
              <a:rPr lang="en-US" sz="1300" dirty="0">
                <a:solidFill>
                  <a:schemeClr val="accent3"/>
                </a:solidFill>
              </a:rPr>
              <a:t>valid 비율 · trial 안 중복 후보</a:t>
            </a:r>
            <a:endParaRPr lang="en-US" sz="1300" dirty="0"/>
          </a:p>
        </p:txBody>
      </p:sp>
      <p:sp>
        <p:nvSpPr>
          <p:cNvPr id="1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순차 판정</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두 번째 look에서 다섯 개 모두 결정되어 멈췄다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1051560"/>
                <a:gridCol w="1051560"/>
                <a:gridCol w="2331720"/>
                <a:gridCol w="1051560"/>
                <a:gridCol w="1051560"/>
                <a:gridCol w="2819095"/>
              </a:tblGrid>
              <a:tr h="402336">
                <a:tc rowSpan="2">
                  <a:txBody>
                    <a:bodyPr/>
                    <a:lstStyle/>
                    <a:p>
                      <a:pPr indent="0" marL="0">
                        <a:buNone/>
                      </a:pPr>
                      <a:r>
                        <a:rPr lang="en-US" sz="1300" b="1" dirty="0">
                          <a:solidFill>
                            <a:schemeClr val="tx1"/>
                          </a:solidFill>
                        </a:rPr>
                        <a:t>파이프라인</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gridSpan="3">
                  <a:txBody>
                    <a:bodyPr/>
                    <a:lstStyle/>
                    <a:p>
                      <a:pPr indent="0" marL="0">
                        <a:buNone/>
                      </a:pPr>
                      <a:r>
                        <a:rPr lang="en-US" sz="1300" b="1" dirty="0">
                          <a:solidFill>
                            <a:schemeClr val="tx1"/>
                          </a:solidFill>
                        </a:rPr>
                        <a:t>Look 1 · 8,192 trials · 10-02 20:41 → 계속</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bg2"/>
                    </a:solidFill>
                  </a:tcPr>
                </a:tc>
                <a:tc hMerge="1">
                  <a:tcPr/>
                </a:tc>
                <a:tc hMerge="1">
                  <a:tcPr/>
                </a:tc>
                <a:tc gridSpan="3">
                  <a:txBody>
                    <a:bodyPr/>
                    <a:lstStyle/>
                    <a:p>
                      <a:pPr indent="0" marL="0">
                        <a:buNone/>
                      </a:pPr>
                      <a:r>
                        <a:rPr lang="en-US" sz="1300" b="1" dirty="0">
                          <a:solidFill>
                            <a:schemeClr val="bg1"/>
                          </a:solidFill>
                        </a:rPr>
                        <a:t>Look 2 · 16,384 trials · 10-03 04:56 → 중단</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1"/>
                    </a:solidFill>
                  </a:tcPr>
                </a:tc>
                <a:tc hMerge="1">
                  <a:tcPr/>
                </a:tc>
                <a:tc hMerge="1">
                  <a:tcPr/>
                </a:tc>
              </a:tr>
              <a:tr h="402336">
                <a:tc vMerge="1">
                  <a:tcPr/>
                </a:tc>
                <a:tc>
                  <a:txBody>
                    <a:bodyPr/>
                    <a:lstStyle/>
                    <a:p>
                      <a:pPr algn="r" indent="0" marL="0">
                        <a:buNone/>
                      </a:pPr>
                      <a:r>
                        <a:rPr lang="en-US" sz="1300" b="1" dirty="0">
                          <a:solidFill>
                            <a:schemeClr val="bg1"/>
                          </a:solidFill>
                        </a:rPr>
                        <a:t>U_R</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U_S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분류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U_R</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U_S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분류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402336">
                <a:tc>
                  <a:txBody>
                    <a:bodyPr/>
                    <a:lstStyle/>
                    <a:p>
                      <a:pPr indent="0" marL="0">
                        <a:buNone/>
                      </a:pPr>
                      <a:r>
                        <a:rPr lang="en-US" sz="1300" b="1" dirty="0">
                          <a:solidFill>
                            <a:schemeClr val="tx1"/>
                          </a:solidFill>
                        </a:rPr>
                        <a:t>P-G-BGV</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+0.259</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+0.346</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+0.117</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+0.206</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02336">
                <a:tc>
                  <a:txBody>
                    <a:bodyPr/>
                    <a:lstStyle/>
                    <a:p>
                      <a:pPr indent="0" marL="0">
                        <a:buNone/>
                      </a:pPr>
                      <a:r>
                        <a:rPr lang="en-US" sz="1300" b="1" dirty="0">
                          <a:solidFill>
                            <a:schemeClr val="tx1"/>
                          </a:solidFill>
                        </a:rPr>
                        <a:t>P-G-CGGE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+0.540</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+0.455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6"/>
                          </a:solidFill>
                        </a:rPr>
                        <a:t>미결 (상한 &gt; δ)</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+0.305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+0.364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02336">
                <a:tc>
                  <a:txBody>
                    <a:bodyPr/>
                    <a:lstStyle/>
                    <a:p>
                      <a:pPr indent="0" marL="0">
                        <a:buNone/>
                      </a:pPr>
                      <a:r>
                        <a:rPr lang="en-US" sz="1300" b="1" dirty="0">
                          <a:solidFill>
                            <a:schemeClr val="tx1"/>
                          </a:solidFill>
                        </a:rPr>
                        <a:t>P-DISC</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+0.615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+0.495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6"/>
                          </a:solidFill>
                        </a:rPr>
                        <a:t>미결 (상한 &gt; δ)</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+0.366</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+0.378</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02336">
                <a:tc>
                  <a:txBody>
                    <a:bodyPr/>
                    <a:lstStyle/>
                    <a:p>
                      <a:pPr indent="0" marL="0">
                        <a:buNone/>
                      </a:pPr>
                      <a:r>
                        <a:rPr lang="en-US" sz="1300" b="1" dirty="0">
                          <a:solidFill>
                            <a:schemeClr val="tx1"/>
                          </a:solidFill>
                        </a:rPr>
                        <a:t>R-G-BGV</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+0.601</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+0.586</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6"/>
                          </a:solidFill>
                        </a:rPr>
                        <a:t>미결 (상한 &gt; δ)</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+0.265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+0.285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02336">
                <a:tc>
                  <a:txBody>
                    <a:bodyPr/>
                    <a:lstStyle/>
                    <a:p>
                      <a:pPr indent="0" marL="0">
                        <a:buNone/>
                      </a:pPr>
                      <a:r>
                        <a:rPr lang="en-US" sz="1300" b="1" dirty="0">
                          <a:solidFill>
                            <a:schemeClr val="tx1"/>
                          </a:solidFill>
                        </a:rPr>
                        <a:t>R-DISC</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+0.394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+0.404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+0.269</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algn="r" indent="0" marL="0">
                        <a:buNone/>
                      </a:pPr>
                      <a:r>
                        <a:rPr lang="en-US" sz="1300" dirty="0">
                          <a:solidFill>
                            <a:schemeClr val="tx1"/>
                          </a:solidFill>
                        </a:rPr>
                        <a:t>+0.305</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5" name="Shape 2"/>
          <p:cNvSpPr/>
          <p:nvPr/>
        </p:nvSpPr>
        <p:spPr>
          <a:xfrm>
            <a:off x="548640" y="4572000"/>
            <a:ext cx="3515258" cy="1554480"/>
          </a:xfrm>
          <a:prstGeom prst="roundRect">
            <a:avLst>
              <a:gd name="adj" fmla="val 4706"/>
            </a:avLst>
          </a:prstGeom>
          <a:solidFill>
            <a:schemeClr val="bg2"/>
          </a:solidFill>
          <a:ln w="9525">
            <a:solidFill>
              <a:schemeClr val="bg2"/>
            </a:solidFill>
            <a:prstDash val="solid"/>
          </a:ln>
        </p:spPr>
      </p:sp>
      <p:sp>
        <p:nvSpPr>
          <p:cNvPr id="6" name="Text 3"/>
          <p:cNvSpPr txBox="1"/>
          <p:nvPr/>
        </p:nvSpPr>
        <p:spPr>
          <a:xfrm>
            <a:off x="822960" y="4800600"/>
            <a:ext cx="2966618" cy="411480"/>
          </a:xfrm>
          <a:prstGeom prst="rect">
            <a:avLst/>
          </a:prstGeom>
          <a:noFill/>
          <a:ln/>
        </p:spPr>
        <p:txBody>
          <a:bodyPr wrap="square" lIns="0" tIns="0" rIns="0" bIns="0" rtlCol="0" anchor="ctr"/>
          <a:lstStyle/>
          <a:p>
            <a:pPr indent="0" marL="0">
              <a:buNone/>
            </a:pPr>
            <a:r>
              <a:rPr lang="en-US" sz="2000" b="1" dirty="0">
                <a:solidFill>
                  <a:schemeClr val="tx2"/>
                </a:solidFill>
              </a:rPr>
              <a:t>공동 중단 규칙</a:t>
            </a:r>
            <a:endParaRPr lang="en-US" sz="2000" dirty="0"/>
          </a:p>
        </p:txBody>
      </p:sp>
      <p:sp>
        <p:nvSpPr>
          <p:cNvPr id="7" name="Text 4"/>
          <p:cNvSpPr txBox="1"/>
          <p:nvPr/>
        </p:nvSpPr>
        <p:spPr>
          <a:xfrm>
            <a:off x="822960" y="530352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모든 파이프라인이 POSITIVE 또는 REJECTED_BOUNDED가 되면 그 look에서 멈춘다</a:t>
            </a:r>
            <a:endParaRPr lang="en-US" sz="1300" dirty="0"/>
          </a:p>
        </p:txBody>
      </p:sp>
      <p:sp>
        <p:nvSpPr>
          <p:cNvPr id="8" name="Shape 5"/>
          <p:cNvSpPr/>
          <p:nvPr/>
        </p:nvSpPr>
        <p:spPr>
          <a:xfrm>
            <a:off x="4338218" y="4572000"/>
            <a:ext cx="3515258" cy="1554480"/>
          </a:xfrm>
          <a:prstGeom prst="roundRect">
            <a:avLst>
              <a:gd name="adj" fmla="val 4706"/>
            </a:avLst>
          </a:prstGeom>
          <a:solidFill>
            <a:schemeClr val="bg2"/>
          </a:solidFill>
          <a:ln w="9525">
            <a:solidFill>
              <a:schemeClr val="bg2"/>
            </a:solidFill>
            <a:prstDash val="solid"/>
          </a:ln>
        </p:spPr>
      </p:sp>
      <p:sp>
        <p:nvSpPr>
          <p:cNvPr id="9" name="Text 6"/>
          <p:cNvSpPr txBox="1"/>
          <p:nvPr/>
        </p:nvSpPr>
        <p:spPr>
          <a:xfrm>
            <a:off x="4612538" y="4800600"/>
            <a:ext cx="2966618" cy="411480"/>
          </a:xfrm>
          <a:prstGeom prst="rect">
            <a:avLst/>
          </a:prstGeom>
          <a:noFill/>
          <a:ln/>
        </p:spPr>
        <p:txBody>
          <a:bodyPr wrap="square" lIns="0" tIns="0" rIns="0" bIns="0" rtlCol="0" anchor="ctr"/>
          <a:lstStyle/>
          <a:p>
            <a:pPr indent="0" marL="0">
              <a:buNone/>
            </a:pPr>
            <a:r>
              <a:rPr lang="en-US" sz="2800" b="1" dirty="0">
                <a:solidFill>
                  <a:schemeClr val="accent6"/>
                </a:solidFill>
              </a:rPr>
              <a:t>81.7%</a:t>
            </a:r>
            <a:endParaRPr lang="en-US" sz="2800" dirty="0"/>
          </a:p>
        </p:txBody>
      </p:sp>
      <p:sp>
        <p:nvSpPr>
          <p:cNvPr id="10" name="Text 7"/>
          <p:cNvSpPr txBox="1"/>
          <p:nvPr/>
        </p:nvSpPr>
        <p:spPr>
          <a:xfrm>
            <a:off x="4612538" y="530352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설계 검산에서 효과가 없을 때 look 2에서 멈출 확률</a:t>
            </a:r>
            <a:endParaRPr lang="en-US" sz="1300" dirty="0"/>
          </a:p>
        </p:txBody>
      </p:sp>
      <p:sp>
        <p:nvSpPr>
          <p:cNvPr id="11" name="Shape 8"/>
          <p:cNvSpPr/>
          <p:nvPr/>
        </p:nvSpPr>
        <p:spPr>
          <a:xfrm>
            <a:off x="8127797" y="4572000"/>
            <a:ext cx="3515258" cy="1554480"/>
          </a:xfrm>
          <a:prstGeom prst="roundRect">
            <a:avLst>
              <a:gd name="adj" fmla="val 4706"/>
            </a:avLst>
          </a:prstGeom>
          <a:solidFill>
            <a:schemeClr val="bg2"/>
          </a:solidFill>
          <a:ln w="9525">
            <a:solidFill>
              <a:schemeClr val="bg2"/>
            </a:solidFill>
            <a:prstDash val="solid"/>
          </a:ln>
        </p:spPr>
      </p:sp>
      <p:sp>
        <p:nvSpPr>
          <p:cNvPr id="12" name="Text 9"/>
          <p:cNvSpPr txBox="1"/>
          <p:nvPr/>
        </p:nvSpPr>
        <p:spPr>
          <a:xfrm>
            <a:off x="8402117" y="4800600"/>
            <a:ext cx="2966618" cy="411480"/>
          </a:xfrm>
          <a:prstGeom prst="rect">
            <a:avLst/>
          </a:prstGeom>
          <a:noFill/>
          <a:ln/>
        </p:spPr>
        <p:txBody>
          <a:bodyPr wrap="square" lIns="0" tIns="0" rIns="0" bIns="0" rtlCol="0" anchor="ctr"/>
          <a:lstStyle/>
          <a:p>
            <a:pPr indent="0" marL="0">
              <a:buNone/>
            </a:pPr>
            <a:r>
              <a:rPr lang="en-US" sz="2800" b="1" dirty="0">
                <a:solidFill>
                  <a:schemeClr val="accent6"/>
                </a:solidFill>
              </a:rPr>
              <a:t>약 8.3시간</a:t>
            </a:r>
            <a:endParaRPr lang="en-US" sz="2800" dirty="0"/>
          </a:p>
        </p:txBody>
      </p:sp>
      <p:sp>
        <p:nvSpPr>
          <p:cNvPr id="13" name="Text 10"/>
          <p:cNvSpPr txBox="1"/>
          <p:nvPr/>
        </p:nvSpPr>
        <p:spPr>
          <a:xfrm>
            <a:off x="8402117" y="530352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쓰지 않은 look 3 블록의 생성 시간</a:t>
            </a:r>
            <a:endParaRPr lang="en-US" sz="1300" dirty="0"/>
          </a:p>
        </p:txBody>
      </p:sp>
      <p:sp>
        <p:nvSpPr>
          <p:cNvPr id="14"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C2 구조 이용 (r=4 양성 대조)</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해시 구조가 약하면 모든 기계가 그것을 이용했다</a:t>
            </a:r>
            <a:endParaRPr lang="en-US" sz="3000" dirty="0"/>
          </a:p>
        </p:txBody>
      </p:sp>
      <p:graphicFrame>
        <p:nvGraphicFramePr>
          <p:cNvPr id="4" name="Chart 0" descr=""/>
          <p:cNvGraphicFramePr/>
          <p:nvPr/>
        </p:nvGraphicFramePr>
        <p:xfrm>
          <a:off x="548640" y="1463040"/>
          <a:ext cx="7040880" cy="4709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508760"/>
            <a:ext cx="3779215" cy="2514600"/>
          </a:xfrm>
          <a:prstGeom prst="roundRect">
            <a:avLst>
              <a:gd name="adj" fmla="val 2909"/>
            </a:avLst>
          </a:prstGeom>
          <a:solidFill>
            <a:schemeClr val="bg2"/>
          </a:solidFill>
          <a:ln w="9525">
            <a:solidFill>
              <a:schemeClr val="bg2"/>
            </a:solidFill>
            <a:prstDash val="solid"/>
          </a:ln>
        </p:spPr>
      </p:sp>
      <p:sp>
        <p:nvSpPr>
          <p:cNvPr id="6" name="Text 3"/>
          <p:cNvSpPr txBox="1"/>
          <p:nvPr/>
        </p:nvSpPr>
        <p:spPr>
          <a:xfrm>
            <a:off x="8092440" y="1691640"/>
            <a:ext cx="3322015" cy="320040"/>
          </a:xfrm>
          <a:prstGeom prst="rect">
            <a:avLst/>
          </a:prstGeom>
          <a:noFill/>
          <a:ln/>
        </p:spPr>
        <p:txBody>
          <a:bodyPr wrap="square" lIns="0" tIns="0" rIns="0" bIns="0" rtlCol="0" anchor="t"/>
          <a:lstStyle/>
          <a:p>
            <a:pPr indent="0" marL="0">
              <a:buNone/>
            </a:pPr>
            <a:r>
              <a:rPr lang="en-US" sz="1400" b="1" dirty="0">
                <a:solidFill>
                  <a:schemeClr val="tx1"/>
                </a:solidFill>
              </a:rPr>
              <a:t>왜 Printable은 18%에서 멈추는가</a:t>
            </a:r>
            <a:endParaRPr lang="en-US" sz="1400" dirty="0"/>
          </a:p>
        </p:txBody>
      </p:sp>
      <p:sp>
        <p:nvSpPr>
          <p:cNvPr id="7" name="Text 4"/>
          <p:cNvSpPr txBox="1"/>
          <p:nvPr/>
        </p:nvSpPr>
        <p:spPr>
          <a:xfrm>
            <a:off x="8092440" y="2057400"/>
            <a:ext cx="3322015" cy="182880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r=4의 W1 값은 메시지 앞 4바이트에만 의존한다. Printable 바이트(33–126)로 만들 수 있는 값은 4,096개 중 752개뿐이고, 이번 trial 중 도달 가능한 target은 739개였다.</a:t>
            </a:r>
            <a:endParaRPr lang="en-US" sz="1250" dirty="0"/>
          </a:p>
        </p:txBody>
      </p:sp>
      <p:sp>
        <p:nvSpPr>
          <p:cNvPr id="8" name="Shape 5"/>
          <p:cNvSpPr/>
          <p:nvPr/>
        </p:nvSpPr>
        <p:spPr>
          <a:xfrm>
            <a:off x="7863840" y="4160520"/>
            <a:ext cx="3779215" cy="914400"/>
          </a:xfrm>
          <a:prstGeom prst="roundRect">
            <a:avLst>
              <a:gd name="adj" fmla="val 8000"/>
            </a:avLst>
          </a:prstGeom>
          <a:solidFill>
            <a:schemeClr val="bg2"/>
          </a:solidFill>
          <a:ln w="9525">
            <a:solidFill>
              <a:schemeClr val="bg2"/>
            </a:solidFill>
            <a:prstDash val="solid"/>
          </a:ln>
        </p:spPr>
      </p:sp>
      <p:sp>
        <p:nvSpPr>
          <p:cNvPr id="9" name="Text 6"/>
          <p:cNvSpPr txBox="1"/>
          <p:nvPr/>
        </p:nvSpPr>
        <p:spPr>
          <a:xfrm>
            <a:off x="8138160" y="4389120"/>
            <a:ext cx="3230575" cy="457200"/>
          </a:xfrm>
          <a:prstGeom prst="rect">
            <a:avLst/>
          </a:prstGeom>
          <a:noFill/>
          <a:ln/>
        </p:spPr>
        <p:txBody>
          <a:bodyPr wrap="square" lIns="0" tIns="0" rIns="0" bIns="0" rtlCol="0" anchor="ctr"/>
          <a:lstStyle/>
          <a:p>
            <a:pPr indent="0" marL="0">
              <a:buNone/>
            </a:pPr>
            <a:r>
              <a:rPr lang="en-US" sz="2600" b="1" dirty="0">
                <a:solidFill>
                  <a:schemeClr val="accent6"/>
                </a:solidFill>
              </a:rPr>
              <a:t>739 / 739</a:t>
            </a:r>
            <a:endParaRPr lang="en-US" sz="2600" dirty="0"/>
          </a:p>
        </p:txBody>
      </p:sp>
      <p:sp>
        <p:nvSpPr>
          <p:cNvPr id="10" name="Text 7"/>
          <p:cNvSpPr txBox="1"/>
          <p:nvPr/>
        </p:nvSpPr>
        <p:spPr>
          <a:xfrm>
            <a:off x="8138160" y="4937760"/>
            <a:ext cx="3230575" cy="-91440"/>
          </a:xfrm>
          <a:prstGeom prst="rect">
            <a:avLst/>
          </a:prstGeom>
          <a:noFill/>
          <a:ln/>
        </p:spPr>
        <p:txBody>
          <a:bodyPr wrap="square" lIns="0" tIns="0" rIns="0" bIns="0" rtlCol="0" anchor="t"/>
          <a:lstStyle/>
          <a:p>
            <a:pPr indent="0" marL="0">
              <a:buNone/>
            </a:pPr>
            <a:endParaRPr lang="en-US" sz="1300" dirty="0"/>
          </a:p>
        </p:txBody>
      </p:sp>
      <p:sp>
        <p:nvSpPr>
          <p:cNvPr id="11" name="Text 8"/>
          <p:cNvSpPr txBox="1"/>
          <p:nvPr/>
        </p:nvSpPr>
        <p:spPr>
          <a:xfrm>
            <a:off x="7863840" y="5212080"/>
            <a:ext cx="3779215" cy="96012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P-DISC·P-G-BGV가 도달 가능한 target을 모두 맞혔다 (P-G-CGGE 620개, 83.9%). 5개 모두 GEN_4·INFO_4 성립</a:t>
            </a:r>
            <a:endParaRPr lang="en-US" sz="1250" dirty="0"/>
          </a:p>
        </p:txBody>
      </p:sp>
      <p:sp>
        <p:nvSpPr>
          <p:cNvPr id="12"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정보 신호 (CLP)</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정보 신호는 구조가 있을 때만 나타났다</a:t>
            </a:r>
            <a:endParaRPr lang="en-US" sz="3000" dirty="0"/>
          </a:p>
        </p:txBody>
      </p:sp>
      <p:graphicFrame>
        <p:nvGraphicFramePr>
          <p:cNvPr id="4" name="Chart 0" descr=""/>
          <p:cNvGraphicFramePr/>
          <p:nvPr/>
        </p:nvGraphicFramePr>
        <p:xfrm>
          <a:off x="548640" y="1463040"/>
          <a:ext cx="7223760" cy="4709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508760"/>
            <a:ext cx="3596335" cy="1005840"/>
          </a:xfrm>
          <a:prstGeom prst="roundRect">
            <a:avLst>
              <a:gd name="adj" fmla="val 7273"/>
            </a:avLst>
          </a:prstGeom>
          <a:solidFill>
            <a:schemeClr val="bg2"/>
          </a:solidFill>
          <a:ln w="9525">
            <a:solidFill>
              <a:schemeClr val="bg2"/>
            </a:solidFill>
            <a:prstDash val="solid"/>
          </a:ln>
        </p:spPr>
      </p:sp>
      <p:sp>
        <p:nvSpPr>
          <p:cNvPr id="6" name="Text 3"/>
          <p:cNvSpPr txBox="1"/>
          <p:nvPr/>
        </p:nvSpPr>
        <p:spPr>
          <a:xfrm>
            <a:off x="8275320" y="1645920"/>
            <a:ext cx="2011680" cy="320040"/>
          </a:xfrm>
          <a:prstGeom prst="rect">
            <a:avLst/>
          </a:prstGeom>
          <a:noFill/>
          <a:ln/>
        </p:spPr>
        <p:txBody>
          <a:bodyPr wrap="square" lIns="0" tIns="0" rIns="0" bIns="0" rtlCol="0" anchor="t"/>
          <a:lstStyle/>
          <a:p>
            <a:pPr indent="0" marL="0">
              <a:buNone/>
            </a:pPr>
            <a:r>
              <a:rPr lang="en-US" sz="1300" b="1" dirty="0">
                <a:solidFill>
                  <a:schemeClr val="tx1"/>
                </a:solidFill>
              </a:rPr>
              <a:t>synthetic · Stage A</a:t>
            </a:r>
            <a:endParaRPr lang="en-US" sz="1300" dirty="0"/>
          </a:p>
        </p:txBody>
      </p:sp>
      <p:sp>
        <p:nvSpPr>
          <p:cNvPr id="7" name="Text 4"/>
          <p:cNvSpPr txBox="1"/>
          <p:nvPr/>
        </p:nvSpPr>
        <p:spPr>
          <a:xfrm>
            <a:off x="8275320" y="2011680"/>
            <a:ext cx="2103120" cy="320040"/>
          </a:xfrm>
          <a:prstGeom prst="rect">
            <a:avLst/>
          </a:prstGeom>
          <a:noFill/>
          <a:ln/>
        </p:spPr>
        <p:txBody>
          <a:bodyPr wrap="square" lIns="0" tIns="0" rIns="0" bIns="0" rtlCol="0" anchor="t"/>
          <a:lstStyle/>
          <a:p>
            <a:pPr indent="0" marL="0">
              <a:buNone/>
            </a:pPr>
            <a:r>
              <a:rPr lang="en-US" sz="1100" dirty="0">
                <a:solidFill>
                  <a:schemeClr val="accent3"/>
                </a:solidFill>
              </a:rPr>
              <a:t>4,096쌍, seed 3개 평균</a:t>
            </a:r>
            <a:endParaRPr lang="en-US" sz="1100" dirty="0"/>
          </a:p>
        </p:txBody>
      </p:sp>
      <p:sp>
        <p:nvSpPr>
          <p:cNvPr id="8" name="Text 5"/>
          <p:cNvSpPr txBox="1"/>
          <p:nvPr/>
        </p:nvSpPr>
        <p:spPr>
          <a:xfrm>
            <a:off x="10058400" y="1645920"/>
            <a:ext cx="1356055" cy="731520"/>
          </a:xfrm>
          <a:prstGeom prst="rect">
            <a:avLst/>
          </a:prstGeom>
          <a:noFill/>
          <a:ln/>
        </p:spPr>
        <p:txBody>
          <a:bodyPr wrap="square" lIns="0" tIns="0" rIns="0" bIns="0" rtlCol="0" anchor="ctr"/>
          <a:lstStyle/>
          <a:p>
            <a:pPr algn="r" indent="0" marL="0">
              <a:buNone/>
            </a:pPr>
            <a:r>
              <a:rPr lang="en-US" sz="1600" b="1" dirty="0">
                <a:solidFill>
                  <a:schemeClr val="tx2"/>
                </a:solidFill>
              </a:rPr>
              <a:t>z 102–116</a:t>
            </a:r>
            <a:endParaRPr lang="en-US" sz="1600" dirty="0"/>
          </a:p>
        </p:txBody>
      </p:sp>
      <p:sp>
        <p:nvSpPr>
          <p:cNvPr id="9" name="Shape 6"/>
          <p:cNvSpPr/>
          <p:nvPr/>
        </p:nvSpPr>
        <p:spPr>
          <a:xfrm>
            <a:off x="8046720" y="2651760"/>
            <a:ext cx="3596335" cy="1005840"/>
          </a:xfrm>
          <a:prstGeom prst="roundRect">
            <a:avLst>
              <a:gd name="adj" fmla="val 7273"/>
            </a:avLst>
          </a:prstGeom>
          <a:solidFill>
            <a:schemeClr val="bg2"/>
          </a:solidFill>
          <a:ln w="9525">
            <a:solidFill>
              <a:schemeClr val="bg2"/>
            </a:solidFill>
            <a:prstDash val="solid"/>
          </a:ln>
        </p:spPr>
      </p:sp>
      <p:sp>
        <p:nvSpPr>
          <p:cNvPr id="10" name="Text 7"/>
          <p:cNvSpPr txBox="1"/>
          <p:nvPr/>
        </p:nvSpPr>
        <p:spPr>
          <a:xfrm>
            <a:off x="8275320" y="2788920"/>
            <a:ext cx="2011680" cy="320040"/>
          </a:xfrm>
          <a:prstGeom prst="rect">
            <a:avLst/>
          </a:prstGeom>
          <a:noFill/>
          <a:ln/>
        </p:spPr>
        <p:txBody>
          <a:bodyPr wrap="square" lIns="0" tIns="0" rIns="0" bIns="0" rtlCol="0" anchor="t"/>
          <a:lstStyle/>
          <a:p>
            <a:pPr indent="0" marL="0">
              <a:buNone/>
            </a:pPr>
            <a:r>
              <a:rPr lang="en-US" sz="1300" b="1" dirty="0">
                <a:solidFill>
                  <a:schemeClr val="tx1"/>
                </a:solidFill>
              </a:rPr>
              <a:t>r = 4 · Stage P</a:t>
            </a:r>
            <a:endParaRPr lang="en-US" sz="1300" dirty="0"/>
          </a:p>
        </p:txBody>
      </p:sp>
      <p:sp>
        <p:nvSpPr>
          <p:cNvPr id="11" name="Text 8"/>
          <p:cNvSpPr txBox="1"/>
          <p:nvPr/>
        </p:nvSpPr>
        <p:spPr>
          <a:xfrm>
            <a:off x="8275320" y="3154680"/>
            <a:ext cx="2103120" cy="320040"/>
          </a:xfrm>
          <a:prstGeom prst="rect">
            <a:avLst/>
          </a:prstGeom>
          <a:noFill/>
          <a:ln/>
        </p:spPr>
        <p:txBody>
          <a:bodyPr wrap="square" lIns="0" tIns="0" rIns="0" bIns="0" rtlCol="0" anchor="t"/>
          <a:lstStyle/>
          <a:p>
            <a:pPr indent="0" marL="0">
              <a:buNone/>
            </a:pPr>
            <a:r>
              <a:rPr lang="en-US" sz="1100" dirty="0">
                <a:solidFill>
                  <a:schemeClr val="accent3"/>
                </a:solidFill>
              </a:rPr>
              <a:t>16,384쌍</a:t>
            </a:r>
            <a:endParaRPr lang="en-US" sz="1100" dirty="0"/>
          </a:p>
        </p:txBody>
      </p:sp>
      <p:sp>
        <p:nvSpPr>
          <p:cNvPr id="12" name="Text 9"/>
          <p:cNvSpPr txBox="1"/>
          <p:nvPr/>
        </p:nvSpPr>
        <p:spPr>
          <a:xfrm>
            <a:off x="10058400" y="2788920"/>
            <a:ext cx="1356055" cy="731520"/>
          </a:xfrm>
          <a:prstGeom prst="rect">
            <a:avLst/>
          </a:prstGeom>
          <a:noFill/>
          <a:ln/>
        </p:spPr>
        <p:txBody>
          <a:bodyPr wrap="square" lIns="0" tIns="0" rIns="0" bIns="0" rtlCol="0" anchor="ctr"/>
          <a:lstStyle/>
          <a:p>
            <a:pPr algn="r" indent="0" marL="0">
              <a:buNone/>
            </a:pPr>
            <a:r>
              <a:rPr lang="en-US" sz="1600" b="1" dirty="0">
                <a:solidFill>
                  <a:schemeClr val="tx2"/>
                </a:solidFill>
              </a:rPr>
              <a:t>z 114–197</a:t>
            </a:r>
            <a:endParaRPr lang="en-US" sz="1600" dirty="0"/>
          </a:p>
        </p:txBody>
      </p:sp>
      <p:sp>
        <p:nvSpPr>
          <p:cNvPr id="13" name="Shape 10"/>
          <p:cNvSpPr/>
          <p:nvPr/>
        </p:nvSpPr>
        <p:spPr>
          <a:xfrm>
            <a:off x="8046720" y="3794760"/>
            <a:ext cx="3596335" cy="1005840"/>
          </a:xfrm>
          <a:prstGeom prst="roundRect">
            <a:avLst>
              <a:gd name="adj" fmla="val 7273"/>
            </a:avLst>
          </a:prstGeom>
          <a:solidFill>
            <a:schemeClr val="tx1"/>
          </a:solidFill>
          <a:ln w="9525">
            <a:solidFill>
              <a:schemeClr val="tx1"/>
            </a:solidFill>
            <a:prstDash val="solid"/>
          </a:ln>
        </p:spPr>
      </p:sp>
      <p:sp>
        <p:nvSpPr>
          <p:cNvPr id="14" name="Text 11"/>
          <p:cNvSpPr txBox="1"/>
          <p:nvPr/>
        </p:nvSpPr>
        <p:spPr>
          <a:xfrm>
            <a:off x="8275320" y="3931920"/>
            <a:ext cx="2011680" cy="320040"/>
          </a:xfrm>
          <a:prstGeom prst="rect">
            <a:avLst/>
          </a:prstGeom>
          <a:noFill/>
          <a:ln/>
        </p:spPr>
        <p:txBody>
          <a:bodyPr wrap="square" lIns="0" tIns="0" rIns="0" bIns="0" rtlCol="0" anchor="t"/>
          <a:lstStyle/>
          <a:p>
            <a:pPr indent="0" marL="0">
              <a:buNone/>
            </a:pPr>
            <a:r>
              <a:rPr lang="en-US" sz="1300" b="1" dirty="0">
                <a:solidFill>
                  <a:schemeClr val="bg1"/>
                </a:solidFill>
              </a:rPr>
              <a:t>MD5-64 · Stage C</a:t>
            </a:r>
            <a:endParaRPr lang="en-US" sz="1300" dirty="0"/>
          </a:p>
        </p:txBody>
      </p:sp>
      <p:sp>
        <p:nvSpPr>
          <p:cNvPr id="15" name="Text 12"/>
          <p:cNvSpPr txBox="1"/>
          <p:nvPr/>
        </p:nvSpPr>
        <p:spPr>
          <a:xfrm>
            <a:off x="8275320" y="4297680"/>
            <a:ext cx="2103120" cy="320040"/>
          </a:xfrm>
          <a:prstGeom prst="rect">
            <a:avLst/>
          </a:prstGeom>
          <a:noFill/>
          <a:ln/>
        </p:spPr>
        <p:txBody>
          <a:bodyPr wrap="square" lIns="0" tIns="0" rIns="0" bIns="0" rtlCol="0" anchor="t"/>
          <a:lstStyle/>
          <a:p>
            <a:pPr indent="0" marL="0">
              <a:buNone/>
            </a:pPr>
            <a:r>
              <a:rPr lang="en-US" sz="1100" dirty="0">
                <a:solidFill>
                  <a:schemeClr val="accent5"/>
                </a:solidFill>
              </a:rPr>
              <a:t>196,608쌍 (seed 3개 합산)</a:t>
            </a:r>
            <a:endParaRPr lang="en-US" sz="1100" dirty="0"/>
          </a:p>
        </p:txBody>
      </p:sp>
      <p:sp>
        <p:nvSpPr>
          <p:cNvPr id="16" name="Text 13"/>
          <p:cNvSpPr txBox="1"/>
          <p:nvPr/>
        </p:nvSpPr>
        <p:spPr>
          <a:xfrm>
            <a:off x="10058400" y="3931920"/>
            <a:ext cx="1356055" cy="731520"/>
          </a:xfrm>
          <a:prstGeom prst="rect">
            <a:avLst/>
          </a:prstGeom>
          <a:noFill/>
          <a:ln/>
        </p:spPr>
        <p:txBody>
          <a:bodyPr wrap="square" lIns="0" tIns="0" rIns="0" bIns="0" rtlCol="0" anchor="ctr"/>
          <a:lstStyle/>
          <a:p>
            <a:pPr algn="r" indent="0" marL="0">
              <a:buNone/>
            </a:pPr>
            <a:r>
              <a:rPr lang="en-US" sz="1600" b="1" dirty="0">
                <a:solidFill>
                  <a:schemeClr val="accent1"/>
                </a:solidFill>
              </a:rPr>
              <a:t>z −0.36 … 0.32</a:t>
            </a:r>
            <a:endParaRPr lang="en-US" sz="1600" dirty="0"/>
          </a:p>
        </p:txBody>
      </p:sp>
      <p:sp>
        <p:nvSpPr>
          <p:cNvPr id="17" name="Text 14"/>
          <p:cNvSpPr txBox="1"/>
          <p:nvPr/>
        </p:nvSpPr>
        <p:spPr>
          <a:xfrm>
            <a:off x="8046720" y="4983480"/>
            <a:ext cx="3596335" cy="1188720"/>
          </a:xfrm>
          <a:prstGeom prst="rect">
            <a:avLst/>
          </a:prstGeom>
          <a:noFill/>
          <a:ln/>
        </p:spPr>
        <p:txBody>
          <a:bodyPr wrap="square" lIns="0" tIns="0" rIns="0" bIns="0" rtlCol="0" anchor="t"/>
          <a:lstStyle/>
          <a:p>
            <a:pPr indent="0" marL="0">
              <a:lnSpc>
                <a:spcPct val="110000"/>
              </a:lnSpc>
              <a:buNone/>
            </a:pPr>
            <a:r>
              <a:rPr lang="en-US" sz="1200" dirty="0">
                <a:solidFill>
                  <a:schemeClr val="tx2"/>
                </a:solidFill>
              </a:rPr>
              <a:t>CLP는 두 쌍의 조건을 맞바꿨을 때 모델 점수가 떨어지는 정도로 조건-메시지 정보를 잰다. 기준 z &gt; 2.878. MD5-64는 쌍 수가 12–48배 많았는데도 0과 구별되지 않았다. C3 판정에는 쓰지 않는다.</a:t>
            </a:r>
            <a:endParaRPr lang="en-US" sz="1200" dirty="0"/>
          </a:p>
        </p:txBody>
      </p:sp>
      <p:sp>
        <p:nvSpPr>
          <p:cNvPr id="18"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C5 파이프라인 대비 · C4 계산 우위</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파이프라인 간 차이도, 계산 우위도 없었다</a:t>
            </a:r>
            <a:endParaRPr lang="en-US" sz="3000" dirty="0"/>
          </a:p>
        </p:txBody>
      </p:sp>
      <p:sp>
        <p:nvSpPr>
          <p:cNvPr id="4" name="Text 2"/>
          <p:cNvSpPr txBox="1"/>
          <p:nvPr/>
        </p:nvSpPr>
        <p:spPr>
          <a:xfrm>
            <a:off x="548640" y="1508760"/>
            <a:ext cx="5364328" cy="365760"/>
          </a:xfrm>
          <a:prstGeom prst="rect">
            <a:avLst/>
          </a:prstGeom>
          <a:noFill/>
          <a:ln/>
        </p:spPr>
        <p:txBody>
          <a:bodyPr wrap="square" lIns="0" tIns="0" rIns="0" bIns="0" rtlCol="0" anchor="t"/>
          <a:lstStyle/>
          <a:p>
            <a:pPr indent="0" marL="0">
              <a:buNone/>
            </a:pPr>
            <a:r>
              <a:rPr lang="en-US" sz="1700" b="1" dirty="0">
                <a:solidFill>
                  <a:schemeClr val="tx1"/>
                </a:solidFill>
              </a:rPr>
              <a:t>C5 · 파이프라인 대비 12건</a:t>
            </a:r>
            <a:endParaRPr lang="en-US" sz="1700" dirty="0"/>
          </a:p>
        </p:txBody>
      </p:sp>
      <p:sp>
        <p:nvSpPr>
          <p:cNvPr id="5" name="Text 3"/>
          <p:cNvSpPr txBox="1"/>
          <p:nvPr/>
        </p:nvSpPr>
        <p:spPr>
          <a:xfrm>
            <a:off x="548640" y="1920240"/>
            <a:ext cx="5364328" cy="59436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표현(BGV vs CGGE), 모델 계열(Gaussian vs Discrete), source(P vs R)의 6쌍 × Random·Shuffled 대비</a:t>
            </a:r>
            <a:endParaRPr lang="en-US" sz="1250" dirty="0"/>
          </a:p>
        </p:txBody>
      </p:sp>
      <p:sp>
        <p:nvSpPr>
          <p:cNvPr id="6" name="Shape 4"/>
          <p:cNvSpPr/>
          <p:nvPr/>
        </p:nvSpPr>
        <p:spPr>
          <a:xfrm>
            <a:off x="548640" y="2697480"/>
            <a:ext cx="3576218" cy="548640"/>
          </a:xfrm>
          <a:prstGeom prst="rect">
            <a:avLst/>
          </a:prstGeom>
          <a:solidFill>
            <a:srgbClr val="2F6F7E"/>
          </a:solidFill>
          <a:ln w="12700">
            <a:solidFill>
              <a:srgbClr val="FFFFFF"/>
            </a:solidFill>
            <a:prstDash val="solid"/>
          </a:ln>
        </p:spPr>
      </p:sp>
      <p:sp>
        <p:nvSpPr>
          <p:cNvPr id="7" name="Text 5"/>
          <p:cNvSpPr txBox="1"/>
          <p:nvPr/>
        </p:nvSpPr>
        <p:spPr>
          <a:xfrm>
            <a:off x="548640" y="2697480"/>
            <a:ext cx="3576218" cy="548640"/>
          </a:xfrm>
          <a:prstGeom prst="rect">
            <a:avLst/>
          </a:prstGeom>
          <a:noFill/>
          <a:ln/>
        </p:spPr>
        <p:txBody>
          <a:bodyPr wrap="square" lIns="0" tIns="0" rIns="0" bIns="0" rtlCol="0" anchor="ctr"/>
          <a:lstStyle/>
          <a:p>
            <a:pPr algn="ctr" indent="0" marL="0">
              <a:buNone/>
            </a:pPr>
            <a:r>
              <a:rPr lang="en-US" sz="1400" b="1" dirty="0">
                <a:solidFill>
                  <a:schemeClr val="bg1"/>
                </a:solidFill>
              </a:rPr>
              <a:t>δ 내 동등 8건</a:t>
            </a:r>
            <a:endParaRPr lang="en-US" sz="1400" dirty="0"/>
          </a:p>
        </p:txBody>
      </p:sp>
      <p:sp>
        <p:nvSpPr>
          <p:cNvPr id="8" name="Shape 6"/>
          <p:cNvSpPr/>
          <p:nvPr/>
        </p:nvSpPr>
        <p:spPr>
          <a:xfrm>
            <a:off x="4124858" y="2697480"/>
            <a:ext cx="1788109" cy="548640"/>
          </a:xfrm>
          <a:prstGeom prst="rect">
            <a:avLst/>
          </a:prstGeom>
          <a:solidFill>
            <a:srgbClr val="AEB8C3"/>
          </a:solidFill>
          <a:ln w="12700">
            <a:solidFill>
              <a:srgbClr val="FFFFFF"/>
            </a:solidFill>
            <a:prstDash val="solid"/>
          </a:ln>
        </p:spPr>
      </p:sp>
      <p:sp>
        <p:nvSpPr>
          <p:cNvPr id="9" name="Text 7"/>
          <p:cNvSpPr txBox="1"/>
          <p:nvPr/>
        </p:nvSpPr>
        <p:spPr>
          <a:xfrm>
            <a:off x="4124858" y="2697480"/>
            <a:ext cx="1788109" cy="548640"/>
          </a:xfrm>
          <a:prstGeom prst="rect">
            <a:avLst/>
          </a:prstGeom>
          <a:noFill/>
          <a:ln/>
        </p:spPr>
        <p:txBody>
          <a:bodyPr wrap="square" lIns="0" tIns="0" rIns="0" bIns="0" rtlCol="0" anchor="ctr"/>
          <a:lstStyle/>
          <a:p>
            <a:pPr algn="ctr" indent="0" marL="0">
              <a:buNone/>
            </a:pPr>
            <a:r>
              <a:rPr lang="en-US" sz="1400" b="1" dirty="0">
                <a:solidFill>
                  <a:schemeClr val="tx1"/>
                </a:solidFill>
              </a:rPr>
              <a:t>미확정 4건</a:t>
            </a:r>
            <a:endParaRPr lang="en-US" sz="1400" dirty="0"/>
          </a:p>
        </p:txBody>
      </p:sp>
      <p:sp>
        <p:nvSpPr>
          <p:cNvPr id="10" name="Text 8"/>
          <p:cNvSpPr txBox="1"/>
          <p:nvPr/>
        </p:nvSpPr>
        <p:spPr>
          <a:xfrm>
            <a:off x="548640" y="352044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δ 내 동등</a:t>
            </a:r>
            <a:endParaRPr lang="en-US" sz="1300" dirty="0"/>
          </a:p>
        </p:txBody>
      </p:sp>
      <p:sp>
        <p:nvSpPr>
          <p:cNvPr id="11" name="Text 9"/>
          <p:cNvSpPr txBox="1"/>
          <p:nvPr/>
        </p:nvSpPr>
        <p:spPr>
          <a:xfrm>
            <a:off x="2286000" y="3520440"/>
            <a:ext cx="3626968" cy="411480"/>
          </a:xfrm>
          <a:prstGeom prst="rect">
            <a:avLst/>
          </a:prstGeom>
          <a:noFill/>
          <a:ln/>
        </p:spPr>
        <p:txBody>
          <a:bodyPr wrap="square" lIns="0" tIns="0" rIns="0" bIns="0" rtlCol="0" anchor="ctr"/>
          <a:lstStyle/>
          <a:p>
            <a:pPr indent="0" marL="0">
              <a:buNone/>
            </a:pPr>
            <a:r>
              <a:rPr lang="en-US" sz="1250" dirty="0">
                <a:solidFill>
                  <a:schemeClr val="tx2"/>
                </a:solidFill>
              </a:rPr>
              <a:t>구간 전체가 ±0.5%p 안. 그 이상의 차이를 배제</a:t>
            </a:r>
            <a:endParaRPr lang="en-US" sz="1250" dirty="0"/>
          </a:p>
        </p:txBody>
      </p:sp>
      <p:sp>
        <p:nvSpPr>
          <p:cNvPr id="12" name="Text 10"/>
          <p:cNvSpPr txBox="1"/>
          <p:nvPr/>
        </p:nvSpPr>
        <p:spPr>
          <a:xfrm>
            <a:off x="548640" y="406908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미확정</a:t>
            </a:r>
            <a:endParaRPr lang="en-US" sz="1300" dirty="0"/>
          </a:p>
        </p:txBody>
      </p:sp>
      <p:sp>
        <p:nvSpPr>
          <p:cNvPr id="13" name="Text 11"/>
          <p:cNvSpPr txBox="1"/>
          <p:nvPr/>
        </p:nvSpPr>
        <p:spPr>
          <a:xfrm>
            <a:off x="2286000" y="4069080"/>
            <a:ext cx="3626968" cy="411480"/>
          </a:xfrm>
          <a:prstGeom prst="rect">
            <a:avLst/>
          </a:prstGeom>
          <a:noFill/>
          <a:ln/>
        </p:spPr>
        <p:txBody>
          <a:bodyPr wrap="square" lIns="0" tIns="0" rIns="0" bIns="0" rtlCol="0" anchor="ctr"/>
          <a:lstStyle/>
          <a:p>
            <a:pPr indent="0" marL="0">
              <a:buNone/>
            </a:pPr>
            <a:r>
              <a:rPr lang="en-US" sz="1250" dirty="0">
                <a:solidFill>
                  <a:schemeClr val="tx2"/>
                </a:solidFill>
              </a:rPr>
              <a:t>0은 포함하지만 구간이 ±δ를 넘음</a:t>
            </a:r>
            <a:endParaRPr lang="en-US" sz="1250" dirty="0"/>
          </a:p>
        </p:txBody>
      </p:sp>
      <p:sp>
        <p:nvSpPr>
          <p:cNvPr id="14" name="Text 12"/>
          <p:cNvSpPr txBox="1"/>
          <p:nvPr/>
        </p:nvSpPr>
        <p:spPr>
          <a:xfrm>
            <a:off x="548640" y="4617720"/>
            <a:ext cx="1737360" cy="411480"/>
          </a:xfrm>
          <a:prstGeom prst="rect">
            <a:avLst/>
          </a:prstGeom>
          <a:noFill/>
          <a:ln/>
        </p:spPr>
        <p:txBody>
          <a:bodyPr wrap="square" lIns="0" tIns="0" rIns="0" bIns="0" rtlCol="0" anchor="ctr"/>
          <a:lstStyle/>
          <a:p>
            <a:pPr indent="0" marL="0">
              <a:buNone/>
            </a:pPr>
            <a:r>
              <a:rPr lang="en-US" sz="1300" b="1" dirty="0">
                <a:solidFill>
                  <a:schemeClr val="tx1"/>
                </a:solidFill>
              </a:rPr>
              <a:t>차이 확인 0건</a:t>
            </a:r>
            <a:endParaRPr lang="en-US" sz="1300" dirty="0"/>
          </a:p>
        </p:txBody>
      </p:sp>
      <p:sp>
        <p:nvSpPr>
          <p:cNvPr id="15" name="Text 13"/>
          <p:cNvSpPr txBox="1"/>
          <p:nvPr/>
        </p:nvSpPr>
        <p:spPr>
          <a:xfrm>
            <a:off x="2286000" y="4617720"/>
            <a:ext cx="3626968" cy="411480"/>
          </a:xfrm>
          <a:prstGeom prst="rect">
            <a:avLst/>
          </a:prstGeom>
          <a:noFill/>
          <a:ln/>
        </p:spPr>
        <p:txBody>
          <a:bodyPr wrap="square" lIns="0" tIns="0" rIns="0" bIns="0" rtlCol="0" anchor="ctr"/>
          <a:lstStyle/>
          <a:p>
            <a:pPr indent="0" marL="0">
              <a:buNone/>
            </a:pPr>
            <a:r>
              <a:rPr lang="en-US" sz="1250" dirty="0">
                <a:solidFill>
                  <a:schemeClr val="tx2"/>
                </a:solidFill>
              </a:rPr>
              <a:t>0을 제외한 구간이 하나도 없음</a:t>
            </a:r>
            <a:endParaRPr lang="en-US" sz="1250" dirty="0"/>
          </a:p>
        </p:txBody>
      </p:sp>
      <p:sp>
        <p:nvSpPr>
          <p:cNvPr id="16" name="Text 14"/>
          <p:cNvSpPr txBox="1"/>
          <p:nvPr/>
        </p:nvSpPr>
        <p:spPr>
          <a:xfrm>
            <a:off x="548640" y="5257800"/>
            <a:ext cx="5364328" cy="548640"/>
          </a:xfrm>
          <a:prstGeom prst="rect">
            <a:avLst/>
          </a:prstGeom>
          <a:noFill/>
          <a:ln/>
        </p:spPr>
        <p:txBody>
          <a:bodyPr wrap="square" lIns="0" tIns="0" rIns="0" bIns="0" rtlCol="0" anchor="t"/>
          <a:lstStyle/>
          <a:p>
            <a:pPr indent="0" marL="0">
              <a:buNone/>
            </a:pPr>
            <a:r>
              <a:rPr lang="en-US" sz="1100" dirty="0">
                <a:solidFill>
                  <a:schemeClr val="accent3"/>
                </a:solidFill>
              </a:rPr>
              <a:t>12개 구간 Bonferroni(z = 2.865), 16,384 trials. 보조 분석이며 C3 판정을 바꾸지 않는다.</a:t>
            </a:r>
            <a:endParaRPr lang="en-US" sz="1100" dirty="0"/>
          </a:p>
        </p:txBody>
      </p:sp>
      <p:sp>
        <p:nvSpPr>
          <p:cNvPr id="17" name="Text 15"/>
          <p:cNvSpPr txBox="1"/>
          <p:nvPr/>
        </p:nvSpPr>
        <p:spPr>
          <a:xfrm>
            <a:off x="6278728" y="1508760"/>
            <a:ext cx="5364328" cy="365760"/>
          </a:xfrm>
          <a:prstGeom prst="rect">
            <a:avLst/>
          </a:prstGeom>
          <a:noFill/>
          <a:ln/>
        </p:spPr>
        <p:txBody>
          <a:bodyPr wrap="square" lIns="0" tIns="0" rIns="0" bIns="0" rtlCol="0" anchor="t"/>
          <a:lstStyle/>
          <a:p>
            <a:pPr indent="0" marL="0">
              <a:buNone/>
            </a:pPr>
            <a:r>
              <a:rPr lang="en-US" sz="1700" b="1" dirty="0">
                <a:solidFill>
                  <a:schemeClr val="tx1"/>
                </a:solidFill>
              </a:rPr>
              <a:t>C4 · 계산 우위</a:t>
            </a:r>
            <a:endParaRPr lang="en-US" sz="1700" dirty="0"/>
          </a:p>
        </p:txBody>
      </p:sp>
      <p:sp>
        <p:nvSpPr>
          <p:cNvPr id="18" name="Shape 16"/>
          <p:cNvSpPr/>
          <p:nvPr/>
        </p:nvSpPr>
        <p:spPr>
          <a:xfrm>
            <a:off x="6278728" y="1965960"/>
            <a:ext cx="5364328" cy="1783080"/>
          </a:xfrm>
          <a:prstGeom prst="roundRect">
            <a:avLst>
              <a:gd name="adj" fmla="val 4103"/>
            </a:avLst>
          </a:prstGeom>
          <a:solidFill>
            <a:schemeClr val="bg2"/>
          </a:solidFill>
          <a:ln w="9525">
            <a:solidFill>
              <a:schemeClr val="bg2"/>
            </a:solidFill>
            <a:prstDash val="solid"/>
          </a:ln>
        </p:spPr>
      </p:sp>
      <p:sp>
        <p:nvSpPr>
          <p:cNvPr id="19" name="Text 17"/>
          <p:cNvSpPr txBox="1"/>
          <p:nvPr/>
        </p:nvSpPr>
        <p:spPr>
          <a:xfrm>
            <a:off x="6553048" y="2194560"/>
            <a:ext cx="4815688" cy="594360"/>
          </a:xfrm>
          <a:prstGeom prst="rect">
            <a:avLst/>
          </a:prstGeom>
          <a:noFill/>
          <a:ln/>
        </p:spPr>
        <p:txBody>
          <a:bodyPr wrap="square" lIns="0" tIns="0" rIns="0" bIns="0" rtlCol="0" anchor="ctr"/>
          <a:lstStyle/>
          <a:p>
            <a:pPr indent="0" marL="0">
              <a:buNone/>
            </a:pPr>
            <a:r>
              <a:rPr lang="en-US" sz="3600" b="1" dirty="0">
                <a:solidFill>
                  <a:schemeClr val="accent6"/>
                </a:solidFill>
              </a:rPr>
              <a:t>409배</a:t>
            </a:r>
            <a:endParaRPr lang="en-US" sz="3600" dirty="0"/>
          </a:p>
        </p:txBody>
      </p:sp>
      <p:sp>
        <p:nvSpPr>
          <p:cNvPr id="20" name="Text 18"/>
          <p:cNvSpPr txBox="1"/>
          <p:nvPr/>
        </p:nvSpPr>
        <p:spPr>
          <a:xfrm>
            <a:off x="6553048" y="2880360"/>
            <a:ext cx="4815688" cy="640080"/>
          </a:xfrm>
          <a:prstGeom prst="rect">
            <a:avLst/>
          </a:prstGeom>
          <a:noFill/>
          <a:ln/>
        </p:spPr>
        <p:txBody>
          <a:bodyPr wrap="square" lIns="0" tIns="0" rIns="0" bIns="0" rtlCol="0" anchor="t"/>
          <a:lstStyle/>
          <a:p>
            <a:pPr indent="0" marL="0">
              <a:buNone/>
            </a:pPr>
            <a:r>
              <a:rPr lang="en-US" sz="1300" dirty="0">
                <a:solidFill>
                  <a:schemeClr val="accent3"/>
                </a:solidFill>
              </a:rPr>
              <a:t>학습 1 run의 MD5 호출(1,489만 회)로 target 4,096개 전체의 역상표를 만들 수 있는 횟수</a:t>
            </a:r>
            <a:endParaRPr lang="en-US" sz="1300" dirty="0"/>
          </a:p>
        </p:txBody>
      </p:sp>
      <p:sp>
        <p:nvSpPr>
          <p:cNvPr id="21" name="Shape 19"/>
          <p:cNvSpPr/>
          <p:nvPr/>
        </p:nvSpPr>
        <p:spPr>
          <a:xfrm>
            <a:off x="6278728" y="3886200"/>
            <a:ext cx="5364328" cy="1783080"/>
          </a:xfrm>
          <a:prstGeom prst="roundRect">
            <a:avLst>
              <a:gd name="adj" fmla="val 4103"/>
            </a:avLst>
          </a:prstGeom>
          <a:solidFill>
            <a:schemeClr val="bg2"/>
          </a:solidFill>
          <a:ln w="9525">
            <a:solidFill>
              <a:schemeClr val="bg2"/>
            </a:solidFill>
            <a:prstDash val="solid"/>
          </a:ln>
        </p:spPr>
      </p:sp>
      <p:sp>
        <p:nvSpPr>
          <p:cNvPr id="22" name="Text 20"/>
          <p:cNvSpPr txBox="1"/>
          <p:nvPr/>
        </p:nvSpPr>
        <p:spPr>
          <a:xfrm>
            <a:off x="6553048" y="4114800"/>
            <a:ext cx="4815688" cy="594360"/>
          </a:xfrm>
          <a:prstGeom prst="rect">
            <a:avLst/>
          </a:prstGeom>
          <a:noFill/>
          <a:ln/>
        </p:spPr>
        <p:txBody>
          <a:bodyPr wrap="square" lIns="0" tIns="0" rIns="0" bIns="0" rtlCol="0" anchor="ctr"/>
          <a:lstStyle/>
          <a:p>
            <a:pPr indent="0" marL="0">
              <a:buNone/>
            </a:pPr>
            <a:r>
              <a:rPr lang="en-US" sz="2400" b="1" dirty="0">
                <a:solidFill>
                  <a:schemeClr val="accent6"/>
                </a:solidFill>
              </a:rPr>
              <a:t>78배 필요 · 1.02배 관측</a:t>
            </a:r>
            <a:endParaRPr lang="en-US" sz="2400" dirty="0"/>
          </a:p>
        </p:txBody>
      </p:sp>
      <p:sp>
        <p:nvSpPr>
          <p:cNvPr id="23" name="Text 21"/>
          <p:cNvSpPr txBox="1"/>
          <p:nvPr/>
        </p:nvSpPr>
        <p:spPr>
          <a:xfrm>
            <a:off x="6553048" y="4800600"/>
            <a:ext cx="4815688" cy="640080"/>
          </a:xfrm>
          <a:prstGeom prst="rect">
            <a:avLst/>
          </a:prstGeom>
          <a:noFill/>
          <a:ln/>
        </p:spPr>
        <p:txBody>
          <a:bodyPr wrap="square" lIns="0" tIns="0" rIns="0" bIns="0" rtlCol="0" anchor="t"/>
          <a:lstStyle/>
          <a:p>
            <a:pPr indent="0" marL="0">
              <a:buNone/>
            </a:pPr>
            <a:r>
              <a:rPr lang="en-US" sz="1300" dirty="0">
                <a:solidFill>
                  <a:schemeClr val="accent3"/>
                </a:solidFill>
              </a:rPr>
              <a:t>가장 빠른 P-DISC도 질의당 우위를 얻으려면 후보당 성공확률이 78배 올라야 한다</a:t>
            </a:r>
            <a:endParaRPr lang="en-US" sz="1300" dirty="0"/>
          </a:p>
        </p:txBody>
      </p:sp>
      <p:sp>
        <p:nvSpPr>
          <p:cNvPr id="24" name="Text 22"/>
          <p:cNvSpPr txBox="1"/>
          <p:nvPr/>
        </p:nvSpPr>
        <p:spPr>
          <a:xfrm>
            <a:off x="6278728" y="5806440"/>
            <a:ext cx="5364328" cy="320040"/>
          </a:xfrm>
          <a:prstGeom prst="rect">
            <a:avLst/>
          </a:prstGeom>
          <a:noFill/>
          <a:ln/>
        </p:spPr>
        <p:txBody>
          <a:bodyPr wrap="square" lIns="0" tIns="0" rIns="0" bIns="0" rtlCol="0" anchor="ctr"/>
          <a:lstStyle/>
          <a:p>
            <a:pPr indent="0" marL="0">
              <a:buNone/>
            </a:pPr>
            <a:r>
              <a:rPr lang="en-US" sz="1400" dirty="0">
                <a:solidFill>
                  <a:schemeClr val="accent3"/>
                </a:solidFill>
              </a:rPr>
              <a:t>판정  </a:t>
            </a:r>
            <a:pPr indent="0" marL="0">
              <a:buNone/>
            </a:pPr>
            <a:r>
              <a:rPr lang="en-US" sz="1400" b="1" dirty="0">
                <a:solidFill>
                  <a:schemeClr val="accent6"/>
                </a:solidFill>
              </a:rPr>
              <a:t>5개 모두 NO_ADVANTAGE</a:t>
            </a:r>
            <a:endParaRPr lang="en-US" sz="1400" dirty="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결과 · Stage S 규모 탐침</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13배 큰 모델에서도 정보 신호가 없었다</a:t>
            </a:r>
            <a:endParaRPr lang="en-US" sz="3000" dirty="0"/>
          </a:p>
        </p:txBody>
      </p:sp>
      <p:sp>
        <p:nvSpPr>
          <p:cNvPr id="4" name="Shape 2"/>
          <p:cNvSpPr/>
          <p:nvPr/>
        </p:nvSpPr>
        <p:spPr>
          <a:xfrm>
            <a:off x="548640" y="1508760"/>
            <a:ext cx="3515258" cy="1737360"/>
          </a:xfrm>
          <a:prstGeom prst="roundRect">
            <a:avLst>
              <a:gd name="adj" fmla="val 4211"/>
            </a:avLst>
          </a:prstGeom>
          <a:solidFill>
            <a:schemeClr val="bg2"/>
          </a:solidFill>
          <a:ln w="9525">
            <a:solidFill>
              <a:schemeClr val="bg2"/>
            </a:solidFill>
            <a:prstDash val="solid"/>
          </a:ln>
        </p:spPr>
      </p:sp>
      <p:sp>
        <p:nvSpPr>
          <p:cNvPr id="5" name="Text 3"/>
          <p:cNvSpPr txBox="1"/>
          <p:nvPr/>
        </p:nvSpPr>
        <p:spPr>
          <a:xfrm>
            <a:off x="822960" y="1737360"/>
            <a:ext cx="2966618" cy="594360"/>
          </a:xfrm>
          <a:prstGeom prst="rect">
            <a:avLst/>
          </a:prstGeom>
          <a:noFill/>
          <a:ln/>
        </p:spPr>
        <p:txBody>
          <a:bodyPr wrap="square" lIns="0" tIns="0" rIns="0" bIns="0" rtlCol="0" anchor="ctr"/>
          <a:lstStyle/>
          <a:p>
            <a:pPr indent="0" marL="0">
              <a:buNone/>
            </a:pPr>
            <a:r>
              <a:rPr lang="en-US" sz="3600" b="1" dirty="0">
                <a:solidFill>
                  <a:schemeClr val="accent6"/>
                </a:solidFill>
              </a:rPr>
              <a:t>6.42M</a:t>
            </a:r>
            <a:endParaRPr lang="en-US" sz="3600" dirty="0"/>
          </a:p>
        </p:txBody>
      </p:sp>
      <p:sp>
        <p:nvSpPr>
          <p:cNvPr id="6" name="Text 4"/>
          <p:cNvSpPr txBox="1"/>
          <p:nvPr/>
        </p:nvSpPr>
        <p:spPr>
          <a:xfrm>
            <a:off x="822960" y="242316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D1-T-L 파라미터 수. P-DISC의 D1-S(0.51M)보다 약 13배</a:t>
            </a:r>
            <a:endParaRPr lang="en-US" sz="1300" dirty="0"/>
          </a:p>
        </p:txBody>
      </p:sp>
      <p:sp>
        <p:nvSpPr>
          <p:cNvPr id="7" name="Shape 5"/>
          <p:cNvSpPr/>
          <p:nvPr/>
        </p:nvSpPr>
        <p:spPr>
          <a:xfrm>
            <a:off x="4338218" y="1508760"/>
            <a:ext cx="3515258" cy="1737360"/>
          </a:xfrm>
          <a:prstGeom prst="roundRect">
            <a:avLst>
              <a:gd name="adj" fmla="val 4211"/>
            </a:avLst>
          </a:prstGeom>
          <a:solidFill>
            <a:schemeClr val="bg2"/>
          </a:solidFill>
          <a:ln w="9525">
            <a:solidFill>
              <a:schemeClr val="bg2"/>
            </a:solidFill>
            <a:prstDash val="solid"/>
          </a:ln>
        </p:spPr>
      </p:sp>
      <p:sp>
        <p:nvSpPr>
          <p:cNvPr id="8" name="Text 6"/>
          <p:cNvSpPr txBox="1"/>
          <p:nvPr/>
        </p:nvSpPr>
        <p:spPr>
          <a:xfrm>
            <a:off x="4612538" y="1737360"/>
            <a:ext cx="2966618" cy="594360"/>
          </a:xfrm>
          <a:prstGeom prst="rect">
            <a:avLst/>
          </a:prstGeom>
          <a:noFill/>
          <a:ln/>
        </p:spPr>
        <p:txBody>
          <a:bodyPr wrap="square" lIns="0" tIns="0" rIns="0" bIns="0" rtlCol="0" anchor="ctr"/>
          <a:lstStyle/>
          <a:p>
            <a:pPr indent="0" marL="0">
              <a:buNone/>
            </a:pPr>
            <a:r>
              <a:rPr lang="en-US" sz="3600" b="1" dirty="0">
                <a:solidFill>
                  <a:schemeClr val="accent6"/>
                </a:solidFill>
              </a:rPr>
              <a:t>160k updates</a:t>
            </a:r>
            <a:endParaRPr lang="en-US" sz="3600" dirty="0"/>
          </a:p>
        </p:txBody>
      </p:sp>
      <p:sp>
        <p:nvSpPr>
          <p:cNvPr id="9" name="Text 7"/>
          <p:cNvSpPr txBox="1"/>
          <p:nvPr/>
        </p:nvSpPr>
        <p:spPr>
          <a:xfrm>
            <a:off x="4612538" y="242316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새 학습 쌍 4,096만 개. Stage C의 4배</a:t>
            </a:r>
            <a:endParaRPr lang="en-US" sz="1300" dirty="0"/>
          </a:p>
        </p:txBody>
      </p:sp>
      <p:sp>
        <p:nvSpPr>
          <p:cNvPr id="10" name="Shape 8"/>
          <p:cNvSpPr/>
          <p:nvPr/>
        </p:nvSpPr>
        <p:spPr>
          <a:xfrm>
            <a:off x="8127797" y="1508760"/>
            <a:ext cx="3515258" cy="1737360"/>
          </a:xfrm>
          <a:prstGeom prst="roundRect">
            <a:avLst>
              <a:gd name="adj" fmla="val 4211"/>
            </a:avLst>
          </a:prstGeom>
          <a:solidFill>
            <a:schemeClr val="bg2"/>
          </a:solidFill>
          <a:ln w="9525">
            <a:solidFill>
              <a:schemeClr val="bg2"/>
            </a:solidFill>
            <a:prstDash val="solid"/>
          </a:ln>
        </p:spPr>
      </p:sp>
      <p:sp>
        <p:nvSpPr>
          <p:cNvPr id="11" name="Text 9"/>
          <p:cNvSpPr txBox="1"/>
          <p:nvPr/>
        </p:nvSpPr>
        <p:spPr>
          <a:xfrm>
            <a:off x="8402117" y="1737360"/>
            <a:ext cx="2966618" cy="594360"/>
          </a:xfrm>
          <a:prstGeom prst="rect">
            <a:avLst/>
          </a:prstGeom>
          <a:noFill/>
          <a:ln/>
        </p:spPr>
        <p:txBody>
          <a:bodyPr wrap="square" lIns="0" tIns="0" rIns="0" bIns="0" rtlCol="0" anchor="ctr"/>
          <a:lstStyle/>
          <a:p>
            <a:pPr indent="0" marL="0">
              <a:buNone/>
            </a:pPr>
            <a:r>
              <a:rPr lang="en-US" sz="3600" b="1" dirty="0">
                <a:solidFill>
                  <a:schemeClr val="accent6"/>
                </a:solidFill>
              </a:rPr>
              <a:t>z = −0.28</a:t>
            </a:r>
            <a:endParaRPr lang="en-US" sz="3600" dirty="0"/>
          </a:p>
        </p:txBody>
      </p:sp>
      <p:sp>
        <p:nvSpPr>
          <p:cNvPr id="12" name="Text 10"/>
          <p:cNvSpPr txBox="1"/>
          <p:nvPr/>
        </p:nvSpPr>
        <p:spPr>
          <a:xfrm>
            <a:off x="8402117" y="2423160"/>
            <a:ext cx="2966618" cy="594360"/>
          </a:xfrm>
          <a:prstGeom prst="rect">
            <a:avLst/>
          </a:prstGeom>
          <a:noFill/>
          <a:ln/>
        </p:spPr>
        <p:txBody>
          <a:bodyPr wrap="square" lIns="0" tIns="0" rIns="0" bIns="0" rtlCol="0" anchor="t"/>
          <a:lstStyle/>
          <a:p>
            <a:pPr indent="0" marL="0">
              <a:buNone/>
            </a:pPr>
            <a:r>
              <a:rPr lang="en-US" sz="1300" dirty="0">
                <a:solidFill>
                  <a:schemeClr val="accent3"/>
                </a:solidFill>
              </a:rPr>
              <a:t>MD5-64 CLP. SCALE_SIGNAL 기준 3.29에 못 미친다</a:t>
            </a:r>
            <a:endParaRPr lang="en-US" sz="1300" dirty="0"/>
          </a:p>
        </p:txBody>
      </p:sp>
      <p:graphicFrame>
        <p:nvGraphicFramePr>
          <p:cNvPr id="13" name="Chart 0" descr=""/>
          <p:cNvGraphicFramePr/>
          <p:nvPr/>
        </p:nvGraphicFramePr>
        <p:xfrm>
          <a:off x="548640" y="3520440"/>
          <a:ext cx="6949440" cy="265176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7772400" y="3520440"/>
            <a:ext cx="3870655" cy="2651760"/>
          </a:xfrm>
          <a:prstGeom prst="roundRect">
            <a:avLst>
              <a:gd name="adj" fmla="val 2759"/>
            </a:avLst>
          </a:prstGeom>
          <a:solidFill>
            <a:schemeClr val="bg2"/>
          </a:solidFill>
          <a:ln w="9525">
            <a:solidFill>
              <a:schemeClr val="bg2"/>
            </a:solidFill>
            <a:prstDash val="solid"/>
          </a:ln>
        </p:spPr>
      </p:sp>
      <p:sp>
        <p:nvSpPr>
          <p:cNvPr id="15" name="Text 12"/>
          <p:cNvSpPr txBox="1"/>
          <p:nvPr/>
        </p:nvSpPr>
        <p:spPr>
          <a:xfrm>
            <a:off x="8001000" y="3703320"/>
            <a:ext cx="3429000" cy="320040"/>
          </a:xfrm>
          <a:prstGeom prst="rect">
            <a:avLst/>
          </a:prstGeom>
          <a:noFill/>
          <a:ln/>
        </p:spPr>
        <p:txBody>
          <a:bodyPr wrap="square" lIns="0" tIns="0" rIns="0" bIns="0" rtlCol="0" anchor="t"/>
          <a:lstStyle/>
          <a:p>
            <a:pPr indent="0" marL="0">
              <a:buNone/>
            </a:pPr>
            <a:r>
              <a:rPr lang="en-US" sz="1400" b="1" dirty="0">
                <a:solidFill>
                  <a:schemeClr val="tx1"/>
                </a:solidFill>
              </a:rPr>
              <a:t>'더 큰 모델이면?'에 대한 답</a:t>
            </a:r>
            <a:endParaRPr lang="en-US" sz="1400" dirty="0"/>
          </a:p>
        </p:txBody>
      </p:sp>
      <p:sp>
        <p:nvSpPr>
          <p:cNvPr id="16" name="Text 13"/>
          <p:cNvSpPr txBox="1"/>
          <p:nvPr/>
        </p:nvSpPr>
        <p:spPr>
          <a:xfrm>
            <a:off x="8001000" y="4114800"/>
            <a:ext cx="3429000" cy="1920240"/>
          </a:xfrm>
          <a:prstGeom prst="rect">
            <a:avLst/>
          </a:prstGeom>
          <a:noFill/>
          <a:ln/>
        </p:spPr>
        <p:txBody>
          <a:bodyPr wrap="square" lIns="0" tIns="0" rIns="0" bIns="0" rtlCol="0" anchor="t"/>
          <a:lstStyle/>
          <a:p>
            <a:pPr indent="0" marL="0">
              <a:lnSpc>
                <a:spcPct val="112000"/>
              </a:lnSpc>
              <a:buNone/>
            </a:pPr>
            <a:r>
              <a:rPr lang="en-US" sz="1250" dirty="0">
                <a:solidFill>
                  <a:schemeClr val="tx2"/>
                </a:solidFill>
              </a:rPr>
              <a:t>모델을 13배, 학습을 4배로 키워도 CLP는 0과 구별되지 않았고 세 성공률 모두 이론값 2.412% 근처였다. Stage S는 보조 단계로 C3 판정을 바꾸지 않는다.</a:t>
            </a:r>
            <a:endParaRPr lang="en-US" sz="1250" dirty="0"/>
          </a:p>
        </p:txBody>
      </p:sp>
      <p:sp>
        <p:nvSpPr>
          <p:cNvPr id="17"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3657600" cy="1097280"/>
          </a:xfrm>
          <a:prstGeom prst="rect">
            <a:avLst/>
          </a:prstGeom>
          <a:noFill/>
          <a:ln/>
        </p:spPr>
        <p:txBody>
          <a:bodyPr wrap="square" lIns="0" tIns="0" rIns="0" bIns="0" rtlCol="0"/>
          <a:lstStyle/>
          <a:p>
            <a:pPr indent="0" marL="0">
              <a:buNone/>
            </a:pPr>
            <a:r>
              <a:rPr lang="en-US" sz="6600" b="1" dirty="0">
                <a:solidFill>
                  <a:schemeClr val="accent1"/>
                </a:solidFill>
              </a:rPr>
              <a:t>04</a:t>
            </a:r>
            <a:endParaRPr lang="en-US" sz="6600" dirty="0"/>
          </a:p>
        </p:txBody>
      </p:sp>
      <p:sp>
        <p:nvSpPr>
          <p:cNvPr id="3" name="Text 0"/>
          <p:cNvSpPr/>
          <p:nvPr>
            <p:ph idx="101" type="title" hasCustomPrompt="1"/>
          </p:nvPr>
        </p:nvSpPr>
        <p:spPr>
          <a:xfrm>
            <a:off x="731520" y="3017520"/>
            <a:ext cx="10698480" cy="914400"/>
          </a:xfrm>
          <a:prstGeom prst="rect">
            <a:avLst/>
          </a:prstGeom>
          <a:noFill/>
          <a:ln/>
        </p:spPr>
        <p:txBody>
          <a:bodyPr wrap="square" lIns="0" tIns="0" rIns="0" bIns="0" rtlCol="0" anchor="t"/>
          <a:lstStyle/>
          <a:p>
            <a:pPr algn="l" indent="0" marL="0">
              <a:buNone/>
            </a:pPr>
            <a:r>
              <a:rPr lang="en-US" sz="4000" b="1" dirty="0">
                <a:solidFill>
                  <a:schemeClr val="bg1"/>
                </a:solidFill>
              </a:rPr>
              <a:t>결론</a:t>
            </a:r>
            <a:endParaRPr lang="en-US" sz="4000" dirty="0"/>
          </a:p>
        </p:txBody>
      </p:sp>
      <p:sp>
        <p:nvSpPr>
          <p:cNvPr id="4" name="Text 0"/>
          <p:cNvSpPr/>
          <p:nvPr>
            <p:ph idx="102" type="body" hasCustomPrompt="1"/>
          </p:nvPr>
        </p:nvSpPr>
        <p:spPr>
          <a:xfrm>
            <a:off x="731520" y="4069080"/>
            <a:ext cx="10698480" cy="1097280"/>
          </a:xfrm>
          <a:prstGeom prst="rect">
            <a:avLst/>
          </a:prstGeom>
          <a:noFill/>
          <a:ln/>
        </p:spPr>
        <p:txBody>
          <a:bodyPr wrap="square" lIns="0" tIns="0" rIns="0" bIns="0" rtlCol="0" anchor="t"/>
          <a:lstStyle/>
          <a:p>
            <a:pPr indent="0" marL="0">
              <a:buNone/>
            </a:pPr>
            <a:r>
              <a:rPr lang="en-US" sz="1800" dirty="0">
                <a:solidFill>
                  <a:schemeClr val="accent5"/>
                </a:solidFill>
              </a:rPr>
              <a:t>무엇을 말할 수 있는가 — 종합 판정, 예측과의 비교, 설계의 효과, 적용 범위</a:t>
            </a:r>
            <a:endParaRPr lang="en-US" sz="1800" dirty="0"/>
          </a:p>
        </p:txBody>
      </p:sp>
      <p:sp>
        <p:nvSpPr>
          <p:cNvPr id="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731520" y="914400"/>
            <a:ext cx="10698480" cy="365760"/>
          </a:xfrm>
          <a:prstGeom prst="rect">
            <a:avLst/>
          </a:prstGeom>
          <a:noFill/>
          <a:ln/>
        </p:spPr>
        <p:txBody>
          <a:bodyPr wrap="square" lIns="0" tIns="0" rIns="0" bIns="0" rtlCol="0"/>
          <a:lstStyle/>
          <a:p>
            <a:pPr indent="0" marL="0">
              <a:buNone/>
            </a:pPr>
            <a:r>
              <a:rPr lang="en-US" sz="1400" b="1" dirty="0">
                <a:solidFill>
                  <a:schemeClr val="accent1"/>
                </a:solidFill>
              </a:rPr>
              <a:t>종합 결론 · FINAL_REJECTED</a:t>
            </a:r>
            <a:endParaRPr lang="en-US" sz="1400" dirty="0"/>
          </a:p>
        </p:txBody>
      </p:sp>
      <p:sp>
        <p:nvSpPr>
          <p:cNvPr id="3" name="Text 0"/>
          <p:cNvSpPr/>
          <p:nvPr>
            <p:ph idx="101" type="title" hasCustomPrompt="1"/>
          </p:nvPr>
        </p:nvSpPr>
        <p:spPr>
          <a:xfrm>
            <a:off x="731520" y="1371600"/>
            <a:ext cx="10698480" cy="1737360"/>
          </a:xfrm>
          <a:prstGeom prst="rect">
            <a:avLst/>
          </a:prstGeom>
          <a:noFill/>
          <a:ln/>
        </p:spPr>
        <p:txBody>
          <a:bodyPr wrap="square" lIns="0" tIns="0" rIns="0" bIns="0" rtlCol="0" anchor="t"/>
          <a:lstStyle/>
          <a:p>
            <a:pPr algn="l" indent="0" marL="0">
              <a:buNone/>
            </a:pPr>
            <a:r>
              <a:rPr lang="en-US" sz="3600" b="1" dirty="0">
                <a:solidFill>
                  <a:schemeClr val="bg1"/>
                </a:solidFill>
              </a:rPr>
              <a:t>기계는 구조가 있으면 이용했다.</a:t>
            </a:r>
            <a:endParaRPr lang="en-US" sz="3600" dirty="0"/>
          </a:p>
          <a:p>
            <a:pPr algn="l" indent="0" marL="0">
              <a:buNone/>
            </a:pPr>
            <a:r>
              <a:rPr lang="en-US" sz="3600" b="1" dirty="0">
                <a:solidFill>
                  <a:schemeClr val="bg1"/>
                </a:solidFill>
              </a:rPr>
              <a:t>Full MD5에는 이용할 구조가 없었다.</a:t>
            </a:r>
            <a:endParaRPr lang="en-US" sz="3600" dirty="0"/>
          </a:p>
        </p:txBody>
      </p:sp>
      <p:sp>
        <p:nvSpPr>
          <p:cNvPr id="4" name="Shape 2"/>
          <p:cNvSpPr/>
          <p:nvPr/>
        </p:nvSpPr>
        <p:spPr>
          <a:xfrm>
            <a:off x="731520" y="3566160"/>
            <a:ext cx="3393338" cy="2377440"/>
          </a:xfrm>
          <a:prstGeom prst="roundRect">
            <a:avLst>
              <a:gd name="adj" fmla="val 3077"/>
            </a:avLst>
          </a:prstGeom>
          <a:solidFill>
            <a:schemeClr val="tx2"/>
          </a:solidFill>
          <a:ln w="9525">
            <a:solidFill>
              <a:schemeClr val="tx2"/>
            </a:solidFill>
            <a:prstDash val="solid"/>
          </a:ln>
        </p:spPr>
      </p:sp>
      <p:sp>
        <p:nvSpPr>
          <p:cNvPr id="5" name="Shape 3"/>
          <p:cNvSpPr/>
          <p:nvPr/>
        </p:nvSpPr>
        <p:spPr>
          <a:xfrm>
            <a:off x="1005840" y="3794760"/>
            <a:ext cx="457200" cy="457200"/>
          </a:xfrm>
          <a:prstGeom prst="ellipse">
            <a:avLst/>
          </a:prstGeom>
          <a:solidFill>
            <a:schemeClr val="accent1"/>
          </a:solidFill>
          <a:ln w="9525">
            <a:solidFill>
              <a:schemeClr val="accent1"/>
            </a:solidFill>
            <a:prstDash val="solid"/>
          </a:ln>
        </p:spPr>
      </p:sp>
      <p:sp>
        <p:nvSpPr>
          <p:cNvPr id="6" name="Text 4"/>
          <p:cNvSpPr txBox="1"/>
          <p:nvPr/>
        </p:nvSpPr>
        <p:spPr>
          <a:xfrm>
            <a:off x="1005840"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005840" y="4389120"/>
            <a:ext cx="2844698" cy="411480"/>
          </a:xfrm>
          <a:prstGeom prst="rect">
            <a:avLst/>
          </a:prstGeom>
          <a:noFill/>
          <a:ln/>
        </p:spPr>
        <p:txBody>
          <a:bodyPr wrap="square" lIns="0" tIns="0" rIns="0" bIns="0" rtlCol="0" anchor="t"/>
          <a:lstStyle/>
          <a:p>
            <a:pPr indent="0" marL="0">
              <a:buNone/>
            </a:pPr>
            <a:r>
              <a:rPr lang="en-US" sz="1800" b="1" dirty="0">
                <a:solidFill>
                  <a:schemeClr val="accent1"/>
                </a:solidFill>
              </a:rPr>
              <a:t>C1 · 작동한다</a:t>
            </a:r>
            <a:endParaRPr lang="en-US" sz="1800" dirty="0"/>
          </a:p>
        </p:txBody>
      </p:sp>
      <p:sp>
        <p:nvSpPr>
          <p:cNvPr id="8" name="Text 6"/>
          <p:cNvSpPr txBox="1"/>
          <p:nvPr/>
        </p:nvSpPr>
        <p:spPr>
          <a:xfrm>
            <a:off x="1005840" y="4846320"/>
            <a:ext cx="2844698" cy="1005840"/>
          </a:xfrm>
          <a:prstGeom prst="rect">
            <a:avLst/>
          </a:prstGeom>
          <a:noFill/>
          <a:ln/>
        </p:spPr>
        <p:txBody>
          <a:bodyPr wrap="square" lIns="0" tIns="0" rIns="0" bIns="0" rtlCol="0" anchor="t"/>
          <a:lstStyle/>
          <a:p>
            <a:pPr indent="0" marL="0">
              <a:lnSpc>
                <a:spcPct val="112000"/>
              </a:lnSpc>
              <a:buNone/>
            </a:pPr>
            <a:r>
              <a:rPr lang="en-US" sz="1350" dirty="0">
                <a:solidFill>
                  <a:schemeClr val="bg1"/>
                </a:solidFill>
              </a:rPr>
              <a:t>synthetic 조건에서 15/15 run이 512/512. CLP z 100 이상</a:t>
            </a:r>
            <a:endParaRPr lang="en-US" sz="1350" dirty="0"/>
          </a:p>
        </p:txBody>
      </p:sp>
      <p:sp>
        <p:nvSpPr>
          <p:cNvPr id="9" name="Shape 7"/>
          <p:cNvSpPr/>
          <p:nvPr/>
        </p:nvSpPr>
        <p:spPr>
          <a:xfrm>
            <a:off x="4399178" y="3566160"/>
            <a:ext cx="3393338" cy="2377440"/>
          </a:xfrm>
          <a:prstGeom prst="roundRect">
            <a:avLst>
              <a:gd name="adj" fmla="val 3077"/>
            </a:avLst>
          </a:prstGeom>
          <a:solidFill>
            <a:schemeClr val="tx2"/>
          </a:solidFill>
          <a:ln w="9525">
            <a:solidFill>
              <a:schemeClr val="tx2"/>
            </a:solidFill>
            <a:prstDash val="solid"/>
          </a:ln>
        </p:spPr>
      </p:sp>
      <p:sp>
        <p:nvSpPr>
          <p:cNvPr id="10" name="Shape 8"/>
          <p:cNvSpPr/>
          <p:nvPr/>
        </p:nvSpPr>
        <p:spPr>
          <a:xfrm>
            <a:off x="4673498" y="3794760"/>
            <a:ext cx="457200" cy="457200"/>
          </a:xfrm>
          <a:prstGeom prst="ellipse">
            <a:avLst/>
          </a:prstGeom>
          <a:solidFill>
            <a:schemeClr val="accent1"/>
          </a:solidFill>
          <a:ln w="9525">
            <a:solidFill>
              <a:schemeClr val="accent1"/>
            </a:solidFill>
            <a:prstDash val="solid"/>
          </a:ln>
        </p:spPr>
      </p:sp>
      <p:sp>
        <p:nvSpPr>
          <p:cNvPr id="11" name="Text 9"/>
          <p:cNvSpPr txBox="1"/>
          <p:nvPr/>
        </p:nvSpPr>
        <p:spPr>
          <a:xfrm>
            <a:off x="4673498"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4673498" y="4389120"/>
            <a:ext cx="2844698" cy="411480"/>
          </a:xfrm>
          <a:prstGeom prst="rect">
            <a:avLst/>
          </a:prstGeom>
          <a:noFill/>
          <a:ln/>
        </p:spPr>
        <p:txBody>
          <a:bodyPr wrap="square" lIns="0" tIns="0" rIns="0" bIns="0" rtlCol="0" anchor="t"/>
          <a:lstStyle/>
          <a:p>
            <a:pPr indent="0" marL="0">
              <a:buNone/>
            </a:pPr>
            <a:r>
              <a:rPr lang="en-US" sz="1800" b="1" dirty="0">
                <a:solidFill>
                  <a:schemeClr val="accent1"/>
                </a:solidFill>
              </a:rPr>
              <a:t>C2 · 구조를 쓴다</a:t>
            </a:r>
            <a:endParaRPr lang="en-US" sz="1800" dirty="0"/>
          </a:p>
        </p:txBody>
      </p:sp>
      <p:sp>
        <p:nvSpPr>
          <p:cNvPr id="13" name="Text 11"/>
          <p:cNvSpPr txBox="1"/>
          <p:nvPr/>
        </p:nvSpPr>
        <p:spPr>
          <a:xfrm>
            <a:off x="4673498" y="4846320"/>
            <a:ext cx="2844698" cy="1005840"/>
          </a:xfrm>
          <a:prstGeom prst="rect">
            <a:avLst/>
          </a:prstGeom>
          <a:noFill/>
          <a:ln/>
        </p:spPr>
        <p:txBody>
          <a:bodyPr wrap="square" lIns="0" tIns="0" rIns="0" bIns="0" rtlCol="0" anchor="t"/>
          <a:lstStyle/>
          <a:p>
            <a:pPr indent="0" marL="0">
              <a:lnSpc>
                <a:spcPct val="112000"/>
              </a:lnSpc>
              <a:buNone/>
            </a:pPr>
            <a:r>
              <a:rPr lang="en-US" sz="1350" dirty="0">
                <a:solidFill>
                  <a:schemeClr val="bg1"/>
                </a:solidFill>
              </a:rPr>
              <a:t>r=4에서 Random Bytes는 약 100%, Printable은 도달 가능한 739개를 모두 맞힘</a:t>
            </a:r>
            <a:endParaRPr lang="en-US" sz="1350" dirty="0"/>
          </a:p>
        </p:txBody>
      </p:sp>
      <p:sp>
        <p:nvSpPr>
          <p:cNvPr id="14" name="Shape 12"/>
          <p:cNvSpPr/>
          <p:nvPr/>
        </p:nvSpPr>
        <p:spPr>
          <a:xfrm>
            <a:off x="8066837" y="3566160"/>
            <a:ext cx="3393338" cy="2377440"/>
          </a:xfrm>
          <a:prstGeom prst="roundRect">
            <a:avLst>
              <a:gd name="adj" fmla="val 3077"/>
            </a:avLst>
          </a:prstGeom>
          <a:solidFill>
            <a:schemeClr val="tx2"/>
          </a:solidFill>
          <a:ln w="9525">
            <a:solidFill>
              <a:schemeClr val="tx2"/>
            </a:solidFill>
            <a:prstDash val="solid"/>
          </a:ln>
        </p:spPr>
      </p:sp>
      <p:sp>
        <p:nvSpPr>
          <p:cNvPr id="15" name="Shape 13"/>
          <p:cNvSpPr/>
          <p:nvPr/>
        </p:nvSpPr>
        <p:spPr>
          <a:xfrm>
            <a:off x="8341157" y="3794760"/>
            <a:ext cx="457200" cy="457200"/>
          </a:xfrm>
          <a:prstGeom prst="ellipse">
            <a:avLst/>
          </a:prstGeom>
          <a:solidFill>
            <a:schemeClr val="accent1"/>
          </a:solidFill>
          <a:ln w="9525">
            <a:solidFill>
              <a:schemeClr val="accent1"/>
            </a:solidFill>
            <a:prstDash val="solid"/>
          </a:ln>
        </p:spPr>
      </p:sp>
      <p:sp>
        <p:nvSpPr>
          <p:cNvPr id="16" name="Text 14"/>
          <p:cNvSpPr txBox="1"/>
          <p:nvPr/>
        </p:nvSpPr>
        <p:spPr>
          <a:xfrm>
            <a:off x="8341157" y="37947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5"/>
          <p:cNvSpPr txBox="1"/>
          <p:nvPr/>
        </p:nvSpPr>
        <p:spPr>
          <a:xfrm>
            <a:off x="8341157" y="4389120"/>
            <a:ext cx="2844698" cy="411480"/>
          </a:xfrm>
          <a:prstGeom prst="rect">
            <a:avLst/>
          </a:prstGeom>
          <a:noFill/>
          <a:ln/>
        </p:spPr>
        <p:txBody>
          <a:bodyPr wrap="square" lIns="0" tIns="0" rIns="0" bIns="0" rtlCol="0" anchor="t"/>
          <a:lstStyle/>
          <a:p>
            <a:pPr indent="0" marL="0">
              <a:buNone/>
            </a:pPr>
            <a:r>
              <a:rPr lang="en-US" sz="1800" b="1" dirty="0">
                <a:solidFill>
                  <a:schemeClr val="accent1"/>
                </a:solidFill>
              </a:rPr>
              <a:t>C3 · MD5에는 없다</a:t>
            </a:r>
            <a:endParaRPr lang="en-US" sz="1800" dirty="0"/>
          </a:p>
        </p:txBody>
      </p:sp>
      <p:sp>
        <p:nvSpPr>
          <p:cNvPr id="18" name="Text 16"/>
          <p:cNvSpPr txBox="1"/>
          <p:nvPr/>
        </p:nvSpPr>
        <p:spPr>
          <a:xfrm>
            <a:off x="8341157" y="4846320"/>
            <a:ext cx="2844698" cy="1005840"/>
          </a:xfrm>
          <a:prstGeom prst="rect">
            <a:avLst/>
          </a:prstGeom>
          <a:noFill/>
          <a:ln/>
        </p:spPr>
        <p:txBody>
          <a:bodyPr wrap="square" lIns="0" tIns="0" rIns="0" bIns="0" rtlCol="0" anchor="t"/>
          <a:lstStyle/>
          <a:p>
            <a:pPr indent="0" marL="0">
              <a:lnSpc>
                <a:spcPct val="112000"/>
              </a:lnSpc>
              <a:buNone/>
            </a:pPr>
            <a:r>
              <a:rPr lang="en-US" sz="1350" dirty="0">
                <a:solidFill>
                  <a:schemeClr val="bg1"/>
                </a:solidFill>
              </a:rPr>
              <a:t>이득 상한 최대 +0.378%p로 δ 0.5%p 미만. CLP z는 0 근처</a:t>
            </a:r>
            <a:endParaRPr lang="en-US" sz="1350" dirty="0"/>
          </a:p>
        </p:txBody>
      </p:sp>
      <p:sp>
        <p:nvSpPr>
          <p:cNvPr id="19"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C2D3DA"/>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결론 · 사전 예측과 비교</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등록해 둔 사전 예측이 그대로 확인되었다</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920240"/>
                <a:gridCol w="3566160"/>
                <a:gridCol w="3566160"/>
                <a:gridCol w="2041855"/>
              </a:tblGrid>
              <a:tr h="429768">
                <a:tc>
                  <a:txBody>
                    <a:bodyPr/>
                    <a:lstStyle/>
                    <a:p>
                      <a:pPr indent="0" marL="0">
                        <a:buNone/>
                      </a:pPr>
                      <a:r>
                        <a:rPr lang="en-US" sz="1300" b="1" dirty="0">
                          <a:solidFill>
                            <a:schemeClr val="bg1"/>
                          </a:solidFill>
                        </a:rPr>
                        <a:t>항목</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사전 예측 (2026-09-29)</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실제 결과 (2026-10-03)</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비교</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1"/>
                          </a:solidFill>
                        </a:rPr>
                        <a:t>C1 기계</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5개 모두 PASS</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5개 모두 PASS (15/15 run 512/512)</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C3 연구 가설</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5개 모두 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5개 모두 REJECTED_BOUNDED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이득 상한</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약 0.25–0.30%p</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+0.117 … +0.378%p</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6"/>
                          </a:solidFill>
                        </a:rPr>
                        <a:t>조금 넓음 (look 2 중단)</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C2 구조 이용</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대부분 GEN_4, 불확실성 큼</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5개 모두 GEN_4 · INFO_4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예측보다 강함</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CLP_64</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무신호</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z = −0.36 … 0.32</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C4 계산 우위</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모두 NO_ADVANTAGE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모두 NO_ADVANTAGE</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중단 시점</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look 2 (효과가 없을 때 81.7%)</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look 2</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r h="429768">
                <a:tc>
                  <a:txBody>
                    <a:bodyPr/>
                    <a:lstStyle/>
                    <a:p>
                      <a:pPr indent="0" marL="0">
                        <a:buNone/>
                      </a:pPr>
                      <a:r>
                        <a:rPr lang="en-US" sz="1300" b="1" dirty="0">
                          <a:solidFill>
                            <a:schemeClr val="tx1"/>
                          </a:solidFill>
                        </a:rPr>
                        <a:t>종합</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FINAL_REJECTED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dirty="0">
                          <a:solidFill>
                            <a:schemeClr val="tx1"/>
                          </a:solidFill>
                        </a:rPr>
                        <a:t>FINAL_REJECTED</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c>
                  <a:txBody>
                    <a:bodyPr/>
                    <a:lstStyle/>
                    <a:p>
                      <a:pPr indent="0" marL="0">
                        <a:buNone/>
                      </a:pPr>
                      <a:r>
                        <a:rPr lang="en-US" sz="1300" b="1" dirty="0">
                          <a:solidFill>
                            <a:schemeClr val="accent2"/>
                          </a:solidFill>
                        </a:rPr>
                        <a:t>일치</a:t>
                      </a:r>
                      <a:endParaRPr lang="en-US" sz="13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tcPr>
                </a:tc>
              </a:tr>
            </a:tbl>
          </a:graphicData>
        </a:graphic>
      </p:graphicFrame>
      <p:sp>
        <p:nvSpPr>
          <p:cNvPr id="5" name="Text 2"/>
          <p:cNvSpPr txBox="1"/>
          <p:nvPr/>
        </p:nvSpPr>
        <p:spPr>
          <a:xfrm>
            <a:off x="548640" y="5623560"/>
            <a:ext cx="11094415" cy="548640"/>
          </a:xfrm>
          <a:prstGeom prst="rect">
            <a:avLst/>
          </a:prstGeom>
          <a:noFill/>
          <a:ln/>
        </p:spPr>
        <p:txBody>
          <a:bodyPr wrap="square" lIns="0" tIns="0" rIns="0" bIns="0" rtlCol="0" anchor="t"/>
          <a:lstStyle/>
          <a:p>
            <a:pPr indent="0" marL="0">
              <a:lnSpc>
                <a:spcPct val="110000"/>
              </a:lnSpc>
              <a:buNone/>
            </a:pPr>
            <a:r>
              <a:rPr lang="en-US" sz="1250" dirty="0">
                <a:solidFill>
                  <a:schemeClr val="tx2"/>
                </a:solidFill>
              </a:rPr>
              <a:t>예측은 판정 규칙과 무관하게 계획서 §0에 기록했다. V6의 목적은 예측을 기계 결함·검정력 부족·예산 부족이라는 반론이 닿지 않는 형태로 확정하는 것이었다.</a:t>
            </a:r>
            <a:endParaRPr lang="en-US" sz="1250" dirty="0"/>
          </a:p>
        </p:txBody>
      </p:sp>
      <p:sp>
        <p:nvSpPr>
          <p:cNvPr id="6"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결론 · V6 설계의 효과</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V6 설계가 이전의 실패 원인을 막았다</a:t>
            </a:r>
            <a:endParaRPr lang="en-US" sz="3000" dirty="0"/>
          </a:p>
        </p:txBody>
      </p:sp>
      <p:sp>
        <p:nvSpPr>
          <p:cNvPr id="4" name="Text 2"/>
          <p:cNvSpPr txBox="1"/>
          <p:nvPr/>
        </p:nvSpPr>
        <p:spPr>
          <a:xfrm>
            <a:off x="548640" y="148132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이전의 문제</a:t>
            </a:r>
            <a:endParaRPr lang="en-US" sz="1200" dirty="0"/>
          </a:p>
        </p:txBody>
      </p:sp>
      <p:sp>
        <p:nvSpPr>
          <p:cNvPr id="5" name="Text 3"/>
          <p:cNvSpPr txBox="1"/>
          <p:nvPr/>
        </p:nvSpPr>
        <p:spPr>
          <a:xfrm>
            <a:off x="4343400" y="148132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V6의 대응</a:t>
            </a:r>
            <a:endParaRPr lang="en-US" sz="1200" dirty="0"/>
          </a:p>
        </p:txBody>
      </p:sp>
      <p:sp>
        <p:nvSpPr>
          <p:cNvPr id="6" name="Text 4"/>
          <p:cNvSpPr txBox="1"/>
          <p:nvPr/>
        </p:nvSpPr>
        <p:spPr>
          <a:xfrm>
            <a:off x="8366760" y="1481328"/>
            <a:ext cx="3200400" cy="274320"/>
          </a:xfrm>
          <a:prstGeom prst="rect">
            <a:avLst/>
          </a:prstGeom>
          <a:noFill/>
          <a:ln/>
        </p:spPr>
        <p:txBody>
          <a:bodyPr wrap="square" lIns="0" tIns="0" rIns="0" bIns="0" rtlCol="0" anchor="t"/>
          <a:lstStyle/>
          <a:p>
            <a:pPr indent="0" marL="0">
              <a:buNone/>
            </a:pPr>
            <a:r>
              <a:rPr lang="en-US" sz="1200" b="1" dirty="0">
                <a:solidFill>
                  <a:schemeClr val="accent2"/>
                </a:solidFill>
              </a:rPr>
              <a:t>결과</a:t>
            </a:r>
            <a:endParaRPr lang="en-US" sz="1200" dirty="0"/>
          </a:p>
        </p:txBody>
      </p:sp>
      <p:sp>
        <p:nvSpPr>
          <p:cNvPr id="7" name="Shape 5"/>
          <p:cNvSpPr/>
          <p:nvPr/>
        </p:nvSpPr>
        <p:spPr>
          <a:xfrm>
            <a:off x="548640" y="1847088"/>
            <a:ext cx="3429000" cy="914400"/>
          </a:xfrm>
          <a:prstGeom prst="roundRect">
            <a:avLst>
              <a:gd name="adj" fmla="val 8000"/>
            </a:avLst>
          </a:prstGeom>
          <a:solidFill>
            <a:schemeClr val="bg2"/>
          </a:solidFill>
          <a:ln w="9525">
            <a:solidFill>
              <a:schemeClr val="bg2"/>
            </a:solidFill>
            <a:prstDash val="solid"/>
          </a:ln>
        </p:spPr>
      </p:sp>
      <p:sp>
        <p:nvSpPr>
          <p:cNvPr id="8" name="Text 6"/>
          <p:cNvSpPr txBox="1"/>
          <p:nvPr/>
        </p:nvSpPr>
        <p:spPr>
          <a:xfrm>
            <a:off x="777240" y="1847088"/>
            <a:ext cx="2971800" cy="914400"/>
          </a:xfrm>
          <a:prstGeom prst="rect">
            <a:avLst/>
          </a:prstGeom>
          <a:noFill/>
          <a:ln/>
        </p:spPr>
        <p:txBody>
          <a:bodyPr wrap="square" lIns="0" tIns="0" rIns="0" bIns="0" rtlCol="0" anchor="ctr"/>
          <a:lstStyle/>
          <a:p>
            <a:pPr indent="0" marL="0">
              <a:buNone/>
            </a:pPr>
            <a:r>
              <a:rPr lang="en-US" sz="1350" dirty="0">
                <a:solidFill>
                  <a:schemeClr val="tx2"/>
                </a:solidFill>
              </a:rPr>
              <a:t>V5: 생성 속도가 계획의 55%, 예산 소진</a:t>
            </a:r>
            <a:endParaRPr lang="en-US" sz="1350" dirty="0"/>
          </a:p>
        </p:txBody>
      </p:sp>
      <p:sp>
        <p:nvSpPr>
          <p:cNvPr id="9" name="Shape 7"/>
          <p:cNvSpPr/>
          <p:nvPr/>
        </p:nvSpPr>
        <p:spPr>
          <a:xfrm>
            <a:off x="4023360" y="2185416"/>
            <a:ext cx="274320" cy="237744"/>
          </a:xfrm>
          <a:prstGeom prst="rightArrow">
            <a:avLst/>
          </a:prstGeom>
          <a:solidFill>
            <a:schemeClr val="accent4"/>
          </a:solidFill>
          <a:ln w="9525">
            <a:solidFill>
              <a:schemeClr val="accent4"/>
            </a:solidFill>
            <a:prstDash val="solid"/>
          </a:ln>
        </p:spPr>
      </p:sp>
      <p:sp>
        <p:nvSpPr>
          <p:cNvPr id="10" name="Shape 8"/>
          <p:cNvSpPr/>
          <p:nvPr/>
        </p:nvSpPr>
        <p:spPr>
          <a:xfrm>
            <a:off x="4343400" y="1847088"/>
            <a:ext cx="3657600" cy="914400"/>
          </a:xfrm>
          <a:prstGeom prst="roundRect">
            <a:avLst>
              <a:gd name="adj" fmla="val 8000"/>
            </a:avLst>
          </a:prstGeom>
          <a:solidFill>
            <a:schemeClr val="bg2"/>
          </a:solidFill>
          <a:ln w="9525">
            <a:solidFill>
              <a:schemeClr val="bg2"/>
            </a:solidFill>
            <a:prstDash val="solid"/>
          </a:ln>
        </p:spPr>
      </p:sp>
      <p:sp>
        <p:nvSpPr>
          <p:cNvPr id="11" name="Text 9"/>
          <p:cNvSpPr txBox="1"/>
          <p:nvPr/>
        </p:nvSpPr>
        <p:spPr>
          <a:xfrm>
            <a:off x="4572000" y="1847088"/>
            <a:ext cx="3200400" cy="914400"/>
          </a:xfrm>
          <a:prstGeom prst="rect">
            <a:avLst/>
          </a:prstGeom>
          <a:noFill/>
          <a:ln/>
        </p:spPr>
        <p:txBody>
          <a:bodyPr wrap="square" lIns="0" tIns="0" rIns="0" bIns="0" rtlCol="0" anchor="ctr"/>
          <a:lstStyle/>
          <a:p>
            <a:pPr indent="0" marL="0">
              <a:buNone/>
            </a:pPr>
            <a:r>
              <a:rPr lang="en-US" sz="1350" b="1" dirty="0">
                <a:solidFill>
                  <a:schemeClr val="tx1"/>
                </a:solidFill>
              </a:rPr>
              <a:t>15분 이상 end-to-end 실측으로 예산 봉인</a:t>
            </a:r>
            <a:endParaRPr lang="en-US" sz="1350" dirty="0"/>
          </a:p>
        </p:txBody>
      </p:sp>
      <p:sp>
        <p:nvSpPr>
          <p:cNvPr id="12" name="Shape 10"/>
          <p:cNvSpPr/>
          <p:nvPr/>
        </p:nvSpPr>
        <p:spPr>
          <a:xfrm>
            <a:off x="8046720" y="2185416"/>
            <a:ext cx="274320" cy="237744"/>
          </a:xfrm>
          <a:prstGeom prst="rightArrow">
            <a:avLst/>
          </a:prstGeom>
          <a:solidFill>
            <a:schemeClr val="accent1"/>
          </a:solidFill>
          <a:ln w="9525">
            <a:solidFill>
              <a:schemeClr val="accent1"/>
            </a:solidFill>
            <a:prstDash val="solid"/>
          </a:ln>
        </p:spPr>
      </p:sp>
      <p:sp>
        <p:nvSpPr>
          <p:cNvPr id="13" name="Shape 11"/>
          <p:cNvSpPr/>
          <p:nvPr/>
        </p:nvSpPr>
        <p:spPr>
          <a:xfrm>
            <a:off x="8366760" y="1847088"/>
            <a:ext cx="3276295" cy="914400"/>
          </a:xfrm>
          <a:prstGeom prst="roundRect">
            <a:avLst>
              <a:gd name="adj" fmla="val 8000"/>
            </a:avLst>
          </a:prstGeom>
          <a:solidFill>
            <a:schemeClr val="tx2"/>
          </a:solidFill>
          <a:ln w="9525">
            <a:solidFill>
              <a:schemeClr val="tx2"/>
            </a:solidFill>
            <a:prstDash val="solid"/>
          </a:ln>
        </p:spPr>
      </p:sp>
      <p:sp>
        <p:nvSpPr>
          <p:cNvPr id="14" name="Text 12"/>
          <p:cNvSpPr txBox="1"/>
          <p:nvPr/>
        </p:nvSpPr>
        <p:spPr>
          <a:xfrm>
            <a:off x="8595360" y="1847088"/>
            <a:ext cx="2834640" cy="914400"/>
          </a:xfrm>
          <a:prstGeom prst="rect">
            <a:avLst/>
          </a:prstGeom>
          <a:noFill/>
          <a:ln/>
        </p:spPr>
        <p:txBody>
          <a:bodyPr wrap="square" lIns="0" tIns="0" rIns="0" bIns="0" rtlCol="0" anchor="ctr"/>
          <a:lstStyle/>
          <a:p>
            <a:pPr indent="0" marL="0">
              <a:buNone/>
            </a:pPr>
            <a:r>
              <a:rPr lang="en-US" sz="1500" b="1" dirty="0">
                <a:solidFill>
                  <a:schemeClr val="bg1"/>
                </a:solidFill>
              </a:rPr>
              <a:t>C 41.2 / 80 h</a:t>
            </a:r>
            <a:endParaRPr lang="en-US" sz="1500" dirty="0"/>
          </a:p>
        </p:txBody>
      </p:sp>
      <p:sp>
        <p:nvSpPr>
          <p:cNvPr id="15" name="Shape 13"/>
          <p:cNvSpPr/>
          <p:nvPr/>
        </p:nvSpPr>
        <p:spPr>
          <a:xfrm>
            <a:off x="548640" y="2926080"/>
            <a:ext cx="3429000" cy="914400"/>
          </a:xfrm>
          <a:prstGeom prst="roundRect">
            <a:avLst>
              <a:gd name="adj" fmla="val 8000"/>
            </a:avLst>
          </a:prstGeom>
          <a:solidFill>
            <a:schemeClr val="bg2"/>
          </a:solidFill>
          <a:ln w="9525">
            <a:solidFill>
              <a:schemeClr val="bg2"/>
            </a:solidFill>
            <a:prstDash val="solid"/>
          </a:ln>
        </p:spPr>
      </p:sp>
      <p:sp>
        <p:nvSpPr>
          <p:cNvPr id="16" name="Text 14"/>
          <p:cNvSpPr txBox="1"/>
          <p:nvPr/>
        </p:nvSpPr>
        <p:spPr>
          <a:xfrm>
            <a:off x="777240" y="2926080"/>
            <a:ext cx="2971800" cy="914400"/>
          </a:xfrm>
          <a:prstGeom prst="rect">
            <a:avLst/>
          </a:prstGeom>
          <a:noFill/>
          <a:ln/>
        </p:spPr>
        <p:txBody>
          <a:bodyPr wrap="square" lIns="0" tIns="0" rIns="0" bIns="0" rtlCol="0" anchor="ctr"/>
          <a:lstStyle/>
          <a:p>
            <a:pPr indent="0" marL="0">
              <a:buNone/>
            </a:pPr>
            <a:r>
              <a:rPr lang="en-US" sz="1350" dirty="0">
                <a:solidFill>
                  <a:schemeClr val="tx2"/>
                </a:solidFill>
              </a:rPr>
              <a:t>v3.1: Printable Gaussian 형식 실패</a:t>
            </a:r>
            <a:endParaRPr lang="en-US" sz="1350" dirty="0"/>
          </a:p>
        </p:txBody>
      </p:sp>
      <p:sp>
        <p:nvSpPr>
          <p:cNvPr id="17" name="Shape 15"/>
          <p:cNvSpPr/>
          <p:nvPr/>
        </p:nvSpPr>
        <p:spPr>
          <a:xfrm>
            <a:off x="4023360" y="3264408"/>
            <a:ext cx="274320" cy="237744"/>
          </a:xfrm>
          <a:prstGeom prst="rightArrow">
            <a:avLst/>
          </a:prstGeom>
          <a:solidFill>
            <a:schemeClr val="accent4"/>
          </a:solidFill>
          <a:ln w="9525">
            <a:solidFill>
              <a:schemeClr val="accent4"/>
            </a:solidFill>
            <a:prstDash val="solid"/>
          </a:ln>
        </p:spPr>
      </p:sp>
      <p:sp>
        <p:nvSpPr>
          <p:cNvPr id="18" name="Shape 16"/>
          <p:cNvSpPr/>
          <p:nvPr/>
        </p:nvSpPr>
        <p:spPr>
          <a:xfrm>
            <a:off x="4343400" y="2926080"/>
            <a:ext cx="3657600" cy="914400"/>
          </a:xfrm>
          <a:prstGeom prst="roundRect">
            <a:avLst>
              <a:gd name="adj" fmla="val 8000"/>
            </a:avLst>
          </a:prstGeom>
          <a:solidFill>
            <a:schemeClr val="bg2"/>
          </a:solidFill>
          <a:ln w="9525">
            <a:solidFill>
              <a:schemeClr val="bg2"/>
            </a:solidFill>
            <a:prstDash val="solid"/>
          </a:ln>
        </p:spPr>
      </p:sp>
      <p:sp>
        <p:nvSpPr>
          <p:cNvPr id="19" name="Text 17"/>
          <p:cNvSpPr txBox="1"/>
          <p:nvPr/>
        </p:nvSpPr>
        <p:spPr>
          <a:xfrm>
            <a:off x="4572000" y="2926080"/>
            <a:ext cx="3200400" cy="914400"/>
          </a:xfrm>
          <a:prstGeom prst="rect">
            <a:avLst/>
          </a:prstGeom>
          <a:noFill/>
          <a:ln/>
        </p:spPr>
        <p:txBody>
          <a:bodyPr wrap="square" lIns="0" tIns="0" rIns="0" bIns="0" rtlCol="0" anchor="ctr"/>
          <a:lstStyle/>
          <a:p>
            <a:pPr indent="0" marL="0">
              <a:buNone/>
            </a:pPr>
            <a:r>
              <a:rPr lang="en-US" sz="1350" b="1" dirty="0">
                <a:solidFill>
                  <a:schemeClr val="tx1"/>
                </a:solidFill>
              </a:rPr>
              <a:t>source alphabet 최근접 prototype decoder</a:t>
            </a:r>
            <a:endParaRPr lang="en-US" sz="1350" dirty="0"/>
          </a:p>
        </p:txBody>
      </p:sp>
      <p:sp>
        <p:nvSpPr>
          <p:cNvPr id="20" name="Shape 18"/>
          <p:cNvSpPr/>
          <p:nvPr/>
        </p:nvSpPr>
        <p:spPr>
          <a:xfrm>
            <a:off x="8046720" y="3264408"/>
            <a:ext cx="274320" cy="237744"/>
          </a:xfrm>
          <a:prstGeom prst="rightArrow">
            <a:avLst/>
          </a:prstGeom>
          <a:solidFill>
            <a:schemeClr val="accent1"/>
          </a:solidFill>
          <a:ln w="9525">
            <a:solidFill>
              <a:schemeClr val="accent1"/>
            </a:solidFill>
            <a:prstDash val="solid"/>
          </a:ln>
        </p:spPr>
      </p:sp>
      <p:sp>
        <p:nvSpPr>
          <p:cNvPr id="21" name="Shape 19"/>
          <p:cNvSpPr/>
          <p:nvPr/>
        </p:nvSpPr>
        <p:spPr>
          <a:xfrm>
            <a:off x="8366760" y="2926080"/>
            <a:ext cx="3276295" cy="914400"/>
          </a:xfrm>
          <a:prstGeom prst="roundRect">
            <a:avLst>
              <a:gd name="adj" fmla="val 8000"/>
            </a:avLst>
          </a:prstGeom>
          <a:solidFill>
            <a:schemeClr val="tx2"/>
          </a:solidFill>
          <a:ln w="9525">
            <a:solidFill>
              <a:schemeClr val="tx2"/>
            </a:solidFill>
            <a:prstDash val="solid"/>
          </a:ln>
        </p:spPr>
      </p:sp>
      <p:sp>
        <p:nvSpPr>
          <p:cNvPr id="22" name="Text 20"/>
          <p:cNvSpPr txBox="1"/>
          <p:nvPr/>
        </p:nvSpPr>
        <p:spPr>
          <a:xfrm>
            <a:off x="8595360" y="2926080"/>
            <a:ext cx="2834640" cy="914400"/>
          </a:xfrm>
          <a:prstGeom prst="rect">
            <a:avLst/>
          </a:prstGeom>
          <a:noFill/>
          <a:ln/>
        </p:spPr>
        <p:txBody>
          <a:bodyPr wrap="square" lIns="0" tIns="0" rIns="0" bIns="0" rtlCol="0" anchor="ctr"/>
          <a:lstStyle/>
          <a:p>
            <a:pPr indent="0" marL="0">
              <a:buNone/>
            </a:pPr>
            <a:r>
              <a:rPr lang="en-US" sz="1500" b="1" dirty="0">
                <a:solidFill>
                  <a:schemeClr val="bg1"/>
                </a:solidFill>
              </a:rPr>
              <a:t>15/15 run 512/512</a:t>
            </a:r>
            <a:endParaRPr lang="en-US" sz="1500" dirty="0"/>
          </a:p>
        </p:txBody>
      </p:sp>
      <p:sp>
        <p:nvSpPr>
          <p:cNvPr id="23" name="Shape 21"/>
          <p:cNvSpPr/>
          <p:nvPr/>
        </p:nvSpPr>
        <p:spPr>
          <a:xfrm>
            <a:off x="548640" y="4005072"/>
            <a:ext cx="3429000" cy="914400"/>
          </a:xfrm>
          <a:prstGeom prst="roundRect">
            <a:avLst>
              <a:gd name="adj" fmla="val 8000"/>
            </a:avLst>
          </a:prstGeom>
          <a:solidFill>
            <a:schemeClr val="bg2"/>
          </a:solidFill>
          <a:ln w="9525">
            <a:solidFill>
              <a:schemeClr val="bg2"/>
            </a:solidFill>
            <a:prstDash val="solid"/>
          </a:ln>
        </p:spPr>
      </p:sp>
      <p:sp>
        <p:nvSpPr>
          <p:cNvPr id="24" name="Text 22"/>
          <p:cNvSpPr txBox="1"/>
          <p:nvPr/>
        </p:nvSpPr>
        <p:spPr>
          <a:xfrm>
            <a:off x="777240" y="4005072"/>
            <a:ext cx="2971800" cy="914400"/>
          </a:xfrm>
          <a:prstGeom prst="rect">
            <a:avLst/>
          </a:prstGeom>
          <a:noFill/>
          <a:ln/>
        </p:spPr>
        <p:txBody>
          <a:bodyPr wrap="square" lIns="0" tIns="0" rIns="0" bIns="0" rtlCol="0" anchor="ctr"/>
          <a:lstStyle/>
          <a:p>
            <a:pPr indent="0" marL="0">
              <a:buNone/>
            </a:pPr>
            <a:r>
              <a:rPr lang="en-US" sz="1350" dirty="0">
                <a:solidFill>
                  <a:schemeClr val="tx2"/>
                </a:solidFill>
              </a:rPr>
              <a:t>음성 결과를 해석할 근거 부족</a:t>
            </a:r>
            <a:endParaRPr lang="en-US" sz="1350" dirty="0"/>
          </a:p>
        </p:txBody>
      </p:sp>
      <p:sp>
        <p:nvSpPr>
          <p:cNvPr id="25" name="Shape 23"/>
          <p:cNvSpPr/>
          <p:nvPr/>
        </p:nvSpPr>
        <p:spPr>
          <a:xfrm>
            <a:off x="4023360" y="4343400"/>
            <a:ext cx="274320" cy="237744"/>
          </a:xfrm>
          <a:prstGeom prst="rightArrow">
            <a:avLst/>
          </a:prstGeom>
          <a:solidFill>
            <a:schemeClr val="accent4"/>
          </a:solidFill>
          <a:ln w="9525">
            <a:solidFill>
              <a:schemeClr val="accent4"/>
            </a:solidFill>
            <a:prstDash val="solid"/>
          </a:ln>
        </p:spPr>
      </p:sp>
      <p:sp>
        <p:nvSpPr>
          <p:cNvPr id="26" name="Shape 24"/>
          <p:cNvSpPr/>
          <p:nvPr/>
        </p:nvSpPr>
        <p:spPr>
          <a:xfrm>
            <a:off x="4343400" y="4005072"/>
            <a:ext cx="3657600" cy="914400"/>
          </a:xfrm>
          <a:prstGeom prst="roundRect">
            <a:avLst>
              <a:gd name="adj" fmla="val 8000"/>
            </a:avLst>
          </a:prstGeom>
          <a:solidFill>
            <a:schemeClr val="bg2"/>
          </a:solidFill>
          <a:ln w="9525">
            <a:solidFill>
              <a:schemeClr val="bg2"/>
            </a:solidFill>
            <a:prstDash val="solid"/>
          </a:ln>
        </p:spPr>
      </p:sp>
      <p:sp>
        <p:nvSpPr>
          <p:cNvPr id="27" name="Text 25"/>
          <p:cNvSpPr txBox="1"/>
          <p:nvPr/>
        </p:nvSpPr>
        <p:spPr>
          <a:xfrm>
            <a:off x="4572000" y="4005072"/>
            <a:ext cx="3200400" cy="914400"/>
          </a:xfrm>
          <a:prstGeom prst="rect">
            <a:avLst/>
          </a:prstGeom>
          <a:noFill/>
          <a:ln/>
        </p:spPr>
        <p:txBody>
          <a:bodyPr wrap="square" lIns="0" tIns="0" rIns="0" bIns="0" rtlCol="0" anchor="ctr"/>
          <a:lstStyle/>
          <a:p>
            <a:pPr indent="0" marL="0">
              <a:buNone/>
            </a:pPr>
            <a:r>
              <a:rPr lang="en-US" sz="1350" b="1" dirty="0">
                <a:solidFill>
                  <a:schemeClr val="tx1"/>
                </a:solidFill>
              </a:rPr>
              <a:t>r=4 양성 대조 (Stage P)</a:t>
            </a:r>
            <a:endParaRPr lang="en-US" sz="1350" dirty="0"/>
          </a:p>
        </p:txBody>
      </p:sp>
      <p:sp>
        <p:nvSpPr>
          <p:cNvPr id="28" name="Shape 26"/>
          <p:cNvSpPr/>
          <p:nvPr/>
        </p:nvSpPr>
        <p:spPr>
          <a:xfrm>
            <a:off x="8046720" y="4343400"/>
            <a:ext cx="274320" cy="237744"/>
          </a:xfrm>
          <a:prstGeom prst="rightArrow">
            <a:avLst/>
          </a:prstGeom>
          <a:solidFill>
            <a:schemeClr val="accent1"/>
          </a:solidFill>
          <a:ln w="9525">
            <a:solidFill>
              <a:schemeClr val="accent1"/>
            </a:solidFill>
            <a:prstDash val="solid"/>
          </a:ln>
        </p:spPr>
      </p:sp>
      <p:sp>
        <p:nvSpPr>
          <p:cNvPr id="29" name="Shape 27"/>
          <p:cNvSpPr/>
          <p:nvPr/>
        </p:nvSpPr>
        <p:spPr>
          <a:xfrm>
            <a:off x="8366760" y="4005072"/>
            <a:ext cx="3276295" cy="914400"/>
          </a:xfrm>
          <a:prstGeom prst="roundRect">
            <a:avLst>
              <a:gd name="adj" fmla="val 8000"/>
            </a:avLst>
          </a:prstGeom>
          <a:solidFill>
            <a:schemeClr val="tx2"/>
          </a:solidFill>
          <a:ln w="9525">
            <a:solidFill>
              <a:schemeClr val="tx2"/>
            </a:solidFill>
            <a:prstDash val="solid"/>
          </a:ln>
        </p:spPr>
      </p:sp>
      <p:sp>
        <p:nvSpPr>
          <p:cNvPr id="30" name="Text 28"/>
          <p:cNvSpPr txBox="1"/>
          <p:nvPr/>
        </p:nvSpPr>
        <p:spPr>
          <a:xfrm>
            <a:off x="8595360" y="4005072"/>
            <a:ext cx="2834640" cy="914400"/>
          </a:xfrm>
          <a:prstGeom prst="rect">
            <a:avLst/>
          </a:prstGeom>
          <a:noFill/>
          <a:ln/>
        </p:spPr>
        <p:txBody>
          <a:bodyPr wrap="square" lIns="0" tIns="0" rIns="0" bIns="0" rtlCol="0" anchor="ctr"/>
          <a:lstStyle/>
          <a:p>
            <a:pPr indent="0" marL="0">
              <a:buNone/>
            </a:pPr>
            <a:r>
              <a:rPr lang="en-US" sz="1500" b="1" dirty="0">
                <a:solidFill>
                  <a:schemeClr val="bg1"/>
                </a:solidFill>
              </a:rPr>
              <a:t>GEN_4 · INFO_4 5/5</a:t>
            </a:r>
            <a:endParaRPr lang="en-US" sz="1500" dirty="0"/>
          </a:p>
        </p:txBody>
      </p:sp>
      <p:sp>
        <p:nvSpPr>
          <p:cNvPr id="31" name="Shape 29"/>
          <p:cNvSpPr/>
          <p:nvPr/>
        </p:nvSpPr>
        <p:spPr>
          <a:xfrm>
            <a:off x="548640" y="5084064"/>
            <a:ext cx="3429000" cy="914400"/>
          </a:xfrm>
          <a:prstGeom prst="roundRect">
            <a:avLst>
              <a:gd name="adj" fmla="val 8000"/>
            </a:avLst>
          </a:prstGeom>
          <a:solidFill>
            <a:schemeClr val="bg2"/>
          </a:solidFill>
          <a:ln w="9525">
            <a:solidFill>
              <a:schemeClr val="bg2"/>
            </a:solidFill>
            <a:prstDash val="solid"/>
          </a:ln>
        </p:spPr>
      </p:sp>
      <p:sp>
        <p:nvSpPr>
          <p:cNvPr id="32" name="Text 30"/>
          <p:cNvSpPr txBox="1"/>
          <p:nvPr/>
        </p:nvSpPr>
        <p:spPr>
          <a:xfrm>
            <a:off x="777240" y="5084064"/>
            <a:ext cx="2971800" cy="914400"/>
          </a:xfrm>
          <a:prstGeom prst="rect">
            <a:avLst/>
          </a:prstGeom>
          <a:noFill/>
          <a:ln/>
        </p:spPr>
        <p:txBody>
          <a:bodyPr wrap="square" lIns="0" tIns="0" rIns="0" bIns="0" rtlCol="0" anchor="ctr"/>
          <a:lstStyle/>
          <a:p>
            <a:pPr indent="0" marL="0">
              <a:buNone/>
            </a:pPr>
            <a:r>
              <a:rPr lang="en-US" sz="1350" dirty="0">
                <a:solidFill>
                  <a:schemeClr val="tx2"/>
                </a:solidFill>
              </a:rPr>
              <a:t>다중 비교와 중간 종료</a:t>
            </a:r>
            <a:endParaRPr lang="en-US" sz="1350" dirty="0"/>
          </a:p>
        </p:txBody>
      </p:sp>
      <p:sp>
        <p:nvSpPr>
          <p:cNvPr id="33" name="Shape 31"/>
          <p:cNvSpPr/>
          <p:nvPr/>
        </p:nvSpPr>
        <p:spPr>
          <a:xfrm>
            <a:off x="4023360" y="5422392"/>
            <a:ext cx="274320" cy="237744"/>
          </a:xfrm>
          <a:prstGeom prst="rightArrow">
            <a:avLst/>
          </a:prstGeom>
          <a:solidFill>
            <a:schemeClr val="accent4"/>
          </a:solidFill>
          <a:ln w="9525">
            <a:solidFill>
              <a:schemeClr val="accent4"/>
            </a:solidFill>
            <a:prstDash val="solid"/>
          </a:ln>
        </p:spPr>
      </p:sp>
      <p:sp>
        <p:nvSpPr>
          <p:cNvPr id="34" name="Shape 32"/>
          <p:cNvSpPr/>
          <p:nvPr/>
        </p:nvSpPr>
        <p:spPr>
          <a:xfrm>
            <a:off x="4343400" y="5084064"/>
            <a:ext cx="3657600" cy="914400"/>
          </a:xfrm>
          <a:prstGeom prst="roundRect">
            <a:avLst>
              <a:gd name="adj" fmla="val 8000"/>
            </a:avLst>
          </a:prstGeom>
          <a:solidFill>
            <a:schemeClr val="bg2"/>
          </a:solidFill>
          <a:ln w="9525">
            <a:solidFill>
              <a:schemeClr val="bg2"/>
            </a:solidFill>
            <a:prstDash val="solid"/>
          </a:ln>
        </p:spPr>
      </p:sp>
      <p:sp>
        <p:nvSpPr>
          <p:cNvPr id="35" name="Text 33"/>
          <p:cNvSpPr txBox="1"/>
          <p:nvPr/>
        </p:nvSpPr>
        <p:spPr>
          <a:xfrm>
            <a:off x="4572000" y="5084064"/>
            <a:ext cx="3200400" cy="914400"/>
          </a:xfrm>
          <a:prstGeom prst="rect">
            <a:avLst/>
          </a:prstGeom>
          <a:noFill/>
          <a:ln/>
        </p:spPr>
        <p:txBody>
          <a:bodyPr wrap="square" lIns="0" tIns="0" rIns="0" bIns="0" rtlCol="0" anchor="ctr"/>
          <a:lstStyle/>
          <a:p>
            <a:pPr indent="0" marL="0">
              <a:buNone/>
            </a:pPr>
            <a:r>
              <a:rPr lang="en-US" sz="1350" b="1" dirty="0">
                <a:solidFill>
                  <a:schemeClr val="tx1"/>
                </a:solidFill>
              </a:rPr>
              <a:t>동시 95% 구간 + 3-look 공동 중단</a:t>
            </a:r>
            <a:endParaRPr lang="en-US" sz="1350" dirty="0"/>
          </a:p>
        </p:txBody>
      </p:sp>
      <p:sp>
        <p:nvSpPr>
          <p:cNvPr id="36" name="Shape 34"/>
          <p:cNvSpPr/>
          <p:nvPr/>
        </p:nvSpPr>
        <p:spPr>
          <a:xfrm>
            <a:off x="8046720" y="5422392"/>
            <a:ext cx="274320" cy="237744"/>
          </a:xfrm>
          <a:prstGeom prst="rightArrow">
            <a:avLst/>
          </a:prstGeom>
          <a:solidFill>
            <a:schemeClr val="accent1"/>
          </a:solidFill>
          <a:ln w="9525">
            <a:solidFill>
              <a:schemeClr val="accent1"/>
            </a:solidFill>
            <a:prstDash val="solid"/>
          </a:ln>
        </p:spPr>
      </p:sp>
      <p:sp>
        <p:nvSpPr>
          <p:cNvPr id="37" name="Shape 35"/>
          <p:cNvSpPr/>
          <p:nvPr/>
        </p:nvSpPr>
        <p:spPr>
          <a:xfrm>
            <a:off x="8366760" y="5084064"/>
            <a:ext cx="3276295" cy="914400"/>
          </a:xfrm>
          <a:prstGeom prst="roundRect">
            <a:avLst>
              <a:gd name="adj" fmla="val 8000"/>
            </a:avLst>
          </a:prstGeom>
          <a:solidFill>
            <a:schemeClr val="tx2"/>
          </a:solidFill>
          <a:ln w="9525">
            <a:solidFill>
              <a:schemeClr val="tx2"/>
            </a:solidFill>
            <a:prstDash val="solid"/>
          </a:ln>
        </p:spPr>
      </p:sp>
      <p:sp>
        <p:nvSpPr>
          <p:cNvPr id="38" name="Text 36"/>
          <p:cNvSpPr txBox="1"/>
          <p:nvPr/>
        </p:nvSpPr>
        <p:spPr>
          <a:xfrm>
            <a:off x="8595360" y="5084064"/>
            <a:ext cx="2834640" cy="914400"/>
          </a:xfrm>
          <a:prstGeom prst="rect">
            <a:avLst/>
          </a:prstGeom>
          <a:noFill/>
          <a:ln/>
        </p:spPr>
        <p:txBody>
          <a:bodyPr wrap="square" lIns="0" tIns="0" rIns="0" bIns="0" rtlCol="0" anchor="ctr"/>
          <a:lstStyle/>
          <a:p>
            <a:pPr indent="0" marL="0">
              <a:buNone/>
            </a:pPr>
            <a:r>
              <a:rPr lang="en-US" sz="1500" b="1" dirty="0">
                <a:solidFill>
                  <a:schemeClr val="bg1"/>
                </a:solidFill>
              </a:rPr>
              <a:t>look 2 중단, 약 8.3 h 절약</a:t>
            </a:r>
            <a:endParaRPr lang="en-US" sz="1500" dirty="0"/>
          </a:p>
        </p:txBody>
      </p:sp>
      <p:sp>
        <p:nvSpPr>
          <p:cNvPr id="39"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8229600" cy="274320"/>
          </a:xfrm>
          <a:prstGeom prst="rect">
            <a:avLst/>
          </a:prstGeom>
          <a:noFill/>
          <a:ln/>
        </p:spPr>
        <p:txBody>
          <a:bodyPr wrap="square" lIns="0" tIns="0" rIns="0" bIns="0" rtlCol="0"/>
          <a:lstStyle/>
          <a:p>
            <a:pPr indent="0" marL="0">
              <a:buNone/>
            </a:pPr>
            <a:r>
              <a:rPr lang="en-US" sz="1200" b="1" dirty="0">
                <a:solidFill>
                  <a:schemeClr val="accent2"/>
                </a:solidFill>
              </a:rPr>
              <a:t>결론 · 적용 범위</a:t>
            </a:r>
            <a:endParaRPr lang="en-US" sz="1200" dirty="0"/>
          </a:p>
        </p:txBody>
      </p:sp>
      <p:sp>
        <p:nvSpPr>
          <p:cNvPr id="3" name="Text 0"/>
          <p:cNvSpPr/>
          <p:nvPr>
            <p:ph idx="101" type="title" hasCustomPrompt="1"/>
          </p:nvPr>
        </p:nvSpPr>
        <p:spPr>
          <a:xfrm>
            <a:off x="548640" y="658368"/>
            <a:ext cx="11091672" cy="640080"/>
          </a:xfrm>
          <a:prstGeom prst="rect">
            <a:avLst/>
          </a:prstGeom>
          <a:noFill/>
          <a:ln/>
        </p:spPr>
        <p:txBody>
          <a:bodyPr wrap="square" lIns="0" tIns="0" rIns="0" bIns="0" rtlCol="0" anchor="t"/>
          <a:lstStyle/>
          <a:p>
            <a:pPr algn="l" indent="0" marL="0">
              <a:buNone/>
            </a:pPr>
            <a:r>
              <a:rPr lang="en-US" sz="3000" b="1" dirty="0">
                <a:solidFill>
                  <a:schemeClr val="tx1"/>
                </a:solidFill>
              </a:rPr>
              <a:t>측정한 것, 추론한 것, 주장하지 않는 것</a:t>
            </a:r>
            <a:endParaRPr lang="en-US" sz="3000" dirty="0"/>
          </a:p>
        </p:txBody>
      </p:sp>
      <p:sp>
        <p:nvSpPr>
          <p:cNvPr id="4" name="Shape 2"/>
          <p:cNvSpPr/>
          <p:nvPr/>
        </p:nvSpPr>
        <p:spPr>
          <a:xfrm>
            <a:off x="548640" y="1508760"/>
            <a:ext cx="3515258" cy="3520440"/>
          </a:xfrm>
          <a:prstGeom prst="roundRect">
            <a:avLst>
              <a:gd name="adj" fmla="val 2081"/>
            </a:avLst>
          </a:prstGeom>
          <a:solidFill>
            <a:schemeClr val="bg2"/>
          </a:solidFill>
          <a:ln w="9525">
            <a:solidFill>
              <a:schemeClr val="bg2"/>
            </a:solidFill>
            <a:prstDash val="solid"/>
          </a:ln>
        </p:spPr>
      </p:sp>
      <p:sp>
        <p:nvSpPr>
          <p:cNvPr id="5" name="Shape 3"/>
          <p:cNvSpPr/>
          <p:nvPr/>
        </p:nvSpPr>
        <p:spPr>
          <a:xfrm>
            <a:off x="822960" y="1783080"/>
            <a:ext cx="640080" cy="640080"/>
          </a:xfrm>
          <a:prstGeom prst="ellipse">
            <a:avLst/>
          </a:prstGeom>
          <a:solidFill>
            <a:schemeClr val="accent2"/>
          </a:solidFill>
          <a:ln w="9525">
            <a:solidFill>
              <a:schemeClr val="accent2"/>
            </a:solidFill>
            <a:prstDash val="solid"/>
          </a:ln>
        </p:spPr>
      </p:sp>
      <p:sp>
        <p:nvSpPr>
          <p:cNvPr id="6" name="Text 4"/>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측정</a:t>
            </a:r>
            <a:endParaRPr lang="en-US" sz="1300" dirty="0"/>
          </a:p>
        </p:txBody>
      </p:sp>
      <p:sp>
        <p:nvSpPr>
          <p:cNvPr id="7" name="Text 5"/>
          <p:cNvSpPr txBox="1"/>
          <p:nvPr/>
        </p:nvSpPr>
        <p:spPr>
          <a:xfrm>
            <a:off x="1600200" y="178308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측정한 것</a:t>
            </a:r>
            <a:endParaRPr lang="en-US" sz="1700" dirty="0"/>
          </a:p>
        </p:txBody>
      </p:sp>
      <p:sp>
        <p:nvSpPr>
          <p:cNvPr id="8" name="Text 6"/>
          <p:cNvSpPr txBox="1"/>
          <p:nvPr/>
        </p:nvSpPr>
        <p:spPr>
          <a:xfrm>
            <a:off x="822960" y="2651760"/>
            <a:ext cx="2966618" cy="2240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Printable과 Random Bytes source</a:t>
            </a:r>
            <a:endParaRPr lang="en-US" sz="1400" dirty="0"/>
          </a:p>
          <a:p>
            <a:pPr marL="177800" indent="-177800">
              <a:spcAft>
                <a:spcPts val="600"/>
              </a:spcAft>
              <a:buSzPct val="100000"/>
              <a:buChar char="•"/>
            </a:pPr>
            <a:r>
              <a:rPr lang="en-US" sz="1400" dirty="0">
                <a:solidFill>
                  <a:schemeClr val="tx2"/>
                </a:solidFill>
              </a:rPr>
              <a:t>MD5 12-bit window W3</a:t>
            </a:r>
            <a:endParaRPr lang="en-US" sz="1400" dirty="0"/>
          </a:p>
          <a:p>
            <a:pPr marL="177800" indent="-177800">
              <a:spcAft>
                <a:spcPts val="600"/>
              </a:spcAft>
              <a:buSzPct val="100000"/>
              <a:buChar char="•"/>
            </a:pPr>
            <a:r>
              <a:rPr lang="en-US" sz="1400" dirty="0">
                <a:solidFill>
                  <a:schemeClr val="tx2"/>
                </a:solidFill>
              </a:rPr>
              <a:t>5개 파이프라인 (G3-U BGV·CGGE, D1-S)</a:t>
            </a:r>
            <a:endParaRPr lang="en-US" sz="1400" dirty="0"/>
          </a:p>
          <a:p>
            <a:pPr marL="177800" indent="-177800">
              <a:spcAft>
                <a:spcPts val="600"/>
              </a:spcAft>
              <a:buSzPct val="100000"/>
              <a:buChar char="•"/>
            </a:pPr>
            <a:r>
              <a:rPr lang="en-US" sz="1400" dirty="0">
                <a:solidFill>
                  <a:schemeClr val="tx2"/>
                </a:solidFill>
              </a:rPr>
              <a:t>학습 1,024만 쌍, K = 100</a:t>
            </a:r>
            <a:endParaRPr lang="en-US" sz="1400" dirty="0"/>
          </a:p>
          <a:p>
            <a:pPr marL="177800" indent="-177800">
              <a:spcAft>
                <a:spcPts val="600"/>
              </a:spcAft>
              <a:buSzPct val="100000"/>
              <a:buChar char="•"/>
            </a:pPr>
            <a:r>
              <a:rPr lang="en-US" sz="1400" dirty="0">
                <a:solidFill>
                  <a:schemeClr val="tx2"/>
                </a:solidFill>
              </a:rPr>
              <a:t>r=4 양성 대조, D1-T-L 탐침</a:t>
            </a:r>
            <a:endParaRPr lang="en-US" sz="1400" dirty="0"/>
          </a:p>
        </p:txBody>
      </p:sp>
      <p:sp>
        <p:nvSpPr>
          <p:cNvPr id="9" name="Shape 7"/>
          <p:cNvSpPr/>
          <p:nvPr/>
        </p:nvSpPr>
        <p:spPr>
          <a:xfrm>
            <a:off x="4338218" y="1508760"/>
            <a:ext cx="3515258" cy="3520440"/>
          </a:xfrm>
          <a:prstGeom prst="roundRect">
            <a:avLst>
              <a:gd name="adj" fmla="val 2081"/>
            </a:avLst>
          </a:prstGeom>
          <a:solidFill>
            <a:schemeClr val="bg2"/>
          </a:solidFill>
          <a:ln w="9525">
            <a:solidFill>
              <a:schemeClr val="bg2"/>
            </a:solidFill>
            <a:prstDash val="solid"/>
          </a:ln>
        </p:spPr>
      </p:sp>
      <p:sp>
        <p:nvSpPr>
          <p:cNvPr id="10" name="Shape 8"/>
          <p:cNvSpPr/>
          <p:nvPr/>
        </p:nvSpPr>
        <p:spPr>
          <a:xfrm>
            <a:off x="4612538" y="1783080"/>
            <a:ext cx="640080" cy="640080"/>
          </a:xfrm>
          <a:prstGeom prst="ellipse">
            <a:avLst/>
          </a:prstGeom>
          <a:solidFill>
            <a:schemeClr val="accent3"/>
          </a:solidFill>
          <a:ln w="9525">
            <a:solidFill>
              <a:schemeClr val="accent3"/>
            </a:solidFill>
            <a:prstDash val="solid"/>
          </a:ln>
        </p:spPr>
      </p:sp>
      <p:sp>
        <p:nvSpPr>
          <p:cNvPr id="11" name="Text 9"/>
          <p:cNvSpPr txBox="1"/>
          <p:nvPr/>
        </p:nvSpPr>
        <p:spPr>
          <a:xfrm>
            <a:off x="4612538" y="1783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외삽</a:t>
            </a:r>
            <a:endParaRPr lang="en-US" sz="1300" dirty="0"/>
          </a:p>
        </p:txBody>
      </p:sp>
      <p:sp>
        <p:nvSpPr>
          <p:cNvPr id="12" name="Text 10"/>
          <p:cNvSpPr txBox="1"/>
          <p:nvPr/>
        </p:nvSpPr>
        <p:spPr>
          <a:xfrm>
            <a:off x="5389778" y="178308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추론한 것</a:t>
            </a:r>
            <a:endParaRPr lang="en-US" sz="1700" dirty="0"/>
          </a:p>
        </p:txBody>
      </p:sp>
      <p:sp>
        <p:nvSpPr>
          <p:cNvPr id="13" name="Text 11"/>
          <p:cNvSpPr txBox="1"/>
          <p:nvPr/>
        </p:nvSpPr>
        <p:spPr>
          <a:xfrm>
            <a:off x="4612538" y="2651760"/>
            <a:ext cx="2966618" cy="2240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이론적 외삽이며 측정이 아니다</a:t>
            </a:r>
            <a:endParaRPr lang="en-US" sz="1400" dirty="0"/>
          </a:p>
          <a:p>
            <a:pPr marL="177800" indent="-177800">
              <a:spcAft>
                <a:spcPts val="600"/>
              </a:spcAft>
              <a:buSzPct val="100000"/>
              <a:buChar char="•"/>
            </a:pPr>
            <a:r>
              <a:rPr lang="en-US" sz="1400" dirty="0">
                <a:solidFill>
                  <a:schemeClr val="tx2"/>
                </a:solidFill>
              </a:rPr>
              <a:t>q = 8, 16 등 다른 window 크기</a:t>
            </a:r>
            <a:endParaRPr lang="en-US" sz="1400" dirty="0"/>
          </a:p>
          <a:p>
            <a:pPr marL="177800" indent="-177800">
              <a:spcAft>
                <a:spcPts val="600"/>
              </a:spcAft>
              <a:buSzPct val="100000"/>
              <a:buChar char="•"/>
            </a:pPr>
            <a:r>
              <a:rPr lang="en-US" sz="1400" dirty="0">
                <a:solidFill>
                  <a:schemeClr val="tx2"/>
                </a:solidFill>
              </a:rPr>
              <a:t>다른 표현과 모델 구조</a:t>
            </a:r>
            <a:endParaRPr lang="en-US" sz="1400" dirty="0"/>
          </a:p>
          <a:p>
            <a:pPr marL="177800" indent="-177800">
              <a:spcAft>
                <a:spcPts val="600"/>
              </a:spcAft>
              <a:buSzPct val="100000"/>
              <a:buChar char="•"/>
            </a:pPr>
            <a:r>
              <a:rPr lang="en-US" sz="1400" dirty="0">
                <a:solidFill>
                  <a:schemeClr val="tx2"/>
                </a:solidFill>
              </a:rPr>
              <a:t>근거: MD5를 쓰지 않는 sampler의 후보당 성공확률은 2⁻¹²라는 random-function 논증</a:t>
            </a:r>
            <a:endParaRPr lang="en-US" sz="1400" dirty="0"/>
          </a:p>
        </p:txBody>
      </p:sp>
      <p:sp>
        <p:nvSpPr>
          <p:cNvPr id="14" name="Shape 12"/>
          <p:cNvSpPr/>
          <p:nvPr/>
        </p:nvSpPr>
        <p:spPr>
          <a:xfrm>
            <a:off x="8127797" y="1508760"/>
            <a:ext cx="3515258" cy="3520440"/>
          </a:xfrm>
          <a:prstGeom prst="roundRect">
            <a:avLst>
              <a:gd name="adj" fmla="val 2081"/>
            </a:avLst>
          </a:prstGeom>
          <a:solidFill>
            <a:schemeClr val="bg2"/>
          </a:solidFill>
          <a:ln w="9525">
            <a:solidFill>
              <a:schemeClr val="bg2"/>
            </a:solidFill>
            <a:prstDash val="solid"/>
          </a:ln>
        </p:spPr>
      </p:sp>
      <p:sp>
        <p:nvSpPr>
          <p:cNvPr id="15" name="Shape 13"/>
          <p:cNvSpPr/>
          <p:nvPr/>
        </p:nvSpPr>
        <p:spPr>
          <a:xfrm>
            <a:off x="8402117" y="1783080"/>
            <a:ext cx="640080" cy="640080"/>
          </a:xfrm>
          <a:prstGeom prst="ellipse">
            <a:avLst/>
          </a:prstGeom>
          <a:solidFill>
            <a:schemeClr val="accent6"/>
          </a:solidFill>
          <a:ln w="9525">
            <a:solidFill>
              <a:schemeClr val="accent6"/>
            </a:solidFill>
            <a:prstDash val="solid"/>
          </a:ln>
        </p:spPr>
      </p:sp>
      <p:sp>
        <p:nvSpPr>
          <p:cNvPr id="16" name="Text 14"/>
          <p:cNvSpPr txBox="1"/>
          <p:nvPr/>
        </p:nvSpPr>
        <p:spPr>
          <a:xfrm>
            <a:off x="8402117" y="1783080"/>
            <a:ext cx="640080" cy="640080"/>
          </a:xfrm>
          <a:prstGeom prst="rect">
            <a:avLst/>
          </a:prstGeom>
          <a:noFill/>
          <a:ln/>
        </p:spPr>
        <p:txBody>
          <a:bodyPr wrap="square" lIns="0" tIns="0" rIns="0" bIns="0" rtlCol="0" anchor="ctr"/>
          <a:lstStyle/>
          <a:p>
            <a:pPr algn="ctr" indent="0" marL="0">
              <a:buNone/>
            </a:pPr>
            <a:r>
              <a:rPr lang="en-US" sz="1300" b="1" dirty="0">
                <a:solidFill>
                  <a:schemeClr val="bg1"/>
                </a:solidFill>
              </a:rPr>
              <a:t>제외</a:t>
            </a:r>
            <a:endParaRPr lang="en-US" sz="1300" dirty="0"/>
          </a:p>
        </p:txBody>
      </p:sp>
      <p:sp>
        <p:nvSpPr>
          <p:cNvPr id="17" name="Text 15"/>
          <p:cNvSpPr txBox="1"/>
          <p:nvPr/>
        </p:nvSpPr>
        <p:spPr>
          <a:xfrm>
            <a:off x="9179357" y="1783080"/>
            <a:ext cx="2235098" cy="640080"/>
          </a:xfrm>
          <a:prstGeom prst="rect">
            <a:avLst/>
          </a:prstGeom>
          <a:noFill/>
          <a:ln/>
        </p:spPr>
        <p:txBody>
          <a:bodyPr wrap="square" lIns="0" tIns="0" rIns="0" bIns="0" rtlCol="0" anchor="ctr"/>
          <a:lstStyle/>
          <a:p>
            <a:pPr indent="0" marL="0">
              <a:buNone/>
            </a:pPr>
            <a:r>
              <a:rPr lang="en-US" sz="1700" b="1" dirty="0">
                <a:solidFill>
                  <a:schemeClr val="tx1"/>
                </a:solidFill>
              </a:rPr>
              <a:t>주장하지 않는 것</a:t>
            </a:r>
            <a:endParaRPr lang="en-US" sz="1700" dirty="0"/>
          </a:p>
        </p:txBody>
      </p:sp>
      <p:sp>
        <p:nvSpPr>
          <p:cNvPr id="18" name="Text 16"/>
          <p:cNvSpPr txBox="1"/>
          <p:nvPr/>
        </p:nvSpPr>
        <p:spPr>
          <a:xfrm>
            <a:off x="8402117" y="2651760"/>
            <a:ext cx="2966618" cy="2240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Full MD5 역상</a:t>
            </a:r>
            <a:endParaRPr lang="en-US" sz="1400" dirty="0"/>
          </a:p>
          <a:p>
            <a:pPr marL="177800" indent="-177800">
              <a:spcAft>
                <a:spcPts val="600"/>
              </a:spcAft>
              <a:buSzPct val="100000"/>
              <a:buChar char="•"/>
            </a:pPr>
            <a:r>
              <a:rPr lang="en-US" sz="1400" dirty="0">
                <a:solidFill>
                  <a:schemeClr val="tx2"/>
                </a:solidFill>
              </a:rPr>
              <a:t>임의 target의 MD5 역상</a:t>
            </a:r>
            <a:endParaRPr lang="en-US" sz="1400" dirty="0"/>
          </a:p>
          <a:p>
            <a:pPr marL="177800" indent="-177800">
              <a:spcAft>
                <a:spcPts val="600"/>
              </a:spcAft>
              <a:buSzPct val="100000"/>
              <a:buChar char="•"/>
            </a:pPr>
            <a:r>
              <a:rPr lang="en-US" sz="1400" dirty="0">
                <a:solidFill>
                  <a:schemeClr val="tx2"/>
                </a:solidFill>
              </a:rPr>
              <a:t>SHA-256</a:t>
            </a:r>
            <a:endParaRPr lang="en-US" sz="1400" dirty="0"/>
          </a:p>
          <a:p>
            <a:pPr marL="177800" indent="-177800">
              <a:spcAft>
                <a:spcPts val="600"/>
              </a:spcAft>
              <a:buSzPct val="100000"/>
              <a:buChar char="•"/>
            </a:pPr>
            <a:r>
              <a:rPr lang="en-US" sz="1400" dirty="0">
                <a:solidFill>
                  <a:schemeClr val="tx2"/>
                </a:solidFill>
              </a:rPr>
              <a:t>보안 붕괴, 최신 암호분석과의 비교</a:t>
            </a:r>
            <a:endParaRPr lang="en-US" sz="1400" dirty="0"/>
          </a:p>
          <a:p>
            <a:pPr marL="177800" indent="-177800">
              <a:spcAft>
                <a:spcPts val="600"/>
              </a:spcAft>
              <a:buSzPct val="100000"/>
              <a:buChar char="•"/>
            </a:pPr>
            <a:r>
              <a:rPr lang="en-US" sz="1400" dirty="0">
                <a:solidFill>
                  <a:schemeClr val="tx2"/>
                </a:solidFill>
              </a:rPr>
              <a:t>모든 diffusion의 불가능성</a:t>
            </a:r>
            <a:endParaRPr lang="en-US" sz="1400" dirty="0"/>
          </a:p>
        </p:txBody>
      </p:sp>
      <p:sp>
        <p:nvSpPr>
          <p:cNvPr id="19" name="Shape 17"/>
          <p:cNvSpPr/>
          <p:nvPr/>
        </p:nvSpPr>
        <p:spPr>
          <a:xfrm>
            <a:off x="548640" y="5257800"/>
            <a:ext cx="11094415" cy="868680"/>
          </a:xfrm>
          <a:prstGeom prst="roundRect">
            <a:avLst>
              <a:gd name="adj" fmla="val 8421"/>
            </a:avLst>
          </a:prstGeom>
          <a:solidFill>
            <a:schemeClr val="tx1"/>
          </a:solidFill>
          <a:ln w="9525">
            <a:solidFill>
              <a:schemeClr val="tx1"/>
            </a:solidFill>
            <a:prstDash val="solid"/>
          </a:ln>
        </p:spPr>
      </p:sp>
      <p:sp>
        <p:nvSpPr>
          <p:cNvPr id="20" name="Text 18"/>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1500" dirty="0">
                <a:solidFill>
                  <a:schemeClr val="bg1"/>
                </a:solidFill>
              </a:rPr>
              <a:t>측정 범위 안의 결론은 확정이다. 범위 밖은 random-function 논증에 따른 이론적 기대일 뿐이다.</a:t>
            </a:r>
            <a:endParaRPr lang="en-US" sz="1500" dirty="0"/>
          </a:p>
        </p:txBody>
      </p:sp>
      <p:sp>
        <p:nvSpPr>
          <p:cNvPr id="21"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F6B7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10698480" cy="365760"/>
          </a:xfrm>
          <a:prstGeom prst="rect">
            <a:avLst/>
          </a:prstGeom>
          <a:noFill/>
          <a:ln/>
        </p:spPr>
        <p:txBody>
          <a:bodyPr wrap="square" lIns="0" tIns="0" rIns="0" bIns="0" rtlCol="0"/>
          <a:lstStyle/>
          <a:p>
            <a:pPr indent="0" marL="0">
              <a:buNone/>
            </a:pPr>
            <a:r>
              <a:rPr lang="en-US" sz="1400" b="1" dirty="0">
                <a:solidFill>
                  <a:schemeClr val="accent1"/>
                </a:solidFill>
              </a:rPr>
              <a:t>최종 판정 · FINAL_REJECTED</a:t>
            </a:r>
            <a:endParaRPr lang="en-US" sz="1400" dirty="0"/>
          </a:p>
        </p:txBody>
      </p:sp>
      <p:sp>
        <p:nvSpPr>
          <p:cNvPr id="3" name="Text 0"/>
          <p:cNvSpPr/>
          <p:nvPr>
            <p:ph idx="101" type="title" hasCustomPrompt="1"/>
          </p:nvPr>
        </p:nvSpPr>
        <p:spPr>
          <a:xfrm>
            <a:off x="731520" y="1645920"/>
            <a:ext cx="10698480" cy="1920240"/>
          </a:xfrm>
          <a:prstGeom prst="rect">
            <a:avLst/>
          </a:prstGeom>
          <a:noFill/>
          <a:ln/>
        </p:spPr>
        <p:txBody>
          <a:bodyPr wrap="square" lIns="0" tIns="0" rIns="0" bIns="0" rtlCol="0" anchor="t"/>
          <a:lstStyle/>
          <a:p>
            <a:pPr algn="l" indent="0" marL="0">
              <a:buNone/>
            </a:pPr>
            <a:r>
              <a:rPr lang="en-US" sz="4400" b="1" dirty="0">
                <a:solidFill>
                  <a:schemeClr val="bg1"/>
                </a:solidFill>
              </a:rPr>
              <a:t>가설 기각으로</a:t>
            </a:r>
            <a:endParaRPr lang="en-US" sz="4400" dirty="0"/>
          </a:p>
          <a:p>
            <a:pPr algn="l" indent="0" marL="0">
              <a:buNone/>
            </a:pPr>
            <a:r>
              <a:rPr lang="en-US" sz="4400" b="1" dirty="0">
                <a:solidFill>
                  <a:schemeClr val="bg1"/>
                </a:solidFill>
              </a:rPr>
              <a:t>연구를 종료한다</a:t>
            </a:r>
            <a:endParaRPr lang="en-US" sz="4400" dirty="0"/>
          </a:p>
        </p:txBody>
      </p:sp>
      <p:sp>
        <p:nvSpPr>
          <p:cNvPr id="4" name="Text 0"/>
          <p:cNvSpPr/>
          <p:nvPr>
            <p:ph idx="102" type="body" hasCustomPrompt="1"/>
          </p:nvPr>
        </p:nvSpPr>
        <p:spPr>
          <a:xfrm>
            <a:off x="731520" y="3703320"/>
            <a:ext cx="10698480" cy="822960"/>
          </a:xfrm>
          <a:prstGeom prst="rect">
            <a:avLst/>
          </a:prstGeom>
          <a:noFill/>
          <a:ln/>
        </p:spPr>
        <p:txBody>
          <a:bodyPr wrap="square" lIns="0" tIns="0" rIns="0" bIns="0" rtlCol="0" anchor="t"/>
          <a:lstStyle/>
          <a:p>
            <a:pPr indent="0" marL="0">
              <a:buNone/>
            </a:pPr>
            <a:r>
              <a:rPr lang="en-US" sz="2000" dirty="0">
                <a:solidFill>
                  <a:schemeClr val="accent5"/>
                </a:solidFill>
              </a:rPr>
              <a:t>V6 이후 같은 질문의 revision은 없다. r=4 구조 이용이나 CLP 이상 신호는 이 연구를 잇는 근거가 아니라, 필요하다면 새 연구를 제안할 근거일 뿐이다.</a:t>
            </a:r>
            <a:endParaRPr lang="en-US" sz="2000" dirty="0"/>
          </a:p>
        </p:txBody>
      </p:sp>
      <p:sp>
        <p:nvSpPr>
          <p:cNvPr id="5" name="Text 0"/>
          <p:cNvSpPr/>
          <p:nvPr>
            <p:ph idx="103" type="body" hasCustomPrompt="1"/>
          </p:nvPr>
        </p:nvSpPr>
        <p:spPr>
          <a:xfrm>
            <a:off x="731520" y="5897880"/>
            <a:ext cx="8229600" cy="365760"/>
          </a:xfrm>
          <a:prstGeom prst="rect">
            <a:avLst/>
          </a:prstGeom>
          <a:noFill/>
          <a:ln/>
        </p:spPr>
        <p:txBody>
          <a:bodyPr wrap="square" lIns="0" tIns="0" rIns="0" bIns="0" rtlCol="0"/>
          <a:lstStyle/>
          <a:p>
            <a:pPr indent="0" marL="0">
              <a:buNone/>
            </a:pPr>
            <a:r>
              <a:rPr lang="en-US" sz="1200" dirty="0">
                <a:solidFill>
                  <a:schemeClr val="accent5"/>
                </a:solidFill>
              </a:rPr>
              <a:t>질의응답</a:t>
            </a:r>
            <a:endParaRPr lang="en-US" sz="1200" dirty="0"/>
          </a:p>
        </p:txBody>
      </p:sp>
    </p:spTree>
  </p:cSld>
  <p:clrMapOvr>
    <a:masterClrMapping/>
  </p:clrMapOvr>
</p:sld>
</file>

<file path=ppt/theme/theme1.xml><?xml version="1.0" encoding="utf-8"?>
<a:theme xmlns:a="http://schemas.openxmlformats.org/drawingml/2006/main" name="DHI V6">
  <a:themeElements>
    <a:clrScheme name="DHI V6">
      <a:dk1>
        <a:srgbClr val="15202B"/>
      </a:dk1>
      <a:lt1>
        <a:srgbClr val="FFFFFF"/>
      </a:lt1>
      <a:dk2>
        <a:srgbClr val="1E3A48"/>
      </a:dk2>
      <a:lt2>
        <a:srgbClr val="EEF2F5"/>
      </a:lt2>
      <a:accent1>
        <a:srgbClr val="D9731A"/>
      </a:accent1>
      <a:accent2>
        <a:srgbClr val="2F6F7E"/>
      </a:accent2>
      <a:accent3>
        <a:srgbClr val="5F6B78"/>
      </a:accent3>
      <a:accent4>
        <a:srgbClr val="AEB8C3"/>
      </a:accent4>
      <a:accent5>
        <a:srgbClr val="C2D3DA"/>
      </a:accent5>
      <a:accent6>
        <a:srgbClr val="A65A12"/>
      </a:accent6>
      <a:hlink>
        <a:srgbClr val="2F6F7E"/>
      </a:hlink>
      <a:folHlink>
        <a:srgbClr val="5F6B78"/>
      </a:folHlink>
    </a:clrScheme>
    <a:fontScheme name="DHI V6">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DHI V6 최종 결론</dc:title>
  <dc:subject>해시 조건 diffusion 역상 탐색 연구의 최종 판정</dc:subject>
  <dc:creator>DHI 연구</dc:creator>
  <cp:lastModifiedBy>DHI 연구</cp:lastModifiedBy>
  <cp:revision>1</cp:revision>
  <dcterms:created xsi:type="dcterms:W3CDTF">2026-10-03T16:28:11Z</dcterms:created>
  <dcterms:modified xsi:type="dcterms:W3CDTF">2026-10-03T16:28:11Z</dcterms:modified>
</cp:coreProperties>
</file>
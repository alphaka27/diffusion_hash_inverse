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b9012c0618c4478" /><Relationship Type="http://schemas.openxmlformats.org/officeDocument/2006/relationships/extended-properties" Target="/docProps/app.xml" Id="Rb96acc9f711b4408" /><Relationship Type="http://schemas.openxmlformats.org/officeDocument/2006/relationships/officeDocument" Target="/ppt/presentation.xml" Id="Re422708604084125" /></Relationships>
</file>

<file path=ppt/presentation.xml><?xml version="1.0" encoding="utf-8"?>
<p:presentation xmlns:p="http://schemas.openxmlformats.org/presentationml/2006/main">
  <p:sldMasterIdLst>
    <p:sldMasterId xmlns:r="http://schemas.openxmlformats.org/officeDocument/2006/relationships" id="2147483648" r:id="R26e253a345fa490f"/>
  </p:sldMasterIdLst>
  <p:notesMasterIdLst>
    <p:notesMasterId xmlns:r="http://schemas.openxmlformats.org/officeDocument/2006/relationships" r:id="R627953c838e74a1d"/>
  </p:notesMasterIdLst>
  <p:sldIdLst>
    <p:sldId xmlns:r="http://schemas.openxmlformats.org/officeDocument/2006/relationships" id="256" r:id="R413997897be2440f"/>
    <p:sldId xmlns:r="http://schemas.openxmlformats.org/officeDocument/2006/relationships" id="257" r:id="Rba3af0a2d0d94ef7"/>
    <p:sldId xmlns:r="http://schemas.openxmlformats.org/officeDocument/2006/relationships" id="258" r:id="Rc9123cb9956d4681"/>
    <p:sldId xmlns:r="http://schemas.openxmlformats.org/officeDocument/2006/relationships" id="259" r:id="Ra939a569e82d4137"/>
    <p:sldId xmlns:r="http://schemas.openxmlformats.org/officeDocument/2006/relationships" id="260" r:id="R6196e2171649421b"/>
    <p:sldId xmlns:r="http://schemas.openxmlformats.org/officeDocument/2006/relationships" id="261" r:id="Rb685da0d2a4042a1"/>
    <p:sldId xmlns:r="http://schemas.openxmlformats.org/officeDocument/2006/relationships" id="262" r:id="Rc09c76d9dc4e4080"/>
    <p:sldId xmlns:r="http://schemas.openxmlformats.org/officeDocument/2006/relationships" id="263" r:id="R9c668e0a96ba42b5"/>
    <p:sldId xmlns:r="http://schemas.openxmlformats.org/officeDocument/2006/relationships" id="264" r:id="R942ba7a6da5b4e99"/>
    <p:sldId xmlns:r="http://schemas.openxmlformats.org/officeDocument/2006/relationships" id="265" r:id="R8d97b0c8a35f44c0"/>
    <p:sldId xmlns:r="http://schemas.openxmlformats.org/officeDocument/2006/relationships" id="266" r:id="Rbf7512d273404942"/>
    <p:sldId xmlns:r="http://schemas.openxmlformats.org/officeDocument/2006/relationships" id="267" r:id="Rd287158f7610485b"/>
    <p:sldId xmlns:r="http://schemas.openxmlformats.org/officeDocument/2006/relationships" id="268" r:id="R568a07cab0804d12"/>
    <p:sldId xmlns:r="http://schemas.openxmlformats.org/officeDocument/2006/relationships" id="269" r:id="Rd5ccdd9bbafd4091"/>
    <p:sldId xmlns:r="http://schemas.openxmlformats.org/officeDocument/2006/relationships" id="270" r:id="Rda0a993d485143f3"/>
    <p:sldId xmlns:r="http://schemas.openxmlformats.org/officeDocument/2006/relationships" id="271" r:id="R06f770df1b844654"/>
    <p:sldId xmlns:r="http://schemas.openxmlformats.org/officeDocument/2006/relationships" id="272" r:id="R89bdf4ecc90645de"/>
    <p:sldId xmlns:r="http://schemas.openxmlformats.org/officeDocument/2006/relationships" id="273" r:id="Rc04e9ecc8db645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bbee7660484f92" /><Relationship Type="http://schemas.openxmlformats.org/officeDocument/2006/relationships/slideMaster" Target="/ppt/slideMasters/slideMaster1.xml" Id="R26e253a345fa490f" /><Relationship Type="http://schemas.openxmlformats.org/officeDocument/2006/relationships/notesMaster" Target="/ppt/notesMasters/notesMaster1.xml" Id="R627953c838e74a1d" /><Relationship Type="http://schemas.openxmlformats.org/officeDocument/2006/relationships/presProps" Target="/ppt/presProps.xml" Id="Rfcb58165367f4099" /><Relationship Type="http://schemas.openxmlformats.org/officeDocument/2006/relationships/tableStyles" Target="/ppt/tableStyles.xml" Id="R2f1c2df15d114024" /><Relationship Type="http://schemas.openxmlformats.org/officeDocument/2006/relationships/slide" Target="/ppt/slides/slide1.xml" Id="R413997897be2440f" /><Relationship Type="http://schemas.openxmlformats.org/officeDocument/2006/relationships/slide" Target="/ppt/slides/slide2.xml" Id="Rba3af0a2d0d94ef7" /><Relationship Type="http://schemas.openxmlformats.org/officeDocument/2006/relationships/slide" Target="/ppt/slides/slide3.xml" Id="Rc9123cb9956d4681" /><Relationship Type="http://schemas.openxmlformats.org/officeDocument/2006/relationships/slide" Target="/ppt/slides/slide4.xml" Id="Ra939a569e82d4137" /><Relationship Type="http://schemas.openxmlformats.org/officeDocument/2006/relationships/slide" Target="/ppt/slides/slide5.xml" Id="R6196e2171649421b" /><Relationship Type="http://schemas.openxmlformats.org/officeDocument/2006/relationships/slide" Target="/ppt/slides/slide6.xml" Id="Rb685da0d2a4042a1" /><Relationship Type="http://schemas.openxmlformats.org/officeDocument/2006/relationships/slide" Target="/ppt/slides/slide7.xml" Id="Rc09c76d9dc4e4080" /><Relationship Type="http://schemas.openxmlformats.org/officeDocument/2006/relationships/slide" Target="/ppt/slides/slide8.xml" Id="R9c668e0a96ba42b5" /><Relationship Type="http://schemas.openxmlformats.org/officeDocument/2006/relationships/slide" Target="/ppt/slides/slide9.xml" Id="R942ba7a6da5b4e99" /><Relationship Type="http://schemas.openxmlformats.org/officeDocument/2006/relationships/slide" Target="/ppt/slides/slide10.xml" Id="R8d97b0c8a35f44c0" /><Relationship Type="http://schemas.openxmlformats.org/officeDocument/2006/relationships/slide" Target="/ppt/slides/slide11.xml" Id="Rbf7512d273404942" /><Relationship Type="http://schemas.openxmlformats.org/officeDocument/2006/relationships/slide" Target="/ppt/slides/slide12.xml" Id="Rd287158f7610485b" /><Relationship Type="http://schemas.openxmlformats.org/officeDocument/2006/relationships/slide" Target="/ppt/slides/slide13.xml" Id="R568a07cab0804d12" /><Relationship Type="http://schemas.openxmlformats.org/officeDocument/2006/relationships/slide" Target="/ppt/slides/slide14.xml" Id="Rd5ccdd9bbafd4091" /><Relationship Type="http://schemas.openxmlformats.org/officeDocument/2006/relationships/slide" Target="/ppt/slides/slide15.xml" Id="Rda0a993d485143f3" /><Relationship Type="http://schemas.openxmlformats.org/officeDocument/2006/relationships/slide" Target="/ppt/slides/slide16.xml" Id="R06f770df1b844654" /><Relationship Type="http://schemas.openxmlformats.org/officeDocument/2006/relationships/slide" Target="/ppt/slides/slide17.xml" Id="R89bdf4ecc90645de" /><Relationship Type="http://schemas.openxmlformats.org/officeDocument/2006/relationships/slide" Target="/ppt/slides/slide18.xml" Id="Rc04e9ecc8db645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5b88ac766f4c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ko-KR" altLang="en-US"/>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majorFont>
      <a:minorFont>
        <a:latin typeface="Malgun Gothic"/>
        <a:ea typeface="Malgun Gothic"/>
        <a:cs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109fdaf3c7490f" /><Relationship Type="http://schemas.openxmlformats.org/officeDocument/2006/relationships/notesMaster" Target="/ppt/notesMasters/notesMaster1.xml" Id="R5619eea8a13f49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44d1891d854961" /><Relationship Type="http://schemas.openxmlformats.org/officeDocument/2006/relationships/notesMaster" Target="/ppt/notesMasters/notesMaster1.xml" Id="R1d29080a379c40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0f02cb0e2c46c5" /><Relationship Type="http://schemas.openxmlformats.org/officeDocument/2006/relationships/notesMaster" Target="/ppt/notesMasters/notesMaster1.xml" Id="R988f88b85a4d4a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12ef0550214b3d" /><Relationship Type="http://schemas.openxmlformats.org/officeDocument/2006/relationships/notesMaster" Target="/ppt/notesMasters/notesMaster1.xml" Id="R080c2072ffe746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cc79f2aa0f4536" /><Relationship Type="http://schemas.openxmlformats.org/officeDocument/2006/relationships/notesMaster" Target="/ppt/notesMasters/notesMaster1.xml" Id="Recdf3ea520474e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6282c9fdbe4eee" /><Relationship Type="http://schemas.openxmlformats.org/officeDocument/2006/relationships/notesMaster" Target="/ppt/notesMasters/notesMaster1.xml" Id="R4f8d3cb1b8e14b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9e2f5bda34421e" /><Relationship Type="http://schemas.openxmlformats.org/officeDocument/2006/relationships/notesMaster" Target="/ppt/notesMasters/notesMaster1.xml" Id="R6bd3d248378f41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e2acc3a56149d4" /><Relationship Type="http://schemas.openxmlformats.org/officeDocument/2006/relationships/notesMaster" Target="/ppt/notesMasters/notesMaster1.xml" Id="R3dac3a01533943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62af1b97f34dda" /><Relationship Type="http://schemas.openxmlformats.org/officeDocument/2006/relationships/notesMaster" Target="/ppt/notesMasters/notesMaster1.xml" Id="Rb87dce1b046944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baf7842fff44d5" /><Relationship Type="http://schemas.openxmlformats.org/officeDocument/2006/relationships/notesMaster" Target="/ppt/notesMasters/notesMaster1.xml" Id="Rf18b8da019e348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3c1e5971544362" /><Relationship Type="http://schemas.openxmlformats.org/officeDocument/2006/relationships/notesMaster" Target="/ppt/notesMasters/notesMaster1.xml" Id="R3584321048774f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15784871a54e4e" /><Relationship Type="http://schemas.openxmlformats.org/officeDocument/2006/relationships/notesMaster" Target="/ppt/notesMasters/notesMaster1.xml" Id="R4150a821fc7d45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3d7b14996e4bf7" /><Relationship Type="http://schemas.openxmlformats.org/officeDocument/2006/relationships/notesMaster" Target="/ppt/notesMasters/notesMaster1.xml" Id="Rde963dc8d07347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2557aeb9dd4449" /><Relationship Type="http://schemas.openxmlformats.org/officeDocument/2006/relationships/notesMaster" Target="/ppt/notesMasters/notesMaster1.xml" Id="R52898d27515b477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09c69f4d0c4c2a" /><Relationship Type="http://schemas.openxmlformats.org/officeDocument/2006/relationships/notesMaster" Target="/ppt/notesMasters/notesMaster1.xml" Id="R4d2050d5b79743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395bf68dde4a36" /><Relationship Type="http://schemas.openxmlformats.org/officeDocument/2006/relationships/notesMaster" Target="/ppt/notesMasters/notesMaster1.xml" Id="Rc2432c5041e546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9b8fa49f568436b" /><Relationship Type="http://schemas.openxmlformats.org/officeDocument/2006/relationships/notesMaster" Target="/ppt/notesMasters/notesMaster1.xml" Id="R8ad6bb1dc52f4f7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18e3527ab74ce1" /><Relationship Type="http://schemas.openxmlformats.org/officeDocument/2006/relationships/notesMaster" Target="/ppt/notesMasters/notesMaster1.xml" Id="Rcf81266bf2b648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V6 최종 실행은 2026-10-03 15:57 KST에 종료했다. 이번 발표는 실험 목적, 과정, 결과와 해석의 범위를 정리한다.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질문은 미학습 MD5 12-bit target에 대한 조건부 생성의 이득이다. 원래 메시지의 복원을 요구하지 않는다. 임의의 후보가 지정 window와 일치하면 성공이다. 정규 MD5는 r=64 step이고 전체 128-bit digest 중 W3의 12 bits를 평가한다.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이전 버전의 판정은 바꾸지 않는다. V5는 C1을 통과했지만 Stage C의 첫 look을 완료하지 못했으므로 확증적 기각이 아니었다. V6는 새 W3 데이터로 별도의 등록된 판정을 수행했다.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 0x21–0x7E의 94개 Printable 기호. R: 0x00–0xFF의 256개 바이트. 메시지 길이 4–31. BGV는 바이트의 8-bit 패턴을 블록 이미지로, CGGE는 문자를 glyph 이미지로 표현한다. G3-U는 Gaussian diffusion, D1-S는 discrete diffusion.</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Main은 실제 해시 조건으로 학습한 모델이다. Random은 source prior의 균일 길이 및 독립 기호 샘플링이다. Shuffled는 Main과 데이터 및 초기화 등을 공유하지만 조건 대응을 섞어 학습한다. MC는 같은 Main에 잘못된 다른 조건을 준다. MC는 Stage P와 S에서 사용하고 Stage C 주 판정의 대조는 Random과 Shuffled다.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2026-09-30 20:36부터 2026-10-03 15:57 KST. 시간은 budget 원장의 단계별 청구시간으로 합계 67.3397시간이다. Stage A 뒤 설정·예산·W3/W4 인증을 봉인했다. Stage R은 감사 통과 POSITIVE 파이프라인에만 실행하며 이번 연구에서는 대상이 없었다. A-impl의 MD5 호출은 implementation fixture 범위다. 연구 MD5 조건 데이터는 봉인 이후 생성한다.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W3 target 4096개는 train 2816 / validation 256 / test 1024로 분리된다. checkpoint 30개 봉인 후 공통 trial 목록을 복원추출한다. trial별 3 seed 차이 평균으로 paired 추정량과 표준오차를 계산한다. alpha=0.05를 5 pipelines × 2 controls × 2 sides에 나누고 look share .1/.4/.5로 배분한다. z=3.4808/3.0902/3.0233. 등록된 동시 구간은 고정 test pool, checkpoint 및 seed에 조건부이다.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A-Q는 synthetic prefix 조건의 생성 적격성 과제다. 정상/반전 joint는 유효한 후보이면서 요청 조건을 만족한 수다. 5 pipelines × 3 seeds 모두 정상 512/512, 반전 512/512. CLP 검사도 모두 통과했으며 repair는 필요하지 않았다. 이 검사는 정규 MD5 효과를 직접 증명하지 않는다. </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값은 16384 trials × 3 seeds의 Success@100 평균이다. 3 seed를 49152개의 독립 target trial처럼 해석하지 않는다. 주 판정은 공통 trial별 paired 차이의 seed 평균에 근거한다. 무작위 독립 균등 hash 가정의 참고값 p0=1-(1-2^-12)^100=2.4121359%. 참고값 자체는 검정의 대조군을 대체하지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구간은 사전 등록된 Bonferroni 동시 구간이다. look 2의 z=3.090232306. 모든 구간은 0을 포함하고 상한은 delta .005보다 작다. 결과는 통계적 비유의성에 그치지 않고 최소 관심 효과 이상을 배제한다. 효과가 정확히 0임을 증명하지는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 1: P-G-BGV, R-DISC가 REJECTED_BOUNDED이고 나머지 3개는 미결. look 2에서는 모든 pipeline이 REJECTED_BOUNDED여서 등록된 공동 중단을 실행했다. Stage C budget_stop=false. C 시간=41.1967h, cap=80h. 이는 V5의 NOT_ESTABLISHED_BY_BUDGET과 다른 완료된 확증 판정이다.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 4-step MD5 W1, 4096 trials, seed 0, K=100. 각 pipeline은 Main-Random과 Main-MC의 one-sided 하한이 모두 0보다 커 GEN_4를 통과했다. CLP INFO_4도 모두 통과했다. Printable과 Random Bytes의 source 제약이 달라 두 source 간 성공률 차이를 모델의 순수 능력 차이로 단정하지 않는다. 이 결과로 정규 MD5의 혼합 과정이 효과 부재의 원인이라는 인과관계를 확정할 수는 없다.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정답 조건과 바꾼 조건에 대한 모델 점수 차이를 이용하는 보조 진단이다. r=4와 정규 MD5의 INFO 기준은 one-sided z&gt;2.878이다. C 주 판정은 생성 hit만으로 하며 CLP가 변경하지 않는다. CLP_64는 seed별 65536 pairs 합산. 대비 6쌍 × 2 controls의 보조 구간에서는 EQUIVALENT_WITHIN_DELTA 8건, UNDETERMINED 4건, DIFFERENT 0건. 4건이 미확정이므로 모든 pipeline의 동등성을 주장하지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rho는 단일 core prior sampling+hashlib 속도 1436163/s를 모델에 유리한 A-prof-1 burst 생성 속도로 나눈 값이다. rho×2^-12는 질의당 계산 손익분기의 후보당 성공확률이며 Success@100과 단위가 다르다. 모든 pipeline C3가 SUPPORTED가 아니므로 등록 C4는 NO_ADVANTAGE. 학습 1 run 14894545 MD5 calls 대비 4096 target 전체 lookup 기대 36434 calls는 약409배. 여기의 표는 추론비용만 비교한 것이다.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D1-T-L의 파라미터는 6,415,308개이고 D1-S P는 508,668개로, 비율은 12.61배다. 학습 160,000 updates, 새 학습 쌍 40,960,000개로 주 실험의 4배다. Stage S는 선택적 보조 단계이며 seed 0, CLP 65,536쌍을 쓴다. SCALE_SIGNAL 기준은 z &gt; 3.2905267이다. 4,096 trials의 Success@100은 기술통계로만 사용하고 C3 판정을 바꾸지 않는다. 한 번의 규모 확대가 임의의 더 큰 모델에 대한 결론을 주지는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FINAL_REJECTED 조건은 5개 모두 REJECTED_*이다. 본 실행은 더 구체적으로 모든 pipeline이 REJECTED_BOUNDED. 약한 구조에서 능력은 확인했지만 정규 MD5에서 delta 이상의 효과를 배제했다. 모든 효과가 정확히 0이라는 명제, 모든 diffusion의 불가능성, MD5 내부 구조가 전혀 없다는 명제를 증명한 결과가 아니다. 연구 계획상 V6 이후 같은 질문의 revision은 없이 종료한다.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실측 범위는 Printable과 Random Bytes, 정규 64-step MD5의 12-bit W3, 등록된 5개 파이프라인과 decoder, sampler, 40,000 updates, K=100이다. 추론은 고정 test pool과 checkpoint, seed에 조건부다. W4 재현은 POSITIVE가 없어 실행하지 않았다. r=4 W1과 Stage S는 보조 실험이다. 효과가 0임을 증명하지 않고 0.5%p 이상을 배제한다. q=8/16, 전체 128-bit MD5 역상, SHA-256, 다른 모델과 더 많은 학습량은 이번 자료에서 시험하지 않았다.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질문과 판정 규칙은 RESEARCH_PLAN_V6.md, 고정 등록값은 examples/v6-protocol.json에 있다. 최종 실행의 단계별 결과와 효과 구간은 아래 1차 자료에서 확인할 수 있다. 계획서의 예측과 최종 실행의 실측값을 구분한다.</a:t>
            </a:r>
          </a:p>
          <a:p xmlns:a="http://schemas.openxmlformats.org/drawingml/2006/main">
            <a:r>
              <a:t/>
            </a:r>
          </a:p>
          <a:p xmlns:a="http://schemas.openxmlformats.org/drawingml/2006/main">
            <a:r>
              <a:t>/Users/choisoonwook/Experiments_local/DHI_AI_gen/local_experiment_archive/runs/v6-study-r2/decision.json</a:t>
            </a:r>
          </a:p>
          <a:p xmlns:a="http://schemas.openxmlformats.org/drawingml/2006/main">
            <a:r>
              <a:t>/Users/choisoonwook/Experiments_local/DHI_AI_gen/local_experiment_archive/runs/v6-study-r2/FINAL_REPORT_KO.md</a:t>
            </a:r>
          </a:p>
          <a:p xmlns:a="http://schemas.openxmlformats.org/drawingml/2006/main">
            <a:r>
              <a:t>/Users/choisoonwook/Experiments_local/DHI_AI_gen/local_experiment_archive/runs/v6-study-r2/A.json</a:t>
            </a:r>
          </a:p>
          <a:p xmlns:a="http://schemas.openxmlformats.org/drawingml/2006/main">
            <a:r>
              <a:t>/Users/choisoonwook/Experiments_local/DHI_AI_gen/local_experiment_archive/runs/v6-study-r2/A-impl.json</a:t>
            </a:r>
          </a:p>
          <a:p xmlns:a="http://schemas.openxmlformats.org/drawingml/2006/main">
            <a:r>
              <a:t>/Users/choisoonwook/Experiments_local/DHI_AI_gen/local_experiment_archive/runs/v6-study-r2/C.json</a:t>
            </a:r>
          </a:p>
          <a:p xmlns:a="http://schemas.openxmlformats.org/drawingml/2006/main">
            <a:r>
              <a:t>/Users/choisoonwook/Experiments_local/DHI_AI_gen/local_experiment_archive/runs/v6-study-r2/P.json</a:t>
            </a:r>
          </a:p>
          <a:p xmlns:a="http://schemas.openxmlformats.org/drawingml/2006/main">
            <a:r>
              <a:t>/Users/choisoonwook/Experiments_local/DHI_AI_gen/local_experiment_archive/runs/v6-study-r2/S.json</a:t>
            </a:r>
          </a:p>
          <a:p xmlns:a="http://schemas.openxmlformats.org/drawingml/2006/main">
            <a:r>
              <a:t>/Users/choisoonwook/Experiments_local/DHI_AI_gen/local_experiment_archive/runs/v6-study-r2/protocol.frozen.json</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37541d2b034a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0431b84ebc4763" /><Relationship Type="http://schemas.openxmlformats.org/officeDocument/2006/relationships/slideLayout" Target="/ppt/slideLayouts/slideLayout1.xml" Id="R4e8d7e353ae640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d7e353ae64025"/>
  </p:sldLayoutIdLst>
  <p:txStyles>
    <p:titleStyle>
      <a:lvl1pPr xmlns:a="http://schemas.openxmlformats.org/drawingml/2006/main" algn="l">
        <a:lnSpc>
          <a:spcPct val="90000"/>
        </a:lnSpc>
        <a:spcBef>
          <a:spcPts val="0"/>
        </a:spcBef>
        <a:buNone/>
        <a:defRPr sz="4400" lang="ko-KR" altLang="en-US">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lang="ko-KR" altLang="en-US">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lang="ko-KR" altLang="en-US">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lang="ko-KR" altLang="en-US">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lang="ko-KR" altLang="en-US">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lang="ko-KR" altLang="en-US">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lang="ko-KR" altLang="en-US">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lang="ko-KR" altLang="en-US">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lang="ko-KR" altLang="en-US">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lang="ko-KR" altLang="en-US">
          <a:solidFill>
            <a:schemeClr val="tx1"/>
          </a:solidFill>
          <a:latin typeface="+mn-lt"/>
          <a:ea typeface="+mn-lt"/>
          <a:cs typeface="+mn-lt"/>
        </a:defRPr>
      </a:lvl9pPr>
    </p:bodyStyle>
    <p:otherStyle>
      <a:lvl1pPr xmlns:a="http://schemas.openxmlformats.org/drawingml/2006/main" marL="0" algn="l">
        <a:buNone/>
        <a:defRPr sz="1800" lang="ko-KR" altLang="en-US">
          <a:solidFill>
            <a:schemeClr val="tx1"/>
          </a:solidFill>
          <a:latin typeface="+mn-lt"/>
          <a:ea typeface="+mn-lt"/>
          <a:cs typeface="+mn-lt"/>
        </a:defRPr>
      </a:lvl1pPr>
      <a:lvl2pPr xmlns:a="http://schemas.openxmlformats.org/drawingml/2006/main" marL="457200" algn="l">
        <a:buNone/>
        <a:defRPr sz="1800" lang="ko-KR" altLang="en-US">
          <a:solidFill>
            <a:schemeClr val="tx1"/>
          </a:solidFill>
          <a:latin typeface="+mn-lt"/>
          <a:ea typeface="+mn-lt"/>
          <a:cs typeface="+mn-lt"/>
        </a:defRPr>
      </a:lvl2pPr>
      <a:lvl3pPr xmlns:a="http://schemas.openxmlformats.org/drawingml/2006/main" marL="914400" algn="l">
        <a:buNone/>
        <a:defRPr sz="1800" lang="ko-KR" altLang="en-US">
          <a:solidFill>
            <a:schemeClr val="tx1"/>
          </a:solidFill>
          <a:latin typeface="+mn-lt"/>
          <a:ea typeface="+mn-lt"/>
          <a:cs typeface="+mn-lt"/>
        </a:defRPr>
      </a:lvl3pPr>
      <a:lvl4pPr xmlns:a="http://schemas.openxmlformats.org/drawingml/2006/main" marL="1371600" algn="l">
        <a:buNone/>
        <a:defRPr sz="1800" lang="ko-KR" altLang="en-US">
          <a:solidFill>
            <a:schemeClr val="tx1"/>
          </a:solidFill>
          <a:latin typeface="+mn-lt"/>
          <a:ea typeface="+mn-lt"/>
          <a:cs typeface="+mn-lt"/>
        </a:defRPr>
      </a:lvl4pPr>
      <a:lvl5pPr xmlns:a="http://schemas.openxmlformats.org/drawingml/2006/main" marL="1828800" algn="l">
        <a:buNone/>
        <a:defRPr sz="1800" lang="ko-KR" altLang="en-US">
          <a:solidFill>
            <a:schemeClr val="tx1"/>
          </a:solidFill>
          <a:latin typeface="+mn-lt"/>
          <a:ea typeface="+mn-lt"/>
          <a:cs typeface="+mn-lt"/>
        </a:defRPr>
      </a:lvl5pPr>
      <a:lvl6pPr xmlns:a="http://schemas.openxmlformats.org/drawingml/2006/main" marL="2286000" algn="l">
        <a:buNone/>
        <a:defRPr sz="1800" lang="ko-KR" altLang="en-US">
          <a:solidFill>
            <a:schemeClr val="tx1"/>
          </a:solidFill>
          <a:latin typeface="+mn-lt"/>
          <a:ea typeface="+mn-lt"/>
          <a:cs typeface="+mn-lt"/>
        </a:defRPr>
      </a:lvl6pPr>
      <a:lvl7pPr xmlns:a="http://schemas.openxmlformats.org/drawingml/2006/main" marL="2743200" algn="l">
        <a:buNone/>
        <a:defRPr sz="1800" lang="ko-KR" altLang="en-US">
          <a:solidFill>
            <a:schemeClr val="tx1"/>
          </a:solidFill>
          <a:latin typeface="+mn-lt"/>
          <a:ea typeface="+mn-lt"/>
          <a:cs typeface="+mn-lt"/>
        </a:defRPr>
      </a:lvl7pPr>
      <a:lvl8pPr xmlns:a="http://schemas.openxmlformats.org/drawingml/2006/main" marL="3200400" algn="l">
        <a:buNone/>
        <a:defRPr sz="1800" lang="ko-KR" altLang="en-US">
          <a:solidFill>
            <a:schemeClr val="tx1"/>
          </a:solidFill>
          <a:latin typeface="+mn-lt"/>
          <a:ea typeface="+mn-lt"/>
          <a:cs typeface="+mn-lt"/>
        </a:defRPr>
      </a:lvl8pPr>
      <a:lvl9pPr xmlns:a="http://schemas.openxmlformats.org/drawingml/2006/main" marL="3657600" algn="l">
        <a:buNone/>
        <a:defRPr sz="1800" lang="ko-KR" altLang="en-US">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majorFont>
      <a:minorFont>
        <a:latin typeface="Malgun Gothic"/>
        <a:ea typeface="Malgun Gothic"/>
        <a:cs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f3e54b5feb49b5" /><Relationship Type="http://schemas.openxmlformats.org/officeDocument/2006/relationships/notesSlide" Target="/ppt/notesSlides/notesSlide1.xml" Id="R2e37ad76362d40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3029934eff4a3a" /><Relationship Type="http://schemas.openxmlformats.org/officeDocument/2006/relationships/notesSlide" Target="/ppt/notesSlides/notesSlide2.xml" Id="Rbc4eeb02d41a4c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55b242dbc142fb" /><Relationship Type="http://schemas.openxmlformats.org/officeDocument/2006/relationships/notesSlide" Target="/ppt/notesSlides/notesSlide3.xml" Id="R336206ea500d4d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62bc06e9784496" /><Relationship Type="http://schemas.openxmlformats.org/officeDocument/2006/relationships/notesSlide" Target="/ppt/notesSlides/notesSlide4.xml" Id="R8995ca6109a445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2a6d130c2a41ee" /><Relationship Type="http://schemas.openxmlformats.org/officeDocument/2006/relationships/notesSlide" Target="/ppt/notesSlides/notesSlide5.xml" Id="Rf57eb5fe3b714e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102e5de12549f3" /><Relationship Type="http://schemas.openxmlformats.org/officeDocument/2006/relationships/notesSlide" Target="/ppt/notesSlides/notesSlide6.xml" Id="R0555c6551e1748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ddbde81b0249ac" /><Relationship Type="http://schemas.openxmlformats.org/officeDocument/2006/relationships/notesSlide" Target="/ppt/notesSlides/notesSlide7.xml" Id="Ra7133bba859641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cc76cc6ab9439d" /><Relationship Type="http://schemas.openxmlformats.org/officeDocument/2006/relationships/notesSlide" Target="/ppt/notesSlides/notesSlide8.xml" Id="R77819a4c23344c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ede907dcc9b4474" /><Relationship Type="http://schemas.openxmlformats.org/officeDocument/2006/relationships/chart" Target="/ppt/slides/charts/chart1.xml" Id="R179eef5c57964e5d" /><Relationship Type="http://schemas.openxmlformats.org/officeDocument/2006/relationships/notesSlide" Target="/ppt/notesSlides/notesSlide9.xml" Id="R9784acf83a9040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1379e50fec4ee7" /><Relationship Type="http://schemas.openxmlformats.org/officeDocument/2006/relationships/notesSlide" Target="/ppt/notesSlides/notesSlide10.xml" Id="Rb67d651317d646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5217ad3f764728" /><Relationship Type="http://schemas.openxmlformats.org/officeDocument/2006/relationships/notesSlide" Target="/ppt/notesSlides/notesSlide11.xml" Id="R7cabc7045cbe49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80131c36774ea1" /><Relationship Type="http://schemas.openxmlformats.org/officeDocument/2006/relationships/chart" Target="/ppt/slides/charts/chart2.xml" Id="R9dab858674074077" /><Relationship Type="http://schemas.openxmlformats.org/officeDocument/2006/relationships/notesSlide" Target="/ppt/notesSlides/notesSlide12.xml" Id="Rd6422de685ef4d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4569755ff6457b" /><Relationship Type="http://schemas.openxmlformats.org/officeDocument/2006/relationships/notesSlide" Target="/ppt/notesSlides/notesSlide13.xml" Id="R397528a32ee543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a8a889169a45f4" /><Relationship Type="http://schemas.openxmlformats.org/officeDocument/2006/relationships/notesSlide" Target="/ppt/notesSlides/notesSlide14.xml" Id="R2c5d044bcb154d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c4a6aa48ea1489c" /><Relationship Type="http://schemas.openxmlformats.org/officeDocument/2006/relationships/notesSlide" Target="/ppt/notesSlides/notesSlide15.xml" Id="Ra59fae24046543e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81d25aedc04cd0" /><Relationship Type="http://schemas.openxmlformats.org/officeDocument/2006/relationships/notesSlide" Target="/ppt/notesSlides/notesSlide16.xml" Id="R4b6f934860a543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69aaacef01f491e" /><Relationship Type="http://schemas.openxmlformats.org/officeDocument/2006/relationships/notesSlide" Target="/ppt/notesSlides/notesSlide17.xml" Id="R9c38cd6cb8764e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b0579e5030414a" /><Relationship Type="http://schemas.openxmlformats.org/officeDocument/2006/relationships/notesSlide" Target="/ppt/notesSlides/notesSlide18.xml" Id="R50e03ec0b5ae46a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ko-KR"/>
  <c:chart>
    <c:plotArea>
      <c:barChart>
        <c:barDir val="col"/>
        <c:grouping val="clustered"/>
        <c:varyColors val="0"/>
        <c:ser>
          <c:idx val="0"/>
          <c:order val="0"/>
          <c:tx>
            <c:v>Main</c:v>
          </c:tx>
          <c:spPr>
            <a:solidFill xmlns:a="http://schemas.openxmlformats.org/drawingml/2006/main">
              <a:srgbClr val="142C43"/>
            </a:solidFill>
          </c:spPr>
          <c:cat>
            <c:strRef>
              <c:f>'Chart Data'!$A$2:$A$6</c:f>
              <c:strCache>
                <c:ptCount val="5"/>
                <c:pt idx="0">
                  <c:v>P-G-BGV</c:v>
                </c:pt>
                <c:pt idx="1">
                  <c:v>P-G-CGGE</c:v>
                </c:pt>
                <c:pt idx="2">
                  <c:v>P-DISC</c:v>
                </c:pt>
                <c:pt idx="3">
                  <c:v>R-G-BGV</c:v>
                </c:pt>
                <c:pt idx="4">
                  <c:v>R-DISC</c:v>
                </c:pt>
              </c:strCache>
            </c:strRef>
          </c:cat>
          <c:val>
            <c:numRef>
              <c:f>'Chart Data'!$B$2:$B$6</c:f>
              <c:numCache>
                <c:formatCode>0.0%</c:formatCode>
                <c:ptCount val="5"/>
                <c:pt idx="0">
                  <c:v>0.0230916341146</c:v>
                </c:pt>
                <c:pt idx="1">
                  <c:v>0.02490234375</c:v>
                </c:pt>
                <c:pt idx="2">
                  <c:v>0.0255126953125</c:v>
                </c:pt>
                <c:pt idx="3">
                  <c:v>0.0240681966146</c:v>
                </c:pt>
                <c:pt idx="4">
                  <c:v>0.0241088867188</c:v>
                </c:pt>
              </c:numCache>
            </c:numRef>
          </c:val>
        </c:ser>
        <c:ser>
          <c:idx val="1"/>
          <c:order val="1"/>
          <c:tx>
            <c:v>Random</c:v>
          </c:tx>
          <c:spPr>
            <a:solidFill xmlns:a="http://schemas.openxmlformats.org/drawingml/2006/main">
              <a:srgbClr val="087F82"/>
            </a:solidFill>
          </c:spPr>
          <c:cat>
            <c:strRef>
              <c:f>'Chart Data'!$C$2:$C$6</c:f>
              <c:strCache>
                <c:ptCount val="5"/>
                <c:pt idx="0">
                  <c:v>P-G-BGV</c:v>
                </c:pt>
                <c:pt idx="1">
                  <c:v>P-G-CGGE</c:v>
                </c:pt>
                <c:pt idx="2">
                  <c:v>P-DISC</c:v>
                </c:pt>
                <c:pt idx="3">
                  <c:v>R-G-BGV</c:v>
                </c:pt>
                <c:pt idx="4">
                  <c:v>R-DISC</c:v>
                </c:pt>
              </c:strCache>
            </c:strRef>
          </c:cat>
          <c:val>
            <c:numRef>
              <c:f>'Chart Data'!$D$2:$D$6</c:f>
              <c:numCache>
                <c:formatCode>0.0%</c:formatCode>
                <c:ptCount val="5"/>
                <c:pt idx="0">
                  <c:v>0.0249430338542</c:v>
                </c:pt>
                <c:pt idx="1">
                  <c:v>0.0249430338542</c:v>
                </c:pt>
                <c:pt idx="2">
                  <c:v>0.0249430338542</c:v>
                </c:pt>
                <c:pt idx="3">
                  <c:v>0.0244547526042</c:v>
                </c:pt>
                <c:pt idx="4">
                  <c:v>0.0244547526042</c:v>
                </c:pt>
              </c:numCache>
            </c:numRef>
          </c:val>
        </c:ser>
        <c:ser>
          <c:idx val="2"/>
          <c:order val="2"/>
          <c:tx>
            <c:v>Shuffled</c:v>
          </c:tx>
          <c:spPr>
            <a:solidFill xmlns:a="http://schemas.openxmlformats.org/drawingml/2006/main">
              <a:srgbClr val="A6B3BC"/>
            </a:solidFill>
          </c:spPr>
          <c:cat>
            <c:strRef>
              <c:f>'Chart Data'!$E$2:$E$6</c:f>
              <c:strCache>
                <c:ptCount val="5"/>
                <c:pt idx="0">
                  <c:v>P-G-BGV</c:v>
                </c:pt>
                <c:pt idx="1">
                  <c:v>P-G-CGGE</c:v>
                </c:pt>
                <c:pt idx="2">
                  <c:v>P-DISC</c:v>
                </c:pt>
                <c:pt idx="3">
                  <c:v>R-G-BGV</c:v>
                </c:pt>
                <c:pt idx="4">
                  <c:v>R-DISC</c:v>
                </c:pt>
              </c:strCache>
            </c:strRef>
          </c:cat>
          <c:val>
            <c:numRef>
              <c:f>'Chart Data'!$F$2:$F$6</c:f>
              <c:numCache>
                <c:formatCode>0.0%</c:formatCode>
                <c:ptCount val="5"/>
                <c:pt idx="0">
                  <c:v>0.0240071614583</c:v>
                </c:pt>
                <c:pt idx="1">
                  <c:v>0.0243123372396</c:v>
                </c:pt>
                <c:pt idx="2">
                  <c:v>0.0248209635417</c:v>
                </c:pt>
                <c:pt idx="3">
                  <c:v>0.0242716471354</c:v>
                </c:pt>
                <c:pt idx="4">
                  <c:v>0.0241088867188</c:v>
                </c:pt>
              </c:numCache>
            </c:numRef>
          </c:val>
        </c:ser>
        <c:dLbls>
          <c:txPr>
            <a:bodyPr xmlns:a="http://schemas.openxmlformats.org/drawingml/2006/main" anchorCtr="1"/>
            <a:lstStyle xmlns:a="http://schemas.openxmlformats.org/drawingml/2006/main"/>
            <a:p xmlns:a="http://schemas.openxmlformats.org/drawingml/2006/main">
              <a:pPr>
                <a:defRPr sz="1500" lang="ko-KR" altLang="en-US">
                  <a:solidFill>
                    <a:srgbClr val="203648"/>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7"/>
            </a:solidFill>
          </a:ln>
        </c:spPr>
        <c:txPr>
          <a:bodyPr xmlns:a="http://schemas.openxmlformats.org/drawingml/2006/main" anchorCtr="1"/>
          <a:lstStyle xmlns:a="http://schemas.openxmlformats.org/drawingml/2006/main"/>
          <a:p xmlns:a="http://schemas.openxmlformats.org/drawingml/2006/main">
            <a:pPr>
              <a:defRPr sz="1650" lang="ko-KR" altLang="en-US">
                <a:solidFill>
                  <a:srgbClr val="203648"/>
                </a:solidFill>
                <a:latin typeface="Malgun Gothic"/>
                <a:ea typeface="Malgun Gothic"/>
                <a:cs typeface="Malgun Gothic"/>
              </a:defRPr>
            </a:pPr>
          </a:p>
        </c:txPr>
        <c:crossAx val="48672768"/>
      </c:catAx>
      <c:valAx>
        <c:axId val="48672768"/>
        <c:scaling>
          <c:orientation val="minMax"/>
          <c:max val="0.03"/>
          <c:min val="0"/>
        </c:scaling>
        <c:delete val="0"/>
        <c:axPos val="l"/>
        <c:majorGridlines>
          <c:spPr>
            <a:ln xmlns:a="http://schemas.openxmlformats.org/drawingml/2006/main" w="9525">
              <a:solidFill>
                <a:srgbClr val="DCE3E7"/>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lang="ko-KR" altLang="en-US">
                <a:solidFill>
                  <a:srgbClr val="5A6B78"/>
                </a:solidFill>
                <a:latin typeface="Malgun Gothic"/>
                <a:ea typeface="Malgun Gothic"/>
                <a:cs typeface="Malgun Gothic"/>
              </a:defRPr>
            </a:pPr>
          </a:p>
        </c:txPr>
        <c:crossAx val="48650112"/>
        <c:crossBetween val="between"/>
        <c:majorUnit val="0.0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lang="ko-KR" altLang="en-US">
              <a:solidFill>
                <a:srgbClr val="203648"/>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ko-KR"/>
  <c:chart>
    <c:plotArea>
      <c:barChart>
        <c:barDir val="col"/>
        <c:grouping val="clustered"/>
        <c:varyColors val="0"/>
        <c:ser>
          <c:idx val="0"/>
          <c:order val="0"/>
          <c:tx>
            <c:v>Main</c:v>
          </c:tx>
          <c:spPr>
            <a:solidFill xmlns:a="http://schemas.openxmlformats.org/drawingml/2006/main">
              <a:srgbClr val="142C43"/>
            </a:solidFill>
          </c:spPr>
          <c:cat>
            <c:strRef>
              <c:f>'Chart Data'!$A$2:$A$6</c:f>
              <c:strCache>
                <c:ptCount val="5"/>
                <c:pt idx="0">
                  <c:v>P-G-BGV</c:v>
                </c:pt>
                <c:pt idx="1">
                  <c:v>P-G-CGGE</c:v>
                </c:pt>
                <c:pt idx="2">
                  <c:v>P-DISC</c:v>
                </c:pt>
                <c:pt idx="3">
                  <c:v>R-G-BGV</c:v>
                </c:pt>
                <c:pt idx="4">
                  <c:v>R-DISC</c:v>
                </c:pt>
              </c:strCache>
            </c:strRef>
          </c:cat>
          <c:val>
            <c:numRef>
              <c:f>'Chart Data'!$B$2:$B$6</c:f>
              <c:numCache>
                <c:formatCode>0.0%</c:formatCode>
                <c:ptCount val="5"/>
                <c:pt idx="0">
                  <c:v>0.180419921875</c:v>
                </c:pt>
                <c:pt idx="1">
                  <c:v>0.1513671875</c:v>
                </c:pt>
                <c:pt idx="2">
                  <c:v>0.180419921875</c:v>
                </c:pt>
                <c:pt idx="3">
                  <c:v>0.999755859375</c:v>
                </c:pt>
                <c:pt idx="4">
                  <c:v>1</c:v>
                </c:pt>
              </c:numCache>
            </c:numRef>
          </c:val>
        </c:ser>
        <c:ser>
          <c:idx val="1"/>
          <c:order val="1"/>
          <c:tx>
            <c:v>Random</c:v>
          </c:tx>
          <c:spPr>
            <a:solidFill xmlns:a="http://schemas.openxmlformats.org/drawingml/2006/main">
              <a:srgbClr val="087F82"/>
            </a:solidFill>
          </c:spPr>
          <c:cat>
            <c:strRef>
              <c:f>'Chart Data'!$C$2:$C$6</c:f>
              <c:strCache>
                <c:ptCount val="5"/>
                <c:pt idx="0">
                  <c:v>P-G-BGV</c:v>
                </c:pt>
                <c:pt idx="1">
                  <c:v>P-G-CGGE</c:v>
                </c:pt>
                <c:pt idx="2">
                  <c:v>P-DISC</c:v>
                </c:pt>
                <c:pt idx="3">
                  <c:v>R-G-BGV</c:v>
                </c:pt>
                <c:pt idx="4">
                  <c:v>R-DISC</c:v>
                </c:pt>
              </c:strCache>
            </c:strRef>
          </c:cat>
          <c:val>
            <c:numRef>
              <c:f>'Chart Data'!$D$2:$D$6</c:f>
              <c:numCache>
                <c:formatCode>0.0%</c:formatCode>
                <c:ptCount val="5"/>
                <c:pt idx="0">
                  <c:v>0.021728515625</c:v>
                </c:pt>
                <c:pt idx="1">
                  <c:v>0.021728515625</c:v>
                </c:pt>
                <c:pt idx="2">
                  <c:v>0.021728515625</c:v>
                </c:pt>
                <c:pt idx="3">
                  <c:v>0.0224609375</c:v>
                </c:pt>
                <c:pt idx="4">
                  <c:v>0.0224609375</c:v>
                </c:pt>
              </c:numCache>
            </c:numRef>
          </c:val>
        </c:ser>
        <c:ser>
          <c:idx val="2"/>
          <c:order val="2"/>
          <c:tx>
            <c:v>MC</c:v>
          </c:tx>
          <c:spPr>
            <a:solidFill xmlns:a="http://schemas.openxmlformats.org/drawingml/2006/main">
              <a:srgbClr val="A6B3BC"/>
            </a:solidFill>
          </c:spPr>
          <c:cat>
            <c:strRef>
              <c:f>'Chart Data'!$E$2:$E$6</c:f>
              <c:strCache>
                <c:ptCount val="5"/>
                <c:pt idx="0">
                  <c:v>P-G-BGV</c:v>
                </c:pt>
                <c:pt idx="1">
                  <c:v>P-G-CGGE</c:v>
                </c:pt>
                <c:pt idx="2">
                  <c:v>P-DISC</c:v>
                </c:pt>
                <c:pt idx="3">
                  <c:v>R-G-BGV</c:v>
                </c:pt>
                <c:pt idx="4">
                  <c:v>R-DISC</c:v>
                </c:pt>
              </c:strCache>
            </c:strRef>
          </c:cat>
          <c:val>
            <c:numRef>
              <c:f>'Chart Data'!$F$2:$F$6</c:f>
              <c:numCache>
                <c:formatCode>0.0%</c:formatCode>
                <c:ptCount val="5"/>
                <c:pt idx="0">
                  <c:v>0.001708984375</c:v>
                </c:pt>
                <c:pt idx="1">
                  <c:v>0.01416015625</c:v>
                </c:pt>
                <c:pt idx="2">
                  <c:v>0.001708984375</c:v>
                </c:pt>
                <c:pt idx="3">
                  <c:v>0.0068359375</c:v>
                </c:pt>
                <c:pt idx="4">
                  <c:v>0.00146484375</c:v>
                </c:pt>
              </c:numCache>
            </c:numRef>
          </c:val>
        </c:ser>
        <c:dLbls>
          <c:txPr>
            <a:bodyPr xmlns:a="http://schemas.openxmlformats.org/drawingml/2006/main" anchorCtr="1"/>
            <a:lstStyle xmlns:a="http://schemas.openxmlformats.org/drawingml/2006/main"/>
            <a:p xmlns:a="http://schemas.openxmlformats.org/drawingml/2006/main">
              <a:pPr>
                <a:defRPr sz="1500" lang="ko-KR" altLang="en-US">
                  <a:solidFill>
                    <a:srgbClr val="203648"/>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7"/>
            </a:solidFill>
          </a:ln>
        </c:spPr>
        <c:txPr>
          <a:bodyPr xmlns:a="http://schemas.openxmlformats.org/drawingml/2006/main" anchorCtr="1"/>
          <a:lstStyle xmlns:a="http://schemas.openxmlformats.org/drawingml/2006/main"/>
          <a:p xmlns:a="http://schemas.openxmlformats.org/drawingml/2006/main">
            <a:pPr>
              <a:defRPr sz="1650" lang="ko-KR" altLang="en-US">
                <a:solidFill>
                  <a:srgbClr val="203648"/>
                </a:solidFill>
                <a:latin typeface="Malgun Gothic"/>
                <a:ea typeface="Malgun Gothic"/>
                <a:cs typeface="Malgun Gothic"/>
              </a:defRPr>
            </a:pPr>
          </a:p>
        </c:txPr>
        <c:crossAx val="48672768"/>
      </c:catAx>
      <c:valAx>
        <c:axId val="48672768"/>
        <c:scaling>
          <c:orientation val="minMax"/>
          <c:max val="1.1"/>
          <c:min val="0"/>
        </c:scaling>
        <c:delete val="0"/>
        <c:axPos val="l"/>
        <c:majorGridlines>
          <c:spPr>
            <a:ln xmlns:a="http://schemas.openxmlformats.org/drawingml/2006/main" w="9525">
              <a:solidFill>
                <a:srgbClr val="DCE3E7"/>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lang="ko-KR" altLang="en-US">
                <a:solidFill>
                  <a:srgbClr val="5A6B78"/>
                </a:solidFill>
                <a:latin typeface="Malgun Gothic"/>
                <a:ea typeface="Malgun Gothic"/>
                <a:cs typeface="Malgun Gothic"/>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lang="ko-KR" altLang="en-US">
              <a:solidFill>
                <a:srgbClr val="203648"/>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D84A51-2BA1-4175-976E-6C2ABDD704D3}"/>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B9CAD4"/>
                </a:solidFill>
                <a:latin typeface="Malgun Gothic"/>
                <a:ea typeface="Malgun Gothic"/>
                <a:cs typeface="Malgun Gothic"/>
              </a:defRPr>
            </a:pPr>
            <a:r>
              <a:rPr sz="1200" b="0" lang="ko-KR" altLang="en-US">
                <a:solidFill>
                  <a:srgbClr val="B9CAD4"/>
                </a:solidFill>
                <a:latin typeface="Malgun Gothic"/>
                <a:ea typeface="Malgun Gothic"/>
                <a:cs typeface="Malgun Gothic"/>
              </a:rPr>
              <a:t>1</a:t>
            </a:r>
          </a:p>
        </p:txBody>
      </p:sp>
      <p:sp>
        <p:nvSpPr>
          <p:cNvPr id="2" name="">
            <a:extLst xmlns:a="http://schemas.openxmlformats.org/drawingml/2006/main">
              <a:ext uri="{FF2B5EF4-FFF2-40B4-BE49-F238E27FC236}">
                <a16:creationId xmlns:a16="http://schemas.microsoft.com/office/drawing/2014/main" id="{8B9A6D0A-4D58-48B2-B140-724FD7111D08}"/>
              </a:ext>
            </a:extLst>
          </p:cNvPr>
          <p:cNvSpPr>
            <a:spLocks xmlns:a="http://schemas.openxmlformats.org/drawingml/2006/main" noGrp="1"/>
          </p:cNvSpPr>
          <p:nvPr/>
        </p:nvSpPr>
        <p:spPr>
          <a:xfrm xmlns:a="http://schemas.openxmlformats.org/drawingml/2006/main">
            <a:off x="647700" y="990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84CFCA"/>
                </a:solidFill>
                <a:latin typeface="Malgun Gothic"/>
                <a:ea typeface="Malgun Gothic"/>
                <a:cs typeface="Malgun Gothic"/>
              </a:defRPr>
            </a:pPr>
            <a:r>
              <a:rPr sz="2175" b="1" lang="ko-KR" altLang="en-US">
                <a:solidFill>
                  <a:srgbClr val="84CFCA"/>
                </a:solidFill>
                <a:latin typeface="Malgun Gothic"/>
                <a:ea typeface="Malgun Gothic"/>
                <a:cs typeface="Malgun Gothic"/>
              </a:rPr>
              <a:t>V6 실험 종합 보고</a:t>
            </a:r>
          </a:p>
        </p:txBody>
      </p:sp>
      <p:sp>
        <p:nvSpPr>
          <p:cNvPr id="3" name="">
            <a:extLst xmlns:a="http://schemas.openxmlformats.org/drawingml/2006/main">
              <a:ext uri="{FF2B5EF4-FFF2-40B4-BE49-F238E27FC236}">
                <a16:creationId xmlns:a16="http://schemas.microsoft.com/office/drawing/2014/main" id="{2336F024-57C8-4487-9B8E-0087D68DC89F}"/>
              </a:ext>
            </a:extLst>
          </p:cNvPr>
          <p:cNvSpPr>
            <a:spLocks xmlns:a="http://schemas.openxmlformats.org/drawingml/2006/main" noGrp="1"/>
          </p:cNvSpPr>
          <p:nvPr/>
        </p:nvSpPr>
        <p:spPr>
          <a:xfrm xmlns:a="http://schemas.openxmlformats.org/drawingml/2006/main">
            <a:off x="609600" y="1924050"/>
            <a:ext cx="10763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lang="ko-KR" altLang="en-US">
                <a:solidFill>
                  <a:srgbClr val="FFFFFF"/>
                </a:solidFill>
                <a:latin typeface="Malgun Gothic"/>
                <a:ea typeface="Malgun Gothic"/>
                <a:cs typeface="Malgun Gothic"/>
              </a:defRPr>
            </a:pPr>
            <a:r>
              <a:rPr sz="5100" b="1" lang="ko-KR" altLang="en-US">
                <a:solidFill>
                  <a:srgbClr val="FFFFFF"/>
                </a:solidFill>
                <a:latin typeface="Malgun Gothic"/>
                <a:ea typeface="Malgun Gothic"/>
                <a:cs typeface="Malgun Gothic"/>
              </a:rPr>
              <a:t>Diffusion 기반</a:t>
            </a:r>
          </a:p>
          <a:p xmlns:a="http://schemas.openxmlformats.org/drawingml/2006/main">
            <a:pPr algn="l">
              <a:defRPr sz="5100" b="1" lang="ko-KR" altLang="en-US">
                <a:solidFill>
                  <a:srgbClr val="FFFFFF"/>
                </a:solidFill>
                <a:latin typeface="Malgun Gothic"/>
                <a:ea typeface="Malgun Gothic"/>
                <a:cs typeface="Malgun Gothic"/>
              </a:defRPr>
            </a:pPr>
            <a:r>
              <a:rPr sz="5100" b="1" lang="ko-KR" altLang="en-US">
                <a:solidFill>
                  <a:srgbClr val="FFFFFF"/>
                </a:solidFill>
                <a:latin typeface="Malgun Gothic"/>
                <a:ea typeface="Malgun Gothic"/>
                <a:cs typeface="Malgun Gothic"/>
              </a:rPr>
              <a:t>MD5-12 역상 탐색</a:t>
            </a:r>
          </a:p>
        </p:txBody>
      </p:sp>
      <p:sp>
        <p:nvSpPr>
          <p:cNvPr id="4" name="">
            <a:extLst xmlns:a="http://schemas.openxmlformats.org/drawingml/2006/main">
              <a:ext uri="{FF2B5EF4-FFF2-40B4-BE49-F238E27FC236}">
                <a16:creationId xmlns:a16="http://schemas.microsoft.com/office/drawing/2014/main" id="{859BEBF5-D0E9-40FC-B47F-3F01FD494283}"/>
              </a:ext>
            </a:extLst>
          </p:cNvPr>
          <p:cNvSpPr>
            <a:spLocks xmlns:a="http://schemas.openxmlformats.org/drawingml/2006/main" noGrp="1"/>
          </p:cNvSpPr>
          <p:nvPr/>
        </p:nvSpPr>
        <p:spPr>
          <a:xfrm xmlns:a="http://schemas.openxmlformats.org/drawingml/2006/main">
            <a:off x="647700" y="42672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lang="ko-KR" altLang="en-US">
                <a:solidFill>
                  <a:srgbClr val="D5E1E7"/>
                </a:solidFill>
                <a:latin typeface="Malgun Gothic"/>
                <a:ea typeface="Malgun Gothic"/>
                <a:cs typeface="Malgun Gothic"/>
              </a:defRPr>
            </a:pPr>
            <a:r>
              <a:rPr sz="2325" b="0" lang="ko-KR" altLang="en-US">
                <a:solidFill>
                  <a:srgbClr val="D5E1E7"/>
                </a:solidFill>
                <a:latin typeface="Malgun Gothic"/>
                <a:ea typeface="Malgun Gothic"/>
                <a:cs typeface="Malgun Gothic"/>
              </a:rPr>
              <a:t>실험의 목적, 과정, 결과와 결론</a:t>
            </a:r>
          </a:p>
        </p:txBody>
      </p:sp>
      <p:sp>
        <p:nvSpPr>
          <p:cNvPr id="5" name="">
            <a:extLst xmlns:a="http://schemas.openxmlformats.org/drawingml/2006/main">
              <a:ext uri="{FF2B5EF4-FFF2-40B4-BE49-F238E27FC236}">
                <a16:creationId xmlns:a16="http://schemas.microsoft.com/office/drawing/2014/main" id="{E28C6400-7344-4126-8C16-64D2AEE53EFE}"/>
              </a:ext>
            </a:extLst>
          </p:cNvPr>
          <p:cNvSpPr>
            <a:spLocks xmlns:a="http://schemas.openxmlformats.org/drawingml/2006/main" noGrp="1"/>
          </p:cNvSpPr>
          <p:nvPr/>
        </p:nvSpPr>
        <p:spPr>
          <a:xfrm xmlns:a="http://schemas.openxmlformats.org/drawingml/2006/main">
            <a:off x="647700" y="5619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lang="ko-KR" altLang="en-US">
                <a:solidFill>
                  <a:srgbClr val="B9CAD4"/>
                </a:solidFill>
                <a:latin typeface="Malgun Gothic"/>
                <a:ea typeface="Malgun Gothic"/>
                <a:cs typeface="Malgun Gothic"/>
              </a:defRPr>
            </a:pPr>
            <a:r>
              <a:rPr sz="1725" b="0" lang="ko-KR" altLang="en-US">
                <a:solidFill>
                  <a:srgbClr val="B9CAD4"/>
                </a:solidFill>
                <a:latin typeface="Malgun Gothic"/>
                <a:ea typeface="Malgun Gothic"/>
                <a:cs typeface="Malgun Gothic"/>
              </a:rPr>
              <a:t>실험 완료 2026.10.03   /   문서 작성 2026.10.04</a:t>
            </a:r>
          </a:p>
        </p:txBody>
      </p:sp>
    </p:spTree>
    <p:extLst>
      <p:ext uri="{BB962C8B-B14F-4D97-AF65-F5344CB8AC3E}">
        <p14:creationId xmlns:p14="http://schemas.microsoft.com/office/powerpoint/2010/main" val="11496706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93228F-2BAE-4029-A20E-09A0FB00F0A1}"/>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실험 목적과 연구 질문</a:t>
            </a:r>
          </a:p>
        </p:txBody>
      </p:sp>
      <p:sp>
        <p:nvSpPr>
          <p:cNvPr id="2" name="">
            <a:extLst xmlns:a="http://schemas.openxmlformats.org/drawingml/2006/main">
              <a:ext uri="{FF2B5EF4-FFF2-40B4-BE49-F238E27FC236}">
                <a16:creationId xmlns:a16="http://schemas.microsoft.com/office/drawing/2014/main" id="{6898E7CE-A166-47CF-95D1-AD2F02BD364B}"/>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a:t>
            </a:r>
          </a:p>
        </p:txBody>
      </p:sp>
      <p:sp>
        <p:nvSpPr>
          <p:cNvPr id="3" name="">
            <a:extLst xmlns:a="http://schemas.openxmlformats.org/drawingml/2006/main">
              <a:ext uri="{FF2B5EF4-FFF2-40B4-BE49-F238E27FC236}">
                <a16:creationId xmlns:a16="http://schemas.microsoft.com/office/drawing/2014/main" id="{1A281719-7754-4F38-A1D6-E41C836F941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RESEARCH_PLAN_V6.md §0, §6</a:t>
            </a:r>
          </a:p>
        </p:txBody>
      </p:sp>
      <p:sp>
        <p:nvSpPr>
          <p:cNvPr id="4" name="">
            <a:extLst xmlns:a="http://schemas.openxmlformats.org/drawingml/2006/main">
              <a:ext uri="{FF2B5EF4-FFF2-40B4-BE49-F238E27FC236}">
                <a16:creationId xmlns:a16="http://schemas.microsoft.com/office/drawing/2014/main" id="{46A09EAE-EC6F-46F2-B2CA-F5E72AF84220}"/>
              </a:ext>
            </a:extLst>
          </p:cNvPr>
          <p:cNvSpPr>
            <a:spLocks xmlns:a="http://schemas.openxmlformats.org/drawingml/2006/main" noGrp="1"/>
          </p:cNvSpPr>
          <p:nvPr/>
        </p:nvSpPr>
        <p:spPr>
          <a:xfrm xmlns:a="http://schemas.openxmlformats.org/drawingml/2006/main">
            <a:off x="609600" y="15049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lang="ko-KR" altLang="en-US">
                <a:solidFill>
                  <a:srgbClr val="142C43"/>
                </a:solidFill>
                <a:latin typeface="Malgun Gothic"/>
                <a:ea typeface="Malgun Gothic"/>
                <a:cs typeface="Malgun Gothic"/>
              </a:defRPr>
            </a:pPr>
            <a:r>
              <a:rPr sz="2925" b="1" lang="ko-KR" altLang="en-US">
                <a:solidFill>
                  <a:srgbClr val="142C43"/>
                </a:solidFill>
                <a:latin typeface="Malgun Gothic"/>
                <a:ea typeface="Malgun Gothic"/>
                <a:cs typeface="Malgun Gothic"/>
              </a:rPr>
              <a:t>학습하지 않은 12-bit 해시값을 조건으로 주면</a:t>
            </a:r>
          </a:p>
          <a:p xmlns:a="http://schemas.openxmlformats.org/drawingml/2006/main">
            <a:pPr algn="l">
              <a:defRPr sz="2925" b="1" lang="ko-KR" altLang="en-US">
                <a:solidFill>
                  <a:srgbClr val="142C43"/>
                </a:solidFill>
                <a:latin typeface="Malgun Gothic"/>
                <a:ea typeface="Malgun Gothic"/>
                <a:cs typeface="Malgun Gothic"/>
              </a:defRPr>
            </a:pPr>
            <a:r>
              <a:rPr sz="2925" b="1" lang="ko-KR" altLang="en-US">
                <a:solidFill>
                  <a:srgbClr val="142C43"/>
                </a:solidFill>
                <a:latin typeface="Malgun Gothic"/>
                <a:ea typeface="Malgun Gothic"/>
                <a:cs typeface="Malgun Gothic"/>
              </a:rPr>
              <a:t>일치하는 입력을 더 잘 생성할 수 있는가?</a:t>
            </a:r>
          </a:p>
        </p:txBody>
      </p:sp>
      <p:sp>
        <p:nvSpPr>
          <p:cNvPr id="5" name="">
            <a:extLst xmlns:a="http://schemas.openxmlformats.org/drawingml/2006/main">
              <a:ext uri="{FF2B5EF4-FFF2-40B4-BE49-F238E27FC236}">
                <a16:creationId xmlns:a16="http://schemas.microsoft.com/office/drawing/2014/main" id="{A955E02B-3745-4AFC-B929-C2EB3D3000DA}"/>
              </a:ext>
            </a:extLst>
          </p:cNvPr>
          <p:cNvSpPr>
            <a:spLocks xmlns:a="http://schemas.openxmlformats.org/drawingml/2006/main" noGrp="1"/>
          </p:cNvSpPr>
          <p:nvPr/>
        </p:nvSpPr>
        <p:spPr>
          <a:xfrm xmlns:a="http://schemas.openxmlformats.org/drawingml/2006/main">
            <a:off x="609600" y="31051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과제</a:t>
            </a:r>
          </a:p>
        </p:txBody>
      </p:sp>
      <p:sp>
        <p:nvSpPr>
          <p:cNvPr id="6" name="">
            <a:extLst xmlns:a="http://schemas.openxmlformats.org/drawingml/2006/main">
              <a:ext uri="{FF2B5EF4-FFF2-40B4-BE49-F238E27FC236}">
                <a16:creationId xmlns:a16="http://schemas.microsoft.com/office/drawing/2014/main" id="{119BE29C-E7DC-4CCD-9398-2BAED679E206}"/>
              </a:ext>
            </a:extLst>
          </p:cNvPr>
          <p:cNvSpPr>
            <a:spLocks xmlns:a="http://schemas.openxmlformats.org/drawingml/2006/main" noGrp="1"/>
          </p:cNvSpPr>
          <p:nvPr/>
        </p:nvSpPr>
        <p:spPr>
          <a:xfrm xmlns:a="http://schemas.openxmlformats.org/drawingml/2006/main">
            <a:off x="3000375" y="31051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정규 MD5(64 step)의 W3 12-bit 목표값에 일치하는 임의 입력 찾기</a:t>
            </a:r>
          </a:p>
        </p:txBody>
      </p:sp>
      <p:sp>
        <p:nvSpPr>
          <p:cNvPr id="7" name="">
            <a:extLst xmlns:a="http://schemas.openxmlformats.org/drawingml/2006/main">
              <a:ext uri="{FF2B5EF4-FFF2-40B4-BE49-F238E27FC236}">
                <a16:creationId xmlns:a16="http://schemas.microsoft.com/office/drawing/2014/main" id="{C89CB022-53CD-4823-B614-B744EACC47DA}"/>
              </a:ext>
            </a:extLst>
          </p:cNvPr>
          <p:cNvSpPr>
            <a:spLocks xmlns:a="http://schemas.openxmlformats.org/drawingml/2006/main" noGrp="1"/>
          </p:cNvSpPr>
          <p:nvPr/>
        </p:nvSpPr>
        <p:spPr>
          <a:xfrm xmlns:a="http://schemas.openxmlformats.org/drawingml/2006/main">
            <a:off x="609600" y="40767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주 지표</a:t>
            </a:r>
          </a:p>
        </p:txBody>
      </p:sp>
      <p:sp>
        <p:nvSpPr>
          <p:cNvPr id="8" name="">
            <a:extLst xmlns:a="http://schemas.openxmlformats.org/drawingml/2006/main">
              <a:ext uri="{FF2B5EF4-FFF2-40B4-BE49-F238E27FC236}">
                <a16:creationId xmlns:a16="http://schemas.microsoft.com/office/drawing/2014/main" id="{AA84A1D1-D30B-4659-B2CB-D484F6F45A28}"/>
              </a:ext>
            </a:extLst>
          </p:cNvPr>
          <p:cNvSpPr>
            <a:spLocks xmlns:a="http://schemas.openxmlformats.org/drawingml/2006/main" noGrp="1"/>
          </p:cNvSpPr>
          <p:nvPr/>
        </p:nvSpPr>
        <p:spPr>
          <a:xfrm xmlns:a="http://schemas.openxmlformats.org/drawingml/2006/main">
            <a:off x="3000375" y="40767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Success@100: 후보 100개 중 하나 이상이 목표값과 일치한 trial 비율</a:t>
            </a:r>
          </a:p>
        </p:txBody>
      </p:sp>
      <p:sp>
        <p:nvSpPr>
          <p:cNvPr id="9" name="">
            <a:extLst xmlns:a="http://schemas.openxmlformats.org/drawingml/2006/main">
              <a:ext uri="{FF2B5EF4-FFF2-40B4-BE49-F238E27FC236}">
                <a16:creationId xmlns:a16="http://schemas.microsoft.com/office/drawing/2014/main" id="{FD62E9E7-3036-403C-AA3D-8B30F9DF09A5}"/>
              </a:ext>
            </a:extLst>
          </p:cNvPr>
          <p:cNvSpPr>
            <a:spLocks xmlns:a="http://schemas.openxmlformats.org/drawingml/2006/main" noGrp="1"/>
          </p:cNvSpPr>
          <p:nvPr/>
        </p:nvSpPr>
        <p:spPr>
          <a:xfrm xmlns:a="http://schemas.openxmlformats.org/drawingml/2006/main">
            <a:off x="609600" y="50958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연구 목표</a:t>
            </a:r>
          </a:p>
        </p:txBody>
      </p:sp>
      <p:sp>
        <p:nvSpPr>
          <p:cNvPr id="10" name="">
            <a:extLst xmlns:a="http://schemas.openxmlformats.org/drawingml/2006/main">
              <a:ext uri="{FF2B5EF4-FFF2-40B4-BE49-F238E27FC236}">
                <a16:creationId xmlns:a16="http://schemas.microsoft.com/office/drawing/2014/main" id="{79B3F12F-CCB4-421C-BF74-D4F8571214BF}"/>
              </a:ext>
            </a:extLst>
          </p:cNvPr>
          <p:cNvSpPr>
            <a:spLocks xmlns:a="http://schemas.openxmlformats.org/drawingml/2006/main" noGrp="1"/>
          </p:cNvSpPr>
          <p:nvPr/>
        </p:nvSpPr>
        <p:spPr>
          <a:xfrm xmlns:a="http://schemas.openxmlformats.org/drawingml/2006/main">
            <a:off x="3000375" y="509587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5개 파이프라인의 효과와 계산 비용을 비교하고,</a:t>
            </a:r>
          </a:p>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사전 규칙으로 연구 가설의 최종 판정 도출</a:t>
            </a:r>
          </a:p>
        </p:txBody>
      </p:sp>
    </p:spTree>
    <p:extLst>
      <p:ext uri="{BB962C8B-B14F-4D97-AF65-F5344CB8AC3E}">
        <p14:creationId xmlns:p14="http://schemas.microsoft.com/office/powerpoint/2010/main" val="14292225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5BC484-4A65-4AB9-9237-93286A65D06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V6가 보완한 이전 실험의 한계</a:t>
            </a:r>
          </a:p>
        </p:txBody>
      </p:sp>
      <p:sp>
        <p:nvSpPr>
          <p:cNvPr id="2" name="">
            <a:extLst xmlns:a="http://schemas.openxmlformats.org/drawingml/2006/main">
              <a:ext uri="{FF2B5EF4-FFF2-40B4-BE49-F238E27FC236}">
                <a16:creationId xmlns:a16="http://schemas.microsoft.com/office/drawing/2014/main" id="{E0779009-AE4C-41CD-910A-C82D7984495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a:t>
            </a:r>
          </a:p>
        </p:txBody>
      </p:sp>
      <p:sp>
        <p:nvSpPr>
          <p:cNvPr id="3" name="">
            <a:extLst xmlns:a="http://schemas.openxmlformats.org/drawingml/2006/main">
              <a:ext uri="{FF2B5EF4-FFF2-40B4-BE49-F238E27FC236}">
                <a16:creationId xmlns:a16="http://schemas.microsoft.com/office/drawing/2014/main" id="{F89D1E23-1D0C-4D81-9044-6B053B687D0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RESEARCH_PLAN_V6.md §1</a:t>
            </a:r>
          </a:p>
        </p:txBody>
      </p:sp>
      <p:graphicFrame>
        <p:nvGraphicFramePr>
          <p:cNvPr id="9" name=""/>
          <p:cNvGraphicFramePr/>
          <p:nvPr/>
        </p:nvGraphicFramePr>
        <p:xfrm>
          <a:off xmlns:a="http://schemas.openxmlformats.org/drawingml/2006/main" x="609600" y="1657350"/>
          <a:ext xmlns:a="http://schemas.openxmlformats.org/drawingml/2006/main" cx="10972800" cy="3543300"/>
        </p:xfrm>
        <a:graphic xmlns:a="http://schemas.openxmlformats.org/drawingml/2006/main">
          <a:graphicData uri="http://schemas.openxmlformats.org/drawingml/2006/table">
            <a:tbl>
              <a:tblPr firstRow="0" bandRow="0"/>
              <a:tblGrid>
                <a:gridCol w="1666875"/>
                <a:gridCol w="4381500"/>
                <a:gridCol w="4924425"/>
              </a:tblGrid>
              <a:tr h="708660">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이전 단계</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남은 한계</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V6의 대응</a:t>
                      </a:r>
                    </a:p>
                  </a:txBody>
                  <a:tcPr marL="91440" marR="91440" marT="45720" marB="45720" anchor="ctr">
                    <a:solidFill>
                      <a:srgbClr val="142C43"/>
                    </a:solidFill>
                  </a:tcPr>
                </a:tc>
              </a:tr>
              <a:tr h="70866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v3.1</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Printable Gaussian 출력 형식 실패</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source 내 최근접 prototype decoder</a:t>
                      </a:r>
                    </a:p>
                  </a:txBody>
                  <a:tcPr marL="91440" marR="91440" marT="45720" marB="45720" anchor="ctr">
                    <a:solidFill>
                      <a:srgbClr val="F2F5F7"/>
                    </a:solidFill>
                  </a:tcPr>
                </a:tc>
              </a:tr>
              <a:tr h="70866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v4</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checkpoint 선택 규칙 문제</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사전 지정 최종 checkpoint</a:t>
                      </a:r>
                    </a:p>
                  </a:txBody>
                  <a:tcPr marL="91440" marR="91440" marT="45720" marB="45720" anchor="ctr">
                    <a:solidFill>
                      <a:srgbClr val="FFFFFF"/>
                    </a:solidFill>
                  </a:tcPr>
                </a:tc>
              </a:tr>
              <a:tr h="70866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v5</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첫 look 전에 예산 소진</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지속 처리량 실측과 순차 분석</a:t>
                      </a:r>
                    </a:p>
                  </a:txBody>
                  <a:tcPr marL="91440" marR="91440" marT="45720" marB="45720" anchor="ctr">
                    <a:solidFill>
                      <a:srgbClr val="F2F5F7"/>
                    </a:solidFill>
                  </a:tcPr>
                </a:tc>
              </a:tr>
              <a:tr h="70866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음성 결과 해석</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구조 이용 능력 확인 필요</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r=4 해시 양성 대조 추가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4EB2633-013E-4347-9EAF-4F4CC7F2F6D7}"/>
              </a:ext>
            </a:extLst>
          </p:cNvPr>
          <p:cNvSpPr>
            <a:spLocks xmlns:a="http://schemas.openxmlformats.org/drawingml/2006/main" noGrp="1"/>
          </p:cNvSpPr>
          <p:nvPr/>
        </p:nvSpPr>
        <p:spPr>
          <a:xfrm xmlns:a="http://schemas.openxmlformats.org/drawingml/2006/main">
            <a:off x="609600" y="55911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V6는 비교 규약을 통일하고, 판정에 필요한 실험을 완료했다</a:t>
            </a:r>
          </a:p>
        </p:txBody>
      </p:sp>
    </p:spTree>
    <p:extLst>
      <p:ext uri="{BB962C8B-B14F-4D97-AF65-F5344CB8AC3E}">
        <p14:creationId xmlns:p14="http://schemas.microsoft.com/office/powerpoint/2010/main" val="6528446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6DDAD0-09A7-4F27-AF2E-0BDA64790373}"/>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비교 대상: 5개 파이프라인</a:t>
            </a:r>
          </a:p>
        </p:txBody>
      </p:sp>
      <p:sp>
        <p:nvSpPr>
          <p:cNvPr id="2" name="">
            <a:extLst xmlns:a="http://schemas.openxmlformats.org/drawingml/2006/main">
              <a:ext uri="{FF2B5EF4-FFF2-40B4-BE49-F238E27FC236}">
                <a16:creationId xmlns:a16="http://schemas.microsoft.com/office/drawing/2014/main" id="{E9241BAF-5E80-4E50-A7E3-364AE563129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4</a:t>
            </a:r>
          </a:p>
        </p:txBody>
      </p:sp>
      <p:sp>
        <p:nvSpPr>
          <p:cNvPr id="3" name="">
            <a:extLst xmlns:a="http://schemas.openxmlformats.org/drawingml/2006/main">
              <a:ext uri="{FF2B5EF4-FFF2-40B4-BE49-F238E27FC236}">
                <a16:creationId xmlns:a16="http://schemas.microsoft.com/office/drawing/2014/main" id="{4AAAC4B3-2CED-4673-A90F-03D883225D4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v6-protocol.json; A.json</a:t>
            </a:r>
          </a:p>
        </p:txBody>
      </p:sp>
      <p:graphicFrame>
        <p:nvGraphicFramePr>
          <p:cNvPr id="10" name=""/>
          <p:cNvGraphicFramePr/>
          <p:nvPr/>
        </p:nvGraphicFramePr>
        <p:xfrm>
          <a:off xmlns:a="http://schemas.openxmlformats.org/drawingml/2006/main" x="609600" y="1657350"/>
          <a:ext xmlns:a="http://schemas.openxmlformats.org/drawingml/2006/main" cx="10972800" cy="3600450"/>
        </p:xfrm>
        <a:graphic xmlns:a="http://schemas.openxmlformats.org/drawingml/2006/main">
          <a:graphicData uri="http://schemas.openxmlformats.org/drawingml/2006/table">
            <a:tbl>
              <a:tblPr firstRow="0" bandRow="0"/>
              <a:tblGrid>
                <a:gridCol w="2171700"/>
                <a:gridCol w="2286000"/>
                <a:gridCol w="4229100"/>
                <a:gridCol w="2286000"/>
              </a:tblGrid>
              <a:tr h="600075">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입력 source</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표현 / 모델</a:t>
                      </a:r>
                    </a:p>
                  </a:txBody>
                  <a:tcPr marL="91440" marR="91440" marT="45720" marB="45720" anchor="ctr">
                    <a:solidFill>
                      <a:srgbClr val="142C43"/>
                    </a:solidFill>
                  </a:tcPr>
                </a:tc>
                <a:tc>
                  <a:txBody>
                    <a:bodyPr wrap="square" lIns="133350" tIns="76200" rIns="133350" bIns="76200">
                      <a:noAutofit/>
                    </a:bodyPr>
                    <a:lstStyle/>
                    <a:p>
                      <a:pPr algn="ctr"/>
                      <a:r>
                        <a:rPr sz="1800" b="1" lang="ko-KR" altLang="en-US">
                          <a:solidFill>
                            <a:srgbClr val="FFFFFF"/>
                          </a:solidFill>
                          <a:latin typeface="Malgun Gothic"/>
                          <a:ea typeface="Malgun Gothic"/>
                          <a:cs typeface="Malgun Gothic"/>
                        </a:rPr>
                        <a:t>파라미터</a:t>
                      </a:r>
                    </a:p>
                  </a:txBody>
                  <a:tcPr marL="91440" marR="91440" marT="45720" marB="45720" anchor="ctr">
                    <a:solidFill>
                      <a:srgbClr val="142C43"/>
                    </a:solidFill>
                  </a:tcPr>
                </a:tc>
              </a:tr>
              <a:tr h="600075">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Printable</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BGV / G3-U</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0.91M</a:t>
                      </a:r>
                    </a:p>
                  </a:txBody>
                  <a:tcPr marL="91440" marR="91440" marT="45720" marB="45720" anchor="ctr">
                    <a:solidFill>
                      <a:srgbClr val="F2F5F7"/>
                    </a:solidFill>
                  </a:tcPr>
                </a:tc>
              </a:tr>
              <a:tr h="600075">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Printable</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CGGE / G3-U</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0.51M</a:t>
                      </a:r>
                    </a:p>
                  </a:txBody>
                  <a:tcPr marL="91440" marR="91440" marT="45720" marB="45720" anchor="ctr">
                    <a:solidFill>
                      <a:srgbClr val="FFFFFF"/>
                    </a:solidFill>
                  </a:tcPr>
                </a:tc>
              </a:tr>
              <a:tr h="600075">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Printable</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Token / D1-S</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0.51M</a:t>
                      </a:r>
                    </a:p>
                  </a:txBody>
                  <a:tcPr marL="91440" marR="91440" marT="45720" marB="45720" anchor="ctr">
                    <a:solidFill>
                      <a:srgbClr val="F2F5F7"/>
                    </a:solidFill>
                  </a:tcPr>
                </a:tc>
              </a:tr>
              <a:tr h="600075">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Random Bytes</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BGV / G3-U</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0.91M</a:t>
                      </a:r>
                    </a:p>
                  </a:txBody>
                  <a:tcPr marL="91440" marR="91440" marT="45720" marB="45720" anchor="ctr">
                    <a:solidFill>
                      <a:srgbClr val="FFFFFF"/>
                    </a:solidFill>
                  </a:tcPr>
                </a:tc>
              </a:tr>
              <a:tr h="600075">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Random Bytes</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Token / D1-S</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1.25M</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493A1615-178D-4332-AED4-DF24F528140D}"/>
              </a:ext>
            </a:extLst>
          </p:cNvPr>
          <p:cNvSpPr>
            <a:spLocks xmlns:a="http://schemas.openxmlformats.org/drawingml/2006/main" noGrp="1"/>
          </p:cNvSpPr>
          <p:nvPr/>
        </p:nvSpPr>
        <p:spPr>
          <a:xfrm xmlns:a="http://schemas.openxmlformats.org/drawingml/2006/main">
            <a:off x="609600" y="55245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공통 학습량 40,000 updates × batch 256 = 새 학습 쌍 1,024만 개</a:t>
            </a:r>
          </a:p>
        </p:txBody>
      </p:sp>
      <p:sp>
        <p:nvSpPr>
          <p:cNvPr id="6" name="">
            <a:extLst xmlns:a="http://schemas.openxmlformats.org/drawingml/2006/main">
              <a:ext uri="{FF2B5EF4-FFF2-40B4-BE49-F238E27FC236}">
                <a16:creationId xmlns:a16="http://schemas.microsoft.com/office/drawing/2014/main" id="{7E707A12-D24B-41B3-BCE4-01644977DE64}"/>
              </a:ext>
            </a:extLst>
          </p:cNvPr>
          <p:cNvSpPr>
            <a:spLocks xmlns:a="http://schemas.openxmlformats.org/drawingml/2006/main" noGrp="1"/>
          </p:cNvSpPr>
          <p:nvPr/>
        </p:nvSpPr>
        <p:spPr>
          <a:xfrm xmlns:a="http://schemas.openxmlformats.org/drawingml/2006/main">
            <a:off x="609600" y="59531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lang="ko-KR" altLang="en-US">
                <a:solidFill>
                  <a:srgbClr val="5A6B78"/>
                </a:solidFill>
                <a:latin typeface="Malgun Gothic"/>
                <a:ea typeface="Malgun Gothic"/>
                <a:cs typeface="Malgun Gothic"/>
              </a:defRPr>
            </a:pPr>
            <a:r>
              <a:rPr sz="1725" b="0" lang="ko-KR" altLang="en-US">
                <a:solidFill>
                  <a:srgbClr val="5A6B78"/>
                </a:solidFill>
                <a:latin typeface="Malgun Gothic"/>
                <a:ea typeface="Malgun Gothic"/>
                <a:cs typeface="Malgun Gothic"/>
              </a:rPr>
              <a:t>동일 target 목록과 후보 예산, 같은 source의 학습 stream을 공유</a:t>
            </a:r>
          </a:p>
        </p:txBody>
      </p:sp>
    </p:spTree>
    <p:extLst>
      <p:ext uri="{BB962C8B-B14F-4D97-AF65-F5344CB8AC3E}">
        <p14:creationId xmlns:p14="http://schemas.microsoft.com/office/powerpoint/2010/main" val="19414763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6D3101-8823-409D-8303-75CC7B8F7CA2}"/>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실험군과 대조군</a:t>
            </a:r>
          </a:p>
        </p:txBody>
      </p:sp>
      <p:sp>
        <p:nvSpPr>
          <p:cNvPr id="2" name="">
            <a:extLst xmlns:a="http://schemas.openxmlformats.org/drawingml/2006/main">
              <a:ext uri="{FF2B5EF4-FFF2-40B4-BE49-F238E27FC236}">
                <a16:creationId xmlns:a16="http://schemas.microsoft.com/office/drawing/2014/main" id="{A1FBA0DC-53B5-47CD-A040-7379A7FDD958}"/>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5</a:t>
            </a:r>
          </a:p>
        </p:txBody>
      </p:sp>
      <p:sp>
        <p:nvSpPr>
          <p:cNvPr id="3" name="">
            <a:extLst xmlns:a="http://schemas.openxmlformats.org/drawingml/2006/main">
              <a:ext uri="{FF2B5EF4-FFF2-40B4-BE49-F238E27FC236}">
                <a16:creationId xmlns:a16="http://schemas.microsoft.com/office/drawing/2014/main" id="{10A7A4F2-953D-4F8E-8195-80DD09BC241F}"/>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RESEARCH_PLAN_V6.md §6, §8–10</a:t>
            </a:r>
          </a:p>
        </p:txBody>
      </p:sp>
      <p:graphicFrame>
        <p:nvGraphicFramePr>
          <p:cNvPr id="9" name=""/>
          <p:cNvGraphicFramePr/>
          <p:nvPr/>
        </p:nvGraphicFramePr>
        <p:xfrm>
          <a:off xmlns:a="http://schemas.openxmlformats.org/drawingml/2006/main" x="609600" y="1657350"/>
          <a:ext xmlns:a="http://schemas.openxmlformats.org/drawingml/2006/main" cx="10972800" cy="3714750"/>
        </p:xfrm>
        <a:graphic xmlns:a="http://schemas.openxmlformats.org/drawingml/2006/main">
          <a:graphicData uri="http://schemas.openxmlformats.org/drawingml/2006/table">
            <a:tbl>
              <a:tblPr firstRow="0" bandRow="0"/>
              <a:tblGrid>
                <a:gridCol w="1857375"/>
                <a:gridCol w="4876800"/>
                <a:gridCol w="4238625"/>
              </a:tblGrid>
              <a:tr h="742950">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방법</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만드는 후보</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비교의 의미</a:t>
                      </a:r>
                    </a:p>
                  </a:txBody>
                  <a:tcPr marL="91440" marR="91440" marT="45720" marB="45720" anchor="ctr">
                    <a:solidFill>
                      <a:srgbClr val="142C43"/>
                    </a:solidFill>
                  </a:tcPr>
                </a:tc>
              </a:tr>
              <a:tr h="7429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Main</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실제 해시 조건으로 학습·생성</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검증 대상</a:t>
                      </a:r>
                    </a:p>
                  </a:txBody>
                  <a:tcPr marL="91440" marR="91440" marT="45720" marB="45720" anchor="ctr">
                    <a:solidFill>
                      <a:srgbClr val="F2F5F7"/>
                    </a:solidFill>
                  </a:tcPr>
                </a:tc>
              </a:tr>
              <a:tr h="7429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Random</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source prior에서 무작위 생성</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모델 없이 찾는 기준 성능</a:t>
                      </a:r>
                    </a:p>
                  </a:txBody>
                  <a:tcPr marL="91440" marR="91440" marT="45720" marB="45720" anchor="ctr">
                    <a:solidFill>
                      <a:srgbClr val="FFFFFF"/>
                    </a:solidFill>
                  </a:tcPr>
                </a:tc>
              </a:tr>
              <a:tr h="7429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Shuffled</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조건 대응을 섞어 학습한 모델</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올바른 조건 대응 학습의 효과</a:t>
                      </a:r>
                    </a:p>
                  </a:txBody>
                  <a:tcPr marL="91440" marR="91440" marT="45720" marB="45720" anchor="ctr">
                    <a:solidFill>
                      <a:srgbClr val="F2F5F7"/>
                    </a:solidFill>
                  </a:tcPr>
                </a:tc>
              </a:tr>
              <a:tr h="7429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MC</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Main에 다른 target 조건을 입력</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입력 조건 사용 여부 점검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1D5BB21-EE31-4BC3-86B9-EB882BDFAB1A}"/>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주 판정: ΔR = Main - Random,  ΔS = Main - Shuffled</a:t>
            </a:r>
          </a:p>
        </p:txBody>
      </p:sp>
    </p:spTree>
    <p:extLst>
      <p:ext uri="{BB962C8B-B14F-4D97-AF65-F5344CB8AC3E}">
        <p14:creationId xmlns:p14="http://schemas.microsoft.com/office/powerpoint/2010/main" val="12538401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DB8AEC-1E24-40BC-9F56-38E124F27C91}"/>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실험 과정과 실행 시간</a:t>
            </a:r>
          </a:p>
        </p:txBody>
      </p:sp>
      <p:sp>
        <p:nvSpPr>
          <p:cNvPr id="2" name="">
            <a:extLst xmlns:a="http://schemas.openxmlformats.org/drawingml/2006/main">
              <a:ext uri="{FF2B5EF4-FFF2-40B4-BE49-F238E27FC236}">
                <a16:creationId xmlns:a16="http://schemas.microsoft.com/office/drawing/2014/main" id="{3A2E52B7-B0CF-4D4A-9044-E4F471ADA307}"/>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6</a:t>
            </a:r>
          </a:p>
        </p:txBody>
      </p:sp>
      <p:sp>
        <p:nvSpPr>
          <p:cNvPr id="3" name="">
            <a:extLst xmlns:a="http://schemas.openxmlformats.org/drawingml/2006/main">
              <a:ext uri="{FF2B5EF4-FFF2-40B4-BE49-F238E27FC236}">
                <a16:creationId xmlns:a16="http://schemas.microsoft.com/office/drawing/2014/main" id="{B1B2D3FA-F976-4361-A53D-95FBD5AAA244}"/>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 budget.json</a:t>
            </a:r>
          </a:p>
        </p:txBody>
      </p:sp>
      <p:graphicFrame>
        <p:nvGraphicFramePr>
          <p:cNvPr id="9" name=""/>
          <p:cNvGraphicFramePr/>
          <p:nvPr/>
        </p:nvGraphicFramePr>
        <p:xfrm>
          <a:off xmlns:a="http://schemas.openxmlformats.org/drawingml/2006/main" x="609600" y="1657350"/>
          <a:ext xmlns:a="http://schemas.openxmlformats.org/drawingml/2006/main" cx="10972800" cy="3771900"/>
        </p:xfrm>
        <a:graphic xmlns:a="http://schemas.openxmlformats.org/drawingml/2006/main">
          <a:graphicData uri="http://schemas.openxmlformats.org/drawingml/2006/table">
            <a:tbl>
              <a:tblPr firstRow="0" bandRow="0"/>
              <a:tblGrid>
                <a:gridCol w="1143000"/>
                <a:gridCol w="5143500"/>
                <a:gridCol w="1524000"/>
                <a:gridCol w="3162300"/>
              </a:tblGrid>
              <a:tr h="628650">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단계</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목적</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시간</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결과</a:t>
                      </a:r>
                    </a:p>
                  </a:txBody>
                  <a:tcPr marL="91440" marR="91440" marT="45720" marB="45720" anchor="ctr">
                    <a:solidFill>
                      <a:srgbClr val="142C43"/>
                    </a:solidFill>
                  </a:tcPr>
                </a:tc>
              </a:tr>
              <a:tr h="6286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A</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기계 적격성, 처리량, 설정 봉인</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15.7 h</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5개 모두 적격</a:t>
                      </a:r>
                    </a:p>
                  </a:txBody>
                  <a:tcPr marL="91440" marR="91440" marT="45720" marB="45720" anchor="ctr">
                    <a:solidFill>
                      <a:srgbClr val="F2F5F7"/>
                    </a:solidFill>
                  </a:tcPr>
                </a:tc>
              </a:tr>
              <a:tr h="6286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C</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정규 MD5 W3 주 판정</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41.2 h</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look 2에서 공동 중단</a:t>
                      </a:r>
                    </a:p>
                  </a:txBody>
                  <a:tcPr marL="91440" marR="91440" marT="45720" marB="45720" anchor="ctr">
                    <a:solidFill>
                      <a:srgbClr val="FFFFFF"/>
                    </a:solidFill>
                  </a:tcPr>
                </a:tc>
              </a:tr>
              <a:tr h="6286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양성 결과의 W4 재현</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미실행</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양성 파이프라인 없음</a:t>
                      </a:r>
                    </a:p>
                  </a:txBody>
                  <a:tcPr marL="91440" marR="91440" marT="45720" marB="45720" anchor="ctr">
                    <a:solidFill>
                      <a:srgbClr val="F2F5F7"/>
                    </a:solidFill>
                  </a:tcPr>
                </a:tc>
              </a:tr>
              <a:tr h="6286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r=4 해시 구조 양성 대조</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5.0 h</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5개 모두 구조 이용</a:t>
                      </a:r>
                    </a:p>
                  </a:txBody>
                  <a:tcPr marL="91440" marR="91440" marT="45720" marB="45720" anchor="ctr">
                    <a:solidFill>
                      <a:srgbClr val="FFFFFF"/>
                    </a:solidFill>
                  </a:tcPr>
                </a:tc>
              </a:tr>
              <a:tr h="6286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S</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큰 모델의 규모 탐침</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5.4 h</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완료, 추가 신호 없음</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51FD97E5-BBC8-4A19-AB6C-E66BA7906442}"/>
              </a:ext>
            </a:extLst>
          </p:cNvPr>
          <p:cNvSpPr>
            <a:spLocks xmlns:a="http://schemas.openxmlformats.org/drawingml/2006/main" noGrp="1"/>
          </p:cNvSpPr>
          <p:nvPr/>
        </p:nvSpPr>
        <p:spPr>
          <a:xfrm xmlns:a="http://schemas.openxmlformats.org/drawingml/2006/main">
            <a:off x="609600" y="5762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총 67.3시간   /   최종 상태 TERMINAL   /   미완료 단계 0건</a:t>
            </a:r>
          </a:p>
        </p:txBody>
      </p:sp>
    </p:spTree>
    <p:extLst>
      <p:ext uri="{BB962C8B-B14F-4D97-AF65-F5344CB8AC3E}">
        <p14:creationId xmlns:p14="http://schemas.microsoft.com/office/powerpoint/2010/main" val="9327263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F33FC2-70B4-4449-9124-299870577CEF}"/>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사전 등록한 평가와 판정 규칙</a:t>
            </a:r>
          </a:p>
        </p:txBody>
      </p:sp>
      <p:sp>
        <p:nvSpPr>
          <p:cNvPr id="2" name="">
            <a:extLst xmlns:a="http://schemas.openxmlformats.org/drawingml/2006/main">
              <a:ext uri="{FF2B5EF4-FFF2-40B4-BE49-F238E27FC236}">
                <a16:creationId xmlns:a16="http://schemas.microsoft.com/office/drawing/2014/main" id="{0237D5A5-6D52-40BD-89A0-99BB192B8F13}"/>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7</a:t>
            </a:r>
          </a:p>
        </p:txBody>
      </p:sp>
      <p:sp>
        <p:nvSpPr>
          <p:cNvPr id="3" name="">
            <a:extLst xmlns:a="http://schemas.openxmlformats.org/drawingml/2006/main">
              <a:ext uri="{FF2B5EF4-FFF2-40B4-BE49-F238E27FC236}">
                <a16:creationId xmlns:a16="http://schemas.microsoft.com/office/drawing/2014/main" id="{9BC7EAC8-C368-4F82-BAC3-7C312650AB09}"/>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RESEARCH_PLAN_V6.md §6.1–6.3</a:t>
            </a:r>
          </a:p>
        </p:txBody>
      </p:sp>
      <p:sp>
        <p:nvSpPr>
          <p:cNvPr id="4" name="">
            <a:extLst xmlns:a="http://schemas.openxmlformats.org/drawingml/2006/main">
              <a:ext uri="{FF2B5EF4-FFF2-40B4-BE49-F238E27FC236}">
                <a16:creationId xmlns:a16="http://schemas.microsoft.com/office/drawing/2014/main" id="{2F19D9F6-FBBA-4D0E-86BA-9DAAC85ADA87}"/>
              </a:ext>
            </a:extLst>
          </p:cNvPr>
          <p:cNvSpPr>
            <a:spLocks xmlns:a="http://schemas.openxmlformats.org/drawingml/2006/main" noGrp="1"/>
          </p:cNvSpPr>
          <p:nvPr/>
        </p:nvSpPr>
        <p:spPr>
          <a:xfrm xmlns:a="http://schemas.openxmlformats.org/drawingml/2006/main">
            <a:off x="609600" y="14859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평가 단위</a:t>
            </a:r>
          </a:p>
        </p:txBody>
      </p:sp>
      <p:sp>
        <p:nvSpPr>
          <p:cNvPr id="5" name="">
            <a:extLst xmlns:a="http://schemas.openxmlformats.org/drawingml/2006/main">
              <a:ext uri="{FF2B5EF4-FFF2-40B4-BE49-F238E27FC236}">
                <a16:creationId xmlns:a16="http://schemas.microsoft.com/office/drawing/2014/main" id="{2A5A20FF-8BB7-40FD-AA06-1DB8EFF05D45}"/>
              </a:ext>
            </a:extLst>
          </p:cNvPr>
          <p:cNvSpPr>
            <a:spLocks xmlns:a="http://schemas.openxmlformats.org/drawingml/2006/main" noGrp="1"/>
          </p:cNvSpPr>
          <p:nvPr/>
        </p:nvSpPr>
        <p:spPr>
          <a:xfrm xmlns:a="http://schemas.openxmlformats.org/drawingml/2006/main">
            <a:off x="3000375" y="14859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미학습 test target 1,024개에서 공통 trial 추출</a:t>
            </a:r>
          </a:p>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각 trial은 3개 seed, 후보 K=100으로 평가</a:t>
            </a:r>
          </a:p>
        </p:txBody>
      </p:sp>
      <p:sp>
        <p:nvSpPr>
          <p:cNvPr id="6" name="">
            <a:extLst xmlns:a="http://schemas.openxmlformats.org/drawingml/2006/main">
              <a:ext uri="{FF2B5EF4-FFF2-40B4-BE49-F238E27FC236}">
                <a16:creationId xmlns:a16="http://schemas.microsoft.com/office/drawing/2014/main" id="{919C0114-8F84-4BFF-B9AA-2C7F204F3999}"/>
              </a:ext>
            </a:extLst>
          </p:cNvPr>
          <p:cNvSpPr>
            <a:spLocks xmlns:a="http://schemas.openxmlformats.org/drawingml/2006/main" noGrp="1"/>
          </p:cNvSpPr>
          <p:nvPr/>
        </p:nvSpPr>
        <p:spPr>
          <a:xfrm xmlns:a="http://schemas.openxmlformats.org/drawingml/2006/main">
            <a:off x="609600" y="26670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순차 분석</a:t>
            </a:r>
          </a:p>
        </p:txBody>
      </p:sp>
      <p:sp>
        <p:nvSpPr>
          <p:cNvPr id="7" name="">
            <a:extLst xmlns:a="http://schemas.openxmlformats.org/drawingml/2006/main">
              <a:ext uri="{FF2B5EF4-FFF2-40B4-BE49-F238E27FC236}">
                <a16:creationId xmlns:a16="http://schemas.microsoft.com/office/drawing/2014/main" id="{0C320E73-3953-4BAE-928E-07F9862CC5E1}"/>
              </a:ext>
            </a:extLst>
          </p:cNvPr>
          <p:cNvSpPr>
            <a:spLocks xmlns:a="http://schemas.openxmlformats.org/drawingml/2006/main" noGrp="1"/>
          </p:cNvSpPr>
          <p:nvPr/>
        </p:nvSpPr>
        <p:spPr>
          <a:xfrm xmlns:a="http://schemas.openxmlformats.org/drawingml/2006/main">
            <a:off x="3000375" y="26670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8,192 trial씩 최대 3개 블록</a:t>
            </a:r>
          </a:p>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모든 파이프라인이 결정되면 함께 중단</a:t>
            </a:r>
          </a:p>
        </p:txBody>
      </p:sp>
      <p:sp>
        <p:nvSpPr>
          <p:cNvPr id="8" name="">
            <a:extLst xmlns:a="http://schemas.openxmlformats.org/drawingml/2006/main">
              <a:ext uri="{FF2B5EF4-FFF2-40B4-BE49-F238E27FC236}">
                <a16:creationId xmlns:a16="http://schemas.microsoft.com/office/drawing/2014/main" id="{1C77DA6D-CDDF-4C01-9F8C-E2BAF657665E}"/>
              </a:ext>
            </a:extLst>
          </p:cNvPr>
          <p:cNvSpPr>
            <a:spLocks xmlns:a="http://schemas.openxmlformats.org/drawingml/2006/main" noGrp="1"/>
          </p:cNvSpPr>
          <p:nvPr/>
        </p:nvSpPr>
        <p:spPr>
          <a:xfrm xmlns:a="http://schemas.openxmlformats.org/drawingml/2006/main">
            <a:off x="609600" y="38481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관심 효과</a:t>
            </a:r>
          </a:p>
        </p:txBody>
      </p:sp>
      <p:sp>
        <p:nvSpPr>
          <p:cNvPr id="9" name="">
            <a:extLst xmlns:a="http://schemas.openxmlformats.org/drawingml/2006/main">
              <a:ext uri="{FF2B5EF4-FFF2-40B4-BE49-F238E27FC236}">
                <a16:creationId xmlns:a16="http://schemas.microsoft.com/office/drawing/2014/main" id="{500F1BFD-AD21-48AC-B71B-0DFE3060F731}"/>
              </a:ext>
            </a:extLst>
          </p:cNvPr>
          <p:cNvSpPr>
            <a:spLocks xmlns:a="http://schemas.openxmlformats.org/drawingml/2006/main" noGrp="1"/>
          </p:cNvSpPr>
          <p:nvPr/>
        </p:nvSpPr>
        <p:spPr>
          <a:xfrm xmlns:a="http://schemas.openxmlformats.org/drawingml/2006/main">
            <a:off x="3000375" y="38481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δ = +0.5%p, Success@100의 절대 차이</a:t>
            </a:r>
          </a:p>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다중 비교와 중간 분석을 보정한 동시 95% 구간</a:t>
            </a:r>
          </a:p>
        </p:txBody>
      </p:sp>
      <p:sp>
        <p:nvSpPr>
          <p:cNvPr id="10" name="">
            <a:extLst xmlns:a="http://schemas.openxmlformats.org/drawingml/2006/main">
              <a:ext uri="{FF2B5EF4-FFF2-40B4-BE49-F238E27FC236}">
                <a16:creationId xmlns:a16="http://schemas.microsoft.com/office/drawing/2014/main" id="{7E2E7267-A8D0-4A85-90A5-513EEDF8BC0B}"/>
              </a:ext>
            </a:extLst>
          </p:cNvPr>
          <p:cNvSpPr>
            <a:spLocks xmlns:a="http://schemas.openxmlformats.org/drawingml/2006/main" noGrp="1"/>
          </p:cNvSpPr>
          <p:nvPr/>
        </p:nvSpPr>
        <p:spPr>
          <a:xfrm xmlns:a="http://schemas.openxmlformats.org/drawingml/2006/main">
            <a:off x="609600" y="50292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판정</a:t>
            </a:r>
          </a:p>
        </p:txBody>
      </p:sp>
      <p:sp>
        <p:nvSpPr>
          <p:cNvPr id="11" name="">
            <a:extLst xmlns:a="http://schemas.openxmlformats.org/drawingml/2006/main">
              <a:ext uri="{FF2B5EF4-FFF2-40B4-BE49-F238E27FC236}">
                <a16:creationId xmlns:a16="http://schemas.microsoft.com/office/drawing/2014/main" id="{8AAB6D24-133C-4958-99BF-336EAE2F3D2E}"/>
              </a:ext>
            </a:extLst>
          </p:cNvPr>
          <p:cNvSpPr>
            <a:spLocks xmlns:a="http://schemas.openxmlformats.org/drawingml/2006/main" noGrp="1"/>
          </p:cNvSpPr>
          <p:nvPr/>
        </p:nvSpPr>
        <p:spPr>
          <a:xfrm xmlns:a="http://schemas.openxmlformats.org/drawingml/2006/main">
            <a:off x="3000375" y="50292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lang="ko-KR" altLang="en-US">
                <a:solidFill>
                  <a:srgbClr val="203648"/>
                </a:solidFill>
                <a:latin typeface="Malgun Gothic"/>
                <a:ea typeface="Malgun Gothic"/>
                <a:cs typeface="Malgun Gothic"/>
              </a:defRPr>
            </a:pPr>
            <a:r>
              <a:rPr sz="2025" b="0" lang="ko-KR" altLang="en-US">
                <a:solidFill>
                  <a:srgbClr val="203648"/>
                </a:solidFill>
                <a:latin typeface="Malgun Gothic"/>
                <a:ea typeface="Malgun Gothic"/>
                <a:cs typeface="Malgun Gothic"/>
              </a:rPr>
              <a:t>양성: ΔR·ΔS 하한이 모두 0 초과, 이후 W4 재현</a:t>
            </a:r>
          </a:p>
          <a:p xmlns:a="http://schemas.openxmlformats.org/drawingml/2006/main">
            <a:pPr algn="l">
              <a:defRPr sz="2025" b="0" lang="ko-KR" altLang="en-US">
                <a:solidFill>
                  <a:srgbClr val="203648"/>
                </a:solidFill>
                <a:latin typeface="Malgun Gothic"/>
                <a:ea typeface="Malgun Gothic"/>
                <a:cs typeface="Malgun Gothic"/>
              </a:defRPr>
            </a:pPr>
            <a:r>
              <a:rPr sz="2025" b="0" lang="ko-KR" altLang="en-US">
                <a:solidFill>
                  <a:srgbClr val="203648"/>
                </a:solidFill>
                <a:latin typeface="Malgun Gothic"/>
                <a:ea typeface="Malgun Gothic"/>
                <a:cs typeface="Malgun Gothic"/>
              </a:rPr>
              <a:t>한계 기각: ΔR·ΔS 상한이 모두 +0.5%p 미만</a:t>
            </a:r>
          </a:p>
        </p:txBody>
      </p:sp>
    </p:spTree>
    <p:extLst>
      <p:ext uri="{BB962C8B-B14F-4D97-AF65-F5344CB8AC3E}">
        <p14:creationId xmlns:p14="http://schemas.microsoft.com/office/powerpoint/2010/main" val="13337979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B2EE95-38D5-4503-A63C-92BDC3E73306}"/>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5개 파이프라인 모두 조건 사용 적격성 통과</a:t>
            </a:r>
          </a:p>
        </p:txBody>
      </p:sp>
      <p:sp>
        <p:nvSpPr>
          <p:cNvPr id="2" name="">
            <a:extLst xmlns:a="http://schemas.openxmlformats.org/drawingml/2006/main">
              <a:ext uri="{FF2B5EF4-FFF2-40B4-BE49-F238E27FC236}">
                <a16:creationId xmlns:a16="http://schemas.microsoft.com/office/drawing/2014/main" id="{E13C5749-54F4-48D7-A0EC-C04BBA30C32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8</a:t>
            </a:r>
          </a:p>
        </p:txBody>
      </p:sp>
      <p:sp>
        <p:nvSpPr>
          <p:cNvPr id="3" name="">
            <a:extLst xmlns:a="http://schemas.openxmlformats.org/drawingml/2006/main">
              <a:ext uri="{FF2B5EF4-FFF2-40B4-BE49-F238E27FC236}">
                <a16:creationId xmlns:a16="http://schemas.microsoft.com/office/drawing/2014/main" id="{60CECFDD-5DC8-43EB-8377-B67C8615812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A.json; A-impl.json</a:t>
            </a:r>
          </a:p>
        </p:txBody>
      </p:sp>
      <p:graphicFrame>
        <p:nvGraphicFramePr>
          <p:cNvPr id="10" name=""/>
          <p:cNvGraphicFramePr/>
          <p:nvPr/>
        </p:nvGraphicFramePr>
        <p:xfrm>
          <a:off xmlns:a="http://schemas.openxmlformats.org/drawingml/2006/main" x="609600" y="1657350"/>
          <a:ext xmlns:a="http://schemas.openxmlformats.org/drawingml/2006/main" cx="10972800" cy="3600450"/>
        </p:xfrm>
        <a:graphic xmlns:a="http://schemas.openxmlformats.org/drawingml/2006/main">
          <a:graphicData uri="http://schemas.openxmlformats.org/drawingml/2006/table">
            <a:tbl>
              <a:tblPr firstRow="0" bandRow="0"/>
              <a:tblGrid>
                <a:gridCol w="2628900"/>
                <a:gridCol w="2524125"/>
                <a:gridCol w="2524125"/>
                <a:gridCol w="3295650"/>
              </a:tblGrid>
              <a:tr h="600075">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정상 조건</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반전 조건</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seed / 판정</a:t>
                      </a:r>
                    </a:p>
                  </a:txBody>
                  <a:tcPr marL="91440" marR="91440" marT="45720" marB="45720" anchor="ctr">
                    <a:solidFill>
                      <a:srgbClr val="142C43"/>
                    </a:solidFill>
                  </a:tcPr>
                </a:tc>
              </a:tr>
              <a:tr h="6000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3개 모두 PASS</a:t>
                      </a:r>
                    </a:p>
                  </a:txBody>
                  <a:tcPr marL="91440" marR="91440" marT="45720" marB="45720" anchor="ctr">
                    <a:solidFill>
                      <a:srgbClr val="F2F5F7"/>
                    </a:solidFill>
                  </a:tcPr>
                </a:tc>
              </a:tr>
              <a:tr h="6000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3개 모두 PASS</a:t>
                      </a:r>
                    </a:p>
                  </a:txBody>
                  <a:tcPr marL="91440" marR="91440" marT="45720" marB="45720" anchor="ctr">
                    <a:solidFill>
                      <a:srgbClr val="FFFFFF"/>
                    </a:solidFill>
                  </a:tcPr>
                </a:tc>
              </a:tr>
              <a:tr h="6000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3개 모두 PASS</a:t>
                      </a:r>
                    </a:p>
                  </a:txBody>
                  <a:tcPr marL="91440" marR="91440" marT="45720" marB="45720" anchor="ctr">
                    <a:solidFill>
                      <a:srgbClr val="F2F5F7"/>
                    </a:solidFill>
                  </a:tcPr>
                </a:tc>
              </a:tr>
              <a:tr h="6000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3개 모두 PASS</a:t>
                      </a:r>
                    </a:p>
                  </a:txBody>
                  <a:tcPr marL="91440" marR="91440" marT="45720" marB="45720" anchor="ctr">
                    <a:solidFill>
                      <a:srgbClr val="FFFFFF"/>
                    </a:solidFill>
                  </a:tcPr>
                </a:tc>
              </a:tr>
              <a:tr h="6000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3개 모두 PASS</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3903C807-D351-4ECC-BA57-D4E8BD7305DD}"/>
              </a:ext>
            </a:extLst>
          </p:cNvPr>
          <p:cNvSpPr>
            <a:spLocks xmlns:a="http://schemas.openxmlformats.org/drawingml/2006/main" noGrp="1"/>
          </p:cNvSpPr>
          <p:nvPr/>
        </p:nvSpPr>
        <p:spPr>
          <a:xfrm xmlns:a="http://schemas.openxmlformats.org/drawingml/2006/main">
            <a:off x="609600" y="55245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lang="ko-KR" altLang="en-US">
                <a:solidFill>
                  <a:srgbClr val="087F82"/>
                </a:solidFill>
                <a:latin typeface="Malgun Gothic"/>
                <a:ea typeface="Malgun Gothic"/>
                <a:cs typeface="Malgun Gothic"/>
              </a:defRPr>
            </a:pPr>
            <a:r>
              <a:rPr sz="2250" b="1" lang="ko-KR" altLang="en-US">
                <a:solidFill>
                  <a:srgbClr val="087F82"/>
                </a:solidFill>
                <a:latin typeface="Malgun Gothic"/>
                <a:ea typeface="Malgun Gothic"/>
                <a:cs typeface="Malgun Gothic"/>
              </a:rPr>
              <a:t>15개 run 모두 통과, 보완 학습 없이 주 실험에 진입</a:t>
            </a:r>
          </a:p>
        </p:txBody>
      </p:sp>
      <p:sp>
        <p:nvSpPr>
          <p:cNvPr id="6" name="">
            <a:extLst xmlns:a="http://schemas.openxmlformats.org/drawingml/2006/main">
              <a:ext uri="{FF2B5EF4-FFF2-40B4-BE49-F238E27FC236}">
                <a16:creationId xmlns:a16="http://schemas.microsoft.com/office/drawing/2014/main" id="{8030AB2F-ECD2-4EA6-807C-ABC256C842BA}"/>
              </a:ext>
            </a:extLst>
          </p:cNvPr>
          <p:cNvSpPr>
            <a:spLocks xmlns:a="http://schemas.openxmlformats.org/drawingml/2006/main" noGrp="1"/>
          </p:cNvSpPr>
          <p:nvPr/>
        </p:nvSpPr>
        <p:spPr>
          <a:xfrm xmlns:a="http://schemas.openxmlformats.org/drawingml/2006/main">
            <a:off x="609600" y="59626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lang="ko-KR" altLang="en-US">
                <a:solidFill>
                  <a:srgbClr val="5A6B78"/>
                </a:solidFill>
                <a:latin typeface="Malgun Gothic"/>
                <a:ea typeface="Malgun Gothic"/>
                <a:cs typeface="Malgun Gothic"/>
              </a:defRPr>
            </a:pPr>
            <a:r>
              <a:rPr sz="1725" b="0" lang="ko-KR" altLang="en-US">
                <a:solidFill>
                  <a:srgbClr val="5A6B78"/>
                </a:solidFill>
                <a:latin typeface="Malgun Gothic"/>
                <a:ea typeface="Malgun Gothic"/>
                <a:cs typeface="Malgun Gothic"/>
              </a:rPr>
              <a:t>모델이 조건을 학습하고 실제 생성에 사용하는지 사전에 확인</a:t>
            </a:r>
          </a:p>
        </p:txBody>
      </p:sp>
    </p:spTree>
    <p:extLst>
      <p:ext uri="{BB962C8B-B14F-4D97-AF65-F5344CB8AC3E}">
        <p14:creationId xmlns:p14="http://schemas.microsoft.com/office/powerpoint/2010/main" val="13263056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046069-B035-4263-978E-3F35D1F3B0EC}"/>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주 실험 성공률은 2.3–2.6% 수준</a:t>
            </a:r>
          </a:p>
        </p:txBody>
      </p:sp>
      <p:sp>
        <p:nvSpPr>
          <p:cNvPr id="2" name="">
            <a:extLst xmlns:a="http://schemas.openxmlformats.org/drawingml/2006/main">
              <a:ext uri="{FF2B5EF4-FFF2-40B4-BE49-F238E27FC236}">
                <a16:creationId xmlns:a16="http://schemas.microsoft.com/office/drawing/2014/main" id="{BF78F3CF-D50B-4290-B906-D3E41BF0159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9</a:t>
            </a:r>
          </a:p>
        </p:txBody>
      </p:sp>
      <p:sp>
        <p:nvSpPr>
          <p:cNvPr id="3" name="">
            <a:extLst xmlns:a="http://schemas.openxmlformats.org/drawingml/2006/main">
              <a:ext uri="{FF2B5EF4-FFF2-40B4-BE49-F238E27FC236}">
                <a16:creationId xmlns:a16="http://schemas.microsoft.com/office/drawing/2014/main" id="{4ED4D592-720F-457F-A778-DBCECFFF0C8D}"/>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 → pipelines.*.seed_estimates</a:t>
            </a:r>
          </a:p>
        </p:txBody>
      </p:sp>
      <p:graphicFrame>
        <p:nvGraphicFramePr>
          <p:cNvPr id="9" name="Chart"/>
          <p:cNvGraphicFramePr/>
          <p:nvPr/>
        </p:nvGraphicFramePr>
        <p:xfrm>
          <a:off xmlns:a="http://schemas.openxmlformats.org/drawingml/2006/main" x="609600" y="1638300"/>
          <a:ext xmlns:a="http://schemas.openxmlformats.org/drawingml/2006/main" cx="10972800" cy="4095750"/>
        </p:xfrm>
        <a:graphic xmlns:a="http://schemas.openxmlformats.org/drawingml/2006/main">
          <a:graphicData uri="http://schemas.openxmlformats.org/drawingml/2006/chart">
            <c:chart xmlns:r="http://schemas.openxmlformats.org/officeDocument/2006/relationships" xmlns:c="http://schemas.openxmlformats.org/drawingml/2006/chart" r:id="R179eef5c57964e5d"/>
          </a:graphicData>
        </a:graphic>
      </p:graphicFrame>
      <p:sp>
        <p:nvSpPr>
          <p:cNvPr id="5" name="">
            <a:extLst xmlns:a="http://schemas.openxmlformats.org/drawingml/2006/main">
              <a:ext uri="{FF2B5EF4-FFF2-40B4-BE49-F238E27FC236}">
                <a16:creationId xmlns:a16="http://schemas.microsoft.com/office/drawing/2014/main" id="{DDCA56F6-7E1E-4E49-9B38-BC430D8814E6}"/>
              </a:ext>
            </a:extLst>
          </p:cNvPr>
          <p:cNvSpPr>
            <a:spLocks xmlns:a="http://schemas.openxmlformats.org/drawingml/2006/main" noGrp="1"/>
          </p:cNvSpPr>
          <p:nvPr/>
        </p:nvSpPr>
        <p:spPr>
          <a:xfrm xmlns:a="http://schemas.openxmlformats.org/drawingml/2006/main">
            <a:off x="609600" y="5934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lang="ko-KR" altLang="en-US">
                <a:solidFill>
                  <a:srgbClr val="5A6B78"/>
                </a:solidFill>
                <a:latin typeface="Malgun Gothic"/>
                <a:ea typeface="Malgun Gothic"/>
                <a:cs typeface="Malgun Gothic"/>
              </a:defRPr>
            </a:pPr>
            <a:r>
              <a:rPr sz="1800" b="0" lang="ko-KR" altLang="en-US">
                <a:solidFill>
                  <a:srgbClr val="5A6B78"/>
                </a:solidFill>
                <a:latin typeface="Malgun Gothic"/>
                <a:ea typeface="Malgun Gothic"/>
                <a:cs typeface="Malgun Gothic"/>
              </a:rPr>
              <a:t>Success@100, 3 seed 평균   /   균등 무작위 기준의 이론값 2.412%</a:t>
            </a:r>
          </a:p>
        </p:txBody>
      </p:sp>
    </p:spTree>
    <p:extLst>
      <p:ext uri="{BB962C8B-B14F-4D97-AF65-F5344CB8AC3E}">
        <p14:creationId xmlns:p14="http://schemas.microsoft.com/office/powerpoint/2010/main" val="4529843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4FFD67-939E-47A2-9F16-FDD3B01992E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모든 이득 상한이 +0.5%p 미만</a:t>
            </a:r>
          </a:p>
        </p:txBody>
      </p:sp>
      <p:sp>
        <p:nvSpPr>
          <p:cNvPr id="2" name="">
            <a:extLst xmlns:a="http://schemas.openxmlformats.org/drawingml/2006/main">
              <a:ext uri="{FF2B5EF4-FFF2-40B4-BE49-F238E27FC236}">
                <a16:creationId xmlns:a16="http://schemas.microsoft.com/office/drawing/2014/main" id="{C6BFCFDC-FE9F-45B5-970F-9D43FC12D9C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1C0B736E-8C7C-4385-BCE8-F10353AD1286}"/>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C/looks/look-2.json; decision.json</a:t>
            </a:r>
          </a:p>
        </p:txBody>
      </p:sp>
      <p:graphicFrame>
        <p:nvGraphicFramePr>
          <p:cNvPr id="9" name=""/>
          <p:cNvGraphicFramePr/>
          <p:nvPr/>
        </p:nvGraphicFramePr>
        <p:xfrm>
          <a:off xmlns:a="http://schemas.openxmlformats.org/drawingml/2006/main" x="609600" y="1543050"/>
          <a:ext xmlns:a="http://schemas.openxmlformats.org/drawingml/2006/main" cx="10972800" cy="3943350"/>
        </p:xfrm>
        <a:graphic xmlns:a="http://schemas.openxmlformats.org/drawingml/2006/main">
          <a:graphicData uri="http://schemas.openxmlformats.org/drawingml/2006/table">
            <a:tbl>
              <a:tblPr firstRow="0" bandRow="0"/>
              <a:tblGrid>
                <a:gridCol w="2552700"/>
                <a:gridCol w="4210050"/>
                <a:gridCol w="4210050"/>
              </a:tblGrid>
              <a:tr h="514350">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00" b="1" lang="ko-KR" altLang="en-US">
                          <a:solidFill>
                            <a:srgbClr val="FFFFFF"/>
                          </a:solidFill>
                          <a:latin typeface="Malgun Gothic"/>
                          <a:ea typeface="Malgun Gothic"/>
                          <a:cs typeface="Malgun Gothic"/>
                        </a:rPr>
                        <a:t>Main - Random</a:t>
                      </a:r>
                    </a:p>
                  </a:txBody>
                  <a:tcPr marL="91440" marR="91440" marT="45720" marB="45720" anchor="ctr">
                    <a:solidFill>
                      <a:srgbClr val="142C43"/>
                    </a:solidFill>
                  </a:tcPr>
                </a:tc>
                <a:tc>
                  <a:txBody>
                    <a:bodyPr wrap="square" lIns="133350" tIns="76200" rIns="133350" bIns="76200">
                      <a:noAutofit/>
                    </a:bodyPr>
                    <a:lstStyle/>
                    <a:p>
                      <a:pPr algn="ctr"/>
                      <a:r>
                        <a:rPr sz="1800" b="1" lang="ko-KR" altLang="en-US">
                          <a:solidFill>
                            <a:srgbClr val="FFFFFF"/>
                          </a:solidFill>
                          <a:latin typeface="Malgun Gothic"/>
                          <a:ea typeface="Malgun Gothic"/>
                          <a:cs typeface="Malgun Gothic"/>
                        </a:rPr>
                        <a:t>Main - Shuffled</a:t>
                      </a:r>
                    </a:p>
                  </a:txBody>
                  <a:tcPr marL="91440" marR="91440" marT="45720" marB="45720" anchor="ctr">
                    <a:solidFill>
                      <a:srgbClr val="142C43"/>
                    </a:solidFill>
                  </a:tcPr>
                </a:tc>
              </a:tr>
              <a:tr h="6858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-0.185</a:t>
                      </a:r>
                    </a:p>
                    <a:p>
                      <a:pPr algn="ctr"/>
                      <a:r>
                        <a:rPr sz="1875" b="0" lang="ko-KR" altLang="en-US">
                          <a:solidFill>
                            <a:srgbClr val="203648"/>
                          </a:solidFill>
                          <a:latin typeface="Malgun Gothic"/>
                          <a:ea typeface="Malgun Gothic"/>
                          <a:cs typeface="Malgun Gothic"/>
                        </a:rPr>
                        <a:t>[-0.487, +0.117]</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-0.092</a:t>
                      </a:r>
                    </a:p>
                    <a:p>
                      <a:pPr algn="ctr"/>
                      <a:r>
                        <a:rPr sz="1875" b="0" lang="ko-KR" altLang="en-US">
                          <a:solidFill>
                            <a:srgbClr val="203648"/>
                          </a:solidFill>
                          <a:latin typeface="Malgun Gothic"/>
                          <a:ea typeface="Malgun Gothic"/>
                          <a:cs typeface="Malgun Gothic"/>
                        </a:rPr>
                        <a:t>[-0.389, +0.206]</a:t>
                      </a:r>
                    </a:p>
                  </a:txBody>
                  <a:tcPr marL="91440" marR="91440" marT="45720" marB="45720" anchor="ctr">
                    <a:solidFill>
                      <a:srgbClr val="F2F5F7"/>
                    </a:solidFill>
                  </a:tcPr>
                </a:tc>
              </a:tr>
              <a:tr h="6858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-0.004</a:t>
                      </a:r>
                    </a:p>
                    <a:p>
                      <a:pPr algn="ctr"/>
                      <a:r>
                        <a:rPr sz="1875" b="0" lang="ko-KR" altLang="en-US">
                          <a:solidFill>
                            <a:srgbClr val="203648"/>
                          </a:solidFill>
                          <a:latin typeface="Malgun Gothic"/>
                          <a:ea typeface="Malgun Gothic"/>
                          <a:cs typeface="Malgun Gothic"/>
                        </a:rPr>
                        <a:t>[-0.313, +0.305]</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+0.059</a:t>
                      </a:r>
                    </a:p>
                    <a:p>
                      <a:pPr algn="ctr"/>
                      <a:r>
                        <a:rPr sz="1875" b="0" lang="ko-KR" altLang="en-US">
                          <a:solidFill>
                            <a:srgbClr val="203648"/>
                          </a:solidFill>
                          <a:latin typeface="Malgun Gothic"/>
                          <a:ea typeface="Malgun Gothic"/>
                          <a:cs typeface="Malgun Gothic"/>
                        </a:rPr>
                        <a:t>[-0.246, +0.364]</a:t>
                      </a:r>
                    </a:p>
                  </a:txBody>
                  <a:tcPr marL="91440" marR="91440" marT="45720" marB="45720" anchor="ctr">
                    <a:solidFill>
                      <a:srgbClr val="FFFFFF"/>
                    </a:solidFill>
                  </a:tcPr>
                </a:tc>
              </a:tr>
              <a:tr h="6858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+0.057</a:t>
                      </a:r>
                    </a:p>
                    <a:p>
                      <a:pPr algn="ctr"/>
                      <a:r>
                        <a:rPr sz="1875" b="0" lang="ko-KR" altLang="en-US">
                          <a:solidFill>
                            <a:srgbClr val="203648"/>
                          </a:solidFill>
                          <a:latin typeface="Malgun Gothic"/>
                          <a:ea typeface="Malgun Gothic"/>
                          <a:cs typeface="Malgun Gothic"/>
                        </a:rPr>
                        <a:t>[-0.252, +0.366]</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+0.069</a:t>
                      </a:r>
                    </a:p>
                    <a:p>
                      <a:pPr algn="ctr"/>
                      <a:r>
                        <a:rPr sz="1875" b="0" lang="ko-KR" altLang="en-US">
                          <a:solidFill>
                            <a:srgbClr val="203648"/>
                          </a:solidFill>
                          <a:latin typeface="Malgun Gothic"/>
                          <a:ea typeface="Malgun Gothic"/>
                          <a:cs typeface="Malgun Gothic"/>
                        </a:rPr>
                        <a:t>[-0.239, +0.378]</a:t>
                      </a:r>
                    </a:p>
                  </a:txBody>
                  <a:tcPr marL="91440" marR="91440" marT="45720" marB="45720" anchor="ctr">
                    <a:solidFill>
                      <a:srgbClr val="F2F5F7"/>
                    </a:solidFill>
                  </a:tcPr>
                </a:tc>
              </a:tr>
              <a:tr h="6858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-0.039</a:t>
                      </a:r>
                    </a:p>
                    <a:p>
                      <a:pPr algn="ctr"/>
                      <a:r>
                        <a:rPr sz="1875" b="0" lang="ko-KR" altLang="en-US">
                          <a:solidFill>
                            <a:srgbClr val="203648"/>
                          </a:solidFill>
                          <a:latin typeface="Malgun Gothic"/>
                          <a:ea typeface="Malgun Gothic"/>
                          <a:cs typeface="Malgun Gothic"/>
                        </a:rPr>
                        <a:t>[-0.343, +0.265]</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-0.020</a:t>
                      </a:r>
                    </a:p>
                    <a:p>
                      <a:pPr algn="ctr"/>
                      <a:r>
                        <a:rPr sz="1875" b="0" lang="ko-KR" altLang="en-US">
                          <a:solidFill>
                            <a:srgbClr val="203648"/>
                          </a:solidFill>
                          <a:latin typeface="Malgun Gothic"/>
                          <a:ea typeface="Malgun Gothic"/>
                          <a:cs typeface="Malgun Gothic"/>
                        </a:rPr>
                        <a:t>[-0.325, +0.285]</a:t>
                      </a:r>
                    </a:p>
                  </a:txBody>
                  <a:tcPr marL="91440" marR="91440" marT="45720" marB="45720" anchor="ctr">
                    <a:solidFill>
                      <a:srgbClr val="FFFFFF"/>
                    </a:solidFill>
                  </a:tcPr>
                </a:tc>
              </a:tr>
              <a:tr h="6858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-0.035</a:t>
                      </a:r>
                    </a:p>
                    <a:p>
                      <a:pPr algn="ctr"/>
                      <a:r>
                        <a:rPr sz="1875" b="0" lang="ko-KR" altLang="en-US">
                          <a:solidFill>
                            <a:srgbClr val="203648"/>
                          </a:solidFill>
                          <a:latin typeface="Malgun Gothic"/>
                          <a:ea typeface="Malgun Gothic"/>
                          <a:cs typeface="Malgun Gothic"/>
                        </a:rPr>
                        <a:t>[-0.338, +0.269]</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0.000</a:t>
                      </a:r>
                    </a:p>
                    <a:p>
                      <a:pPr algn="ctr"/>
                      <a:r>
                        <a:rPr sz="1875" b="0" lang="ko-KR" altLang="en-US">
                          <a:solidFill>
                            <a:srgbClr val="203648"/>
                          </a:solidFill>
                          <a:latin typeface="Malgun Gothic"/>
                          <a:ea typeface="Malgun Gothic"/>
                          <a:cs typeface="Malgun Gothic"/>
                        </a:rPr>
                        <a:t>[-0.305, +0.305]</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B985D618-EE5A-46BC-874B-4ACAB3DA0275}"/>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추정값 [동시 95% 구간], 단위 %p   /   최대 상한 +0.378%p</a:t>
            </a:r>
          </a:p>
        </p:txBody>
      </p:sp>
    </p:spTree>
    <p:extLst>
      <p:ext uri="{BB962C8B-B14F-4D97-AF65-F5344CB8AC3E}">
        <p14:creationId xmlns:p14="http://schemas.microsoft.com/office/powerpoint/2010/main" val="20775135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5D6A45-DA0A-4FCF-9341-51C7A328E9F5}"/>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두 번째 분석에서 다섯 파이프라인 모두 기각</a:t>
            </a:r>
          </a:p>
        </p:txBody>
      </p:sp>
      <p:sp>
        <p:nvSpPr>
          <p:cNvPr id="2" name="">
            <a:extLst xmlns:a="http://schemas.openxmlformats.org/drawingml/2006/main">
              <a:ext uri="{FF2B5EF4-FFF2-40B4-BE49-F238E27FC236}">
                <a16:creationId xmlns:a16="http://schemas.microsoft.com/office/drawing/2014/main" id="{61E25D15-0E63-47FB-8027-F6B6AEF422C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120DB414-A227-41D4-B543-47AA45666B0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C.json → looks, budget_stop; decision.json → budget</a:t>
            </a:r>
          </a:p>
        </p:txBody>
      </p:sp>
      <p:graphicFrame>
        <p:nvGraphicFramePr>
          <p:cNvPr id="10" name=""/>
          <p:cNvGraphicFramePr/>
          <p:nvPr/>
        </p:nvGraphicFramePr>
        <p:xfrm>
          <a:off xmlns:a="http://schemas.openxmlformats.org/drawingml/2006/main" x="609600" y="1809750"/>
          <a:ext xmlns:a="http://schemas.openxmlformats.org/drawingml/2006/main" cx="10972800" cy="2343150"/>
        </p:xfrm>
        <a:graphic xmlns:a="http://schemas.openxmlformats.org/drawingml/2006/main">
          <a:graphicData uri="http://schemas.openxmlformats.org/drawingml/2006/table">
            <a:tbl>
              <a:tblPr firstRow="0" bandRow="0"/>
              <a:tblGrid>
                <a:gridCol w="2400300"/>
                <a:gridCol w="2286000"/>
                <a:gridCol w="1905000"/>
                <a:gridCol w="1905000"/>
                <a:gridCol w="2476500"/>
              </a:tblGrid>
              <a:tr h="781050">
                <a:tc>
                  <a:txBody>
                    <a:bodyPr wrap="square" lIns="133350" tIns="76200" rIns="133350" bIns="76200">
                      <a:noAutofit/>
                    </a:bodyPr>
                    <a:lstStyle/>
                    <a:p>
                      <a:pPr algn="l"/>
                      <a:r>
                        <a:rPr sz="1950" b="1" lang="ko-KR" altLang="en-US">
                          <a:solidFill>
                            <a:srgbClr val="FFFFFF"/>
                          </a:solidFill>
                          <a:latin typeface="Malgun Gothic"/>
                          <a:ea typeface="Malgun Gothic"/>
                          <a:cs typeface="Malgun Gothic"/>
                        </a:rPr>
                        <a:t>분석 시점</a:t>
                      </a:r>
                    </a:p>
                  </a:txBody>
                  <a:tcPr marL="91440" marR="91440" marT="45720" marB="45720" anchor="ctr">
                    <a:solidFill>
                      <a:srgbClr val="142C43"/>
                    </a:solidFill>
                  </a:tcPr>
                </a:tc>
                <a:tc>
                  <a:txBody>
                    <a:bodyPr wrap="square" lIns="133350" tIns="76200" rIns="133350" bIns="76200">
                      <a:noAutofit/>
                    </a:bodyPr>
                    <a:lstStyle/>
                    <a:p>
                      <a:pPr algn="ctr"/>
                      <a:r>
                        <a:rPr sz="1950" b="1" lang="ko-KR" altLang="en-US">
                          <a:solidFill>
                            <a:srgbClr val="FFFFFF"/>
                          </a:solidFill>
                          <a:latin typeface="Malgun Gothic"/>
                          <a:ea typeface="Malgun Gothic"/>
                          <a:cs typeface="Malgun Gothic"/>
                        </a:rPr>
                        <a:t>누적 trial</a:t>
                      </a:r>
                    </a:p>
                  </a:txBody>
                  <a:tcPr marL="91440" marR="91440" marT="45720" marB="45720" anchor="ctr">
                    <a:solidFill>
                      <a:srgbClr val="142C43"/>
                    </a:solidFill>
                  </a:tcPr>
                </a:tc>
                <a:tc>
                  <a:txBody>
                    <a:bodyPr wrap="square" lIns="133350" tIns="76200" rIns="133350" bIns="76200">
                      <a:noAutofit/>
                    </a:bodyPr>
                    <a:lstStyle/>
                    <a:p>
                      <a:pPr algn="ctr"/>
                      <a:r>
                        <a:rPr sz="1950" b="1" lang="ko-KR" altLang="en-US">
                          <a:solidFill>
                            <a:srgbClr val="FFFFFF"/>
                          </a:solidFill>
                          <a:latin typeface="Malgun Gothic"/>
                          <a:ea typeface="Malgun Gothic"/>
                          <a:cs typeface="Malgun Gothic"/>
                        </a:rPr>
                        <a:t>한계 기각</a:t>
                      </a:r>
                    </a:p>
                  </a:txBody>
                  <a:tcPr marL="91440" marR="91440" marT="45720" marB="45720" anchor="ctr">
                    <a:solidFill>
                      <a:srgbClr val="142C43"/>
                    </a:solidFill>
                  </a:tcPr>
                </a:tc>
                <a:tc>
                  <a:txBody>
                    <a:bodyPr wrap="square" lIns="133350" tIns="76200" rIns="133350" bIns="76200">
                      <a:noAutofit/>
                    </a:bodyPr>
                    <a:lstStyle/>
                    <a:p>
                      <a:pPr algn="ctr"/>
                      <a:r>
                        <a:rPr sz="1950" b="1" lang="ko-KR" altLang="en-US">
                          <a:solidFill>
                            <a:srgbClr val="FFFFFF"/>
                          </a:solidFill>
                          <a:latin typeface="Malgun Gothic"/>
                          <a:ea typeface="Malgun Gothic"/>
                          <a:cs typeface="Malgun Gothic"/>
                        </a:rPr>
                        <a:t>미결</a:t>
                      </a:r>
                    </a:p>
                  </a:txBody>
                  <a:tcPr marL="91440" marR="91440" marT="45720" marB="45720" anchor="ctr">
                    <a:solidFill>
                      <a:srgbClr val="142C43"/>
                    </a:solidFill>
                  </a:tcPr>
                </a:tc>
                <a:tc>
                  <a:txBody>
                    <a:bodyPr wrap="square" lIns="133350" tIns="76200" rIns="133350" bIns="76200">
                      <a:noAutofit/>
                    </a:bodyPr>
                    <a:lstStyle/>
                    <a:p>
                      <a:pPr algn="ctr"/>
                      <a:r>
                        <a:rPr sz="1950" b="1" lang="ko-KR" altLang="en-US">
                          <a:solidFill>
                            <a:srgbClr val="FFFFFF"/>
                          </a:solidFill>
                          <a:latin typeface="Malgun Gothic"/>
                          <a:ea typeface="Malgun Gothic"/>
                          <a:cs typeface="Malgun Gothic"/>
                        </a:rPr>
                        <a:t>진행</a:t>
                      </a:r>
                    </a:p>
                  </a:txBody>
                  <a:tcPr marL="91440" marR="91440" marT="45720" marB="45720" anchor="ctr">
                    <a:solidFill>
                      <a:srgbClr val="142C43"/>
                    </a:solidFill>
                  </a:tcPr>
                </a:tc>
              </a:tr>
              <a:tr h="781050">
                <a:tc>
                  <a:txBody>
                    <a:bodyPr wrap="square" lIns="133350" tIns="76200" rIns="133350" bIns="76200">
                      <a:noAutofit/>
                    </a:bodyPr>
                    <a:lstStyle/>
                    <a:p>
                      <a:pPr algn="l"/>
                      <a:r>
                        <a:rPr sz="2025" b="0" lang="ko-KR" altLang="en-US">
                          <a:solidFill>
                            <a:srgbClr val="203648"/>
                          </a:solidFill>
                          <a:latin typeface="Malgun Gothic"/>
                          <a:ea typeface="Malgun Gothic"/>
                          <a:cs typeface="Malgun Gothic"/>
                        </a:rPr>
                        <a:t>Look 1</a:t>
                      </a:r>
                    </a:p>
                  </a:txBody>
                  <a:tcPr marL="91440" marR="91440" marT="45720" marB="45720" anchor="ctr">
                    <a:solidFill>
                      <a:srgbClr val="F2F5F7"/>
                    </a:solidFill>
                  </a:tcPr>
                </a:tc>
                <a:tc>
                  <a:txBody>
                    <a:bodyPr wrap="square" lIns="133350" tIns="76200" rIns="133350" bIns="76200">
                      <a:noAutofit/>
                    </a:bodyPr>
                    <a:lstStyle/>
                    <a:p>
                      <a:pPr algn="ctr"/>
                      <a:r>
                        <a:rPr sz="2025" b="0" lang="ko-KR" altLang="en-US">
                          <a:solidFill>
                            <a:srgbClr val="203648"/>
                          </a:solidFill>
                          <a:latin typeface="Malgun Gothic"/>
                          <a:ea typeface="Malgun Gothic"/>
                          <a:cs typeface="Malgun Gothic"/>
                        </a:rPr>
                        <a:t>8,192</a:t>
                      </a:r>
                    </a:p>
                  </a:txBody>
                  <a:tcPr marL="91440" marR="91440" marT="45720" marB="45720" anchor="ctr">
                    <a:solidFill>
                      <a:srgbClr val="F2F5F7"/>
                    </a:solidFill>
                  </a:tcPr>
                </a:tc>
                <a:tc>
                  <a:txBody>
                    <a:bodyPr wrap="square" lIns="133350" tIns="76200" rIns="133350" bIns="76200">
                      <a:noAutofit/>
                    </a:bodyPr>
                    <a:lstStyle/>
                    <a:p>
                      <a:pPr algn="ctr"/>
                      <a:r>
                        <a:rPr sz="2025" b="0" lang="ko-KR" altLang="en-US">
                          <a:solidFill>
                            <a:srgbClr val="203648"/>
                          </a:solidFill>
                          <a:latin typeface="Malgun Gothic"/>
                          <a:ea typeface="Malgun Gothic"/>
                          <a:cs typeface="Malgun Gothic"/>
                        </a:rPr>
                        <a:t>2 / 5</a:t>
                      </a:r>
                    </a:p>
                  </a:txBody>
                  <a:tcPr marL="91440" marR="91440" marT="45720" marB="45720" anchor="ctr">
                    <a:solidFill>
                      <a:srgbClr val="F2F5F7"/>
                    </a:solidFill>
                  </a:tcPr>
                </a:tc>
                <a:tc>
                  <a:txBody>
                    <a:bodyPr wrap="square" lIns="133350" tIns="76200" rIns="133350" bIns="76200">
                      <a:noAutofit/>
                    </a:bodyPr>
                    <a:lstStyle/>
                    <a:p>
                      <a:pPr algn="ctr"/>
                      <a:r>
                        <a:rPr sz="2025" b="0" lang="ko-KR" altLang="en-US">
                          <a:solidFill>
                            <a:srgbClr val="203648"/>
                          </a:solidFill>
                          <a:latin typeface="Malgun Gothic"/>
                          <a:ea typeface="Malgun Gothic"/>
                          <a:cs typeface="Malgun Gothic"/>
                        </a:rPr>
                        <a:t>3 / 5</a:t>
                      </a:r>
                    </a:p>
                  </a:txBody>
                  <a:tcPr marL="91440" marR="91440" marT="45720" marB="45720" anchor="ctr">
                    <a:solidFill>
                      <a:srgbClr val="F2F5F7"/>
                    </a:solidFill>
                  </a:tcPr>
                </a:tc>
                <a:tc>
                  <a:txBody>
                    <a:bodyPr wrap="square" lIns="133350" tIns="76200" rIns="133350" bIns="76200">
                      <a:noAutofit/>
                    </a:bodyPr>
                    <a:lstStyle/>
                    <a:p>
                      <a:pPr algn="ctr"/>
                      <a:r>
                        <a:rPr sz="2025" b="0" lang="ko-KR" altLang="en-US">
                          <a:solidFill>
                            <a:srgbClr val="203648"/>
                          </a:solidFill>
                          <a:latin typeface="Malgun Gothic"/>
                          <a:ea typeface="Malgun Gothic"/>
                          <a:cs typeface="Malgun Gothic"/>
                        </a:rPr>
                        <a:t>계속</a:t>
                      </a:r>
                    </a:p>
                  </a:txBody>
                  <a:tcPr marL="91440" marR="91440" marT="45720" marB="45720" anchor="ctr">
                    <a:solidFill>
                      <a:srgbClr val="F2F5F7"/>
                    </a:solidFill>
                  </a:tcPr>
                </a:tc>
              </a:tr>
              <a:tr h="781050">
                <a:tc>
                  <a:txBody>
                    <a:bodyPr wrap="square" lIns="133350" tIns="76200" rIns="133350" bIns="76200">
                      <a:noAutofit/>
                    </a:bodyPr>
                    <a:lstStyle/>
                    <a:p>
                      <a:pPr algn="l"/>
                      <a:r>
                        <a:rPr sz="2025" b="0" lang="ko-KR" altLang="en-US">
                          <a:solidFill>
                            <a:srgbClr val="203648"/>
                          </a:solidFill>
                          <a:latin typeface="Malgun Gothic"/>
                          <a:ea typeface="Malgun Gothic"/>
                          <a:cs typeface="Malgun Gothic"/>
                        </a:rPr>
                        <a:t>Look 2</a:t>
                      </a:r>
                    </a:p>
                  </a:txBody>
                  <a:tcPr marL="91440" marR="91440" marT="45720" marB="45720" anchor="ctr">
                    <a:solidFill>
                      <a:srgbClr val="FFFFFF"/>
                    </a:solidFill>
                  </a:tcPr>
                </a:tc>
                <a:tc>
                  <a:txBody>
                    <a:bodyPr wrap="square" lIns="133350" tIns="76200" rIns="133350" bIns="76200">
                      <a:noAutofit/>
                    </a:bodyPr>
                    <a:lstStyle/>
                    <a:p>
                      <a:pPr algn="ctr"/>
                      <a:r>
                        <a:rPr sz="2025" b="0" lang="ko-KR" altLang="en-US">
                          <a:solidFill>
                            <a:srgbClr val="203648"/>
                          </a:solidFill>
                          <a:latin typeface="Malgun Gothic"/>
                          <a:ea typeface="Malgun Gothic"/>
                          <a:cs typeface="Malgun Gothic"/>
                        </a:rPr>
                        <a:t>16,384</a:t>
                      </a:r>
                    </a:p>
                  </a:txBody>
                  <a:tcPr marL="91440" marR="91440" marT="45720" marB="45720" anchor="ctr">
                    <a:solidFill>
                      <a:srgbClr val="FFFFFF"/>
                    </a:solidFill>
                  </a:tcPr>
                </a:tc>
                <a:tc>
                  <a:txBody>
                    <a:bodyPr wrap="square" lIns="133350" tIns="76200" rIns="133350" bIns="76200">
                      <a:noAutofit/>
                    </a:bodyPr>
                    <a:lstStyle/>
                    <a:p>
                      <a:pPr algn="ctr"/>
                      <a:r>
                        <a:rPr sz="2025" b="0" lang="ko-KR" altLang="en-US">
                          <a:solidFill>
                            <a:srgbClr val="203648"/>
                          </a:solidFill>
                          <a:latin typeface="Malgun Gothic"/>
                          <a:ea typeface="Malgun Gothic"/>
                          <a:cs typeface="Malgun Gothic"/>
                        </a:rPr>
                        <a:t>5 / 5</a:t>
                      </a:r>
                    </a:p>
                  </a:txBody>
                  <a:tcPr marL="91440" marR="91440" marT="45720" marB="45720" anchor="ctr">
                    <a:solidFill>
                      <a:srgbClr val="FFFFFF"/>
                    </a:solidFill>
                  </a:tcPr>
                </a:tc>
                <a:tc>
                  <a:txBody>
                    <a:bodyPr wrap="square" lIns="133350" tIns="76200" rIns="133350" bIns="76200">
                      <a:noAutofit/>
                    </a:bodyPr>
                    <a:lstStyle/>
                    <a:p>
                      <a:pPr algn="ctr"/>
                      <a:r>
                        <a:rPr sz="2025" b="0" lang="ko-KR" altLang="en-US">
                          <a:solidFill>
                            <a:srgbClr val="203648"/>
                          </a:solidFill>
                          <a:latin typeface="Malgun Gothic"/>
                          <a:ea typeface="Malgun Gothic"/>
                          <a:cs typeface="Malgun Gothic"/>
                        </a:rPr>
                        <a:t>0 / 5</a:t>
                      </a:r>
                    </a:p>
                  </a:txBody>
                  <a:tcPr marL="91440" marR="91440" marT="45720" marB="45720" anchor="ctr">
                    <a:solidFill>
                      <a:srgbClr val="FFFFFF"/>
                    </a:solidFill>
                  </a:tcPr>
                </a:tc>
                <a:tc>
                  <a:txBody>
                    <a:bodyPr wrap="square" lIns="133350" tIns="76200" rIns="133350" bIns="76200">
                      <a:noAutofit/>
                    </a:bodyPr>
                    <a:lstStyle/>
                    <a:p>
                      <a:pPr algn="ctr"/>
                      <a:r>
                        <a:rPr sz="2025" b="0" lang="ko-KR" altLang="en-US">
                          <a:solidFill>
                            <a:srgbClr val="203648"/>
                          </a:solidFill>
                          <a:latin typeface="Malgun Gothic"/>
                          <a:ea typeface="Malgun Gothic"/>
                          <a:cs typeface="Malgun Gothic"/>
                        </a:rPr>
                        <a:t>공동 중단</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133B66F-4D80-4BE8-BB07-7AB18E64B748}"/>
              </a:ext>
            </a:extLst>
          </p:cNvPr>
          <p:cNvSpPr>
            <a:spLocks xmlns:a="http://schemas.openxmlformats.org/drawingml/2006/main" noGrp="1"/>
          </p:cNvSpPr>
          <p:nvPr/>
        </p:nvSpPr>
        <p:spPr>
          <a:xfrm xmlns:a="http://schemas.openxmlformats.org/drawingml/2006/main">
            <a:off x="609600" y="4667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lang="ko-KR" altLang="en-US">
                <a:solidFill>
                  <a:srgbClr val="087F82"/>
                </a:solidFill>
                <a:latin typeface="Malgun Gothic"/>
                <a:ea typeface="Malgun Gothic"/>
                <a:cs typeface="Malgun Gothic"/>
              </a:defRPr>
            </a:pPr>
            <a:r>
              <a:rPr sz="2700" b="1" lang="ko-KR" altLang="en-US">
                <a:solidFill>
                  <a:srgbClr val="087F82"/>
                </a:solidFill>
                <a:latin typeface="Malgun Gothic"/>
                <a:ea typeface="Malgun Gothic"/>
                <a:cs typeface="Malgun Gothic"/>
              </a:rPr>
              <a:t>Stage C 사용 시간 41.2 / 80시간</a:t>
            </a:r>
          </a:p>
        </p:txBody>
      </p:sp>
      <p:sp>
        <p:nvSpPr>
          <p:cNvPr id="6" name="">
            <a:extLst xmlns:a="http://schemas.openxmlformats.org/drawingml/2006/main">
              <a:ext uri="{FF2B5EF4-FFF2-40B4-BE49-F238E27FC236}">
                <a16:creationId xmlns:a16="http://schemas.microsoft.com/office/drawing/2014/main" id="{92628188-0A0D-4964-9CEC-B2A6AFD1C15D}"/>
              </a:ext>
            </a:extLst>
          </p:cNvPr>
          <p:cNvSpPr>
            <a:spLocks xmlns:a="http://schemas.openxmlformats.org/drawingml/2006/main" noGrp="1"/>
          </p:cNvSpPr>
          <p:nvPr/>
        </p:nvSpPr>
        <p:spPr>
          <a:xfrm xmlns:a="http://schemas.openxmlformats.org/drawingml/2006/main">
            <a:off x="609600" y="5334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등록된 판정 조건을 충족해 종료했다. 예산 중단 기록은 없다.</a:t>
            </a:r>
          </a:p>
        </p:txBody>
      </p:sp>
    </p:spTree>
    <p:extLst>
      <p:ext uri="{BB962C8B-B14F-4D97-AF65-F5344CB8AC3E}">
        <p14:creationId xmlns:p14="http://schemas.microsoft.com/office/powerpoint/2010/main" val="1590522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9393AC-88D5-46CE-B58E-EDC91F23CD10}"/>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r=4 양성 대조에서는 큰 생성 이득을 확인</a:t>
            </a:r>
          </a:p>
        </p:txBody>
      </p:sp>
      <p:sp>
        <p:nvSpPr>
          <p:cNvPr id="2" name="">
            <a:extLst xmlns:a="http://schemas.openxmlformats.org/drawingml/2006/main">
              <a:ext uri="{FF2B5EF4-FFF2-40B4-BE49-F238E27FC236}">
                <a16:creationId xmlns:a16="http://schemas.microsoft.com/office/drawing/2014/main" id="{A057A28A-B0D5-4E2C-8FDC-CB3A1D1783D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EB7FB1CB-8D98-4F2D-80D7-94060DF4BC9E}"/>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P.json → pipelines.*.success_at_100</a:t>
            </a:r>
          </a:p>
        </p:txBody>
      </p:sp>
      <p:graphicFrame>
        <p:nvGraphicFramePr>
          <p:cNvPr id="9" name="Chart"/>
          <p:cNvGraphicFramePr/>
          <p:nvPr/>
        </p:nvGraphicFramePr>
        <p:xfrm>
          <a:off xmlns:a="http://schemas.openxmlformats.org/drawingml/2006/main" x="609600" y="1638300"/>
          <a:ext xmlns:a="http://schemas.openxmlformats.org/drawingml/2006/main" cx="10972800" cy="4095750"/>
        </p:xfrm>
        <a:graphic xmlns:a="http://schemas.openxmlformats.org/drawingml/2006/main">
          <a:graphicData uri="http://schemas.openxmlformats.org/drawingml/2006/chart">
            <c:chart xmlns:r="http://schemas.openxmlformats.org/officeDocument/2006/relationships" xmlns:c="http://schemas.openxmlformats.org/drawingml/2006/chart" r:id="R9dab858674074077"/>
          </a:graphicData>
        </a:graphic>
      </p:graphicFrame>
      <p:sp>
        <p:nvSpPr>
          <p:cNvPr id="5" name="">
            <a:extLst xmlns:a="http://schemas.openxmlformats.org/drawingml/2006/main">
              <a:ext uri="{FF2B5EF4-FFF2-40B4-BE49-F238E27FC236}">
                <a16:creationId xmlns:a16="http://schemas.microsoft.com/office/drawing/2014/main" id="{7EFB4F8F-0304-4C9E-8D00-8911127636AB}"/>
              </a:ext>
            </a:extLst>
          </p:cNvPr>
          <p:cNvSpPr>
            <a:spLocks xmlns:a="http://schemas.openxmlformats.org/drawingml/2006/main" noGrp="1"/>
          </p:cNvSpPr>
          <p:nvPr/>
        </p:nvSpPr>
        <p:spPr>
          <a:xfrm xmlns:a="http://schemas.openxmlformats.org/drawingml/2006/main">
            <a:off x="609600" y="5934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lang="ko-KR" altLang="en-US">
                <a:solidFill>
                  <a:srgbClr val="087F82"/>
                </a:solidFill>
                <a:latin typeface="Malgun Gothic"/>
                <a:ea typeface="Malgun Gothic"/>
                <a:cs typeface="Malgun Gothic"/>
              </a:defRPr>
            </a:pPr>
            <a:r>
              <a:rPr sz="1800" b="1" lang="ko-KR" altLang="en-US">
                <a:solidFill>
                  <a:srgbClr val="087F82"/>
                </a:solidFill>
                <a:latin typeface="Malgun Gothic"/>
                <a:ea typeface="Malgun Gothic"/>
                <a:cs typeface="Malgun Gothic"/>
              </a:rPr>
              <a:t>Success@100(반올림), 4,096 trials. 5개 모두 Random·MC 대비 이득 확인</a:t>
            </a:r>
          </a:p>
        </p:txBody>
      </p:sp>
    </p:spTree>
    <p:extLst>
      <p:ext uri="{BB962C8B-B14F-4D97-AF65-F5344CB8AC3E}">
        <p14:creationId xmlns:p14="http://schemas.microsoft.com/office/powerpoint/2010/main" val="20341265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F08E14-9449-45A8-840D-D925F29D9F27}"/>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정규 MD5에서 조건 정보 신호를 확인하지 못함</a:t>
            </a:r>
          </a:p>
        </p:txBody>
      </p:sp>
      <p:sp>
        <p:nvSpPr>
          <p:cNvPr id="2" name="">
            <a:extLst xmlns:a="http://schemas.openxmlformats.org/drawingml/2006/main">
              <a:ext uri="{FF2B5EF4-FFF2-40B4-BE49-F238E27FC236}">
                <a16:creationId xmlns:a16="http://schemas.microsoft.com/office/drawing/2014/main" id="{6B786B81-4638-4412-996B-9194FBFCC28A}"/>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13</a:t>
            </a:r>
          </a:p>
        </p:txBody>
      </p:sp>
      <p:sp>
        <p:nvSpPr>
          <p:cNvPr id="3" name="">
            <a:extLst xmlns:a="http://schemas.openxmlformats.org/drawingml/2006/main">
              <a:ext uri="{FF2B5EF4-FFF2-40B4-BE49-F238E27FC236}">
                <a16:creationId xmlns:a16="http://schemas.microsoft.com/office/drawing/2014/main" id="{276D230B-8C27-4A26-AA89-EC059C6E301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 → CLP_64, C2.clp, contrasts</a:t>
            </a:r>
          </a:p>
        </p:txBody>
      </p:sp>
      <p:graphicFrame>
        <p:nvGraphicFramePr>
          <p:cNvPr id="10" name=""/>
          <p:cNvGraphicFramePr/>
          <p:nvPr/>
        </p:nvGraphicFramePr>
        <p:xfrm>
          <a:off xmlns:a="http://schemas.openxmlformats.org/drawingml/2006/main" x="609600" y="1571625"/>
          <a:ext xmlns:a="http://schemas.openxmlformats.org/drawingml/2006/main" cx="10972800" cy="3333750"/>
        </p:xfrm>
        <a:graphic xmlns:a="http://schemas.openxmlformats.org/drawingml/2006/main">
          <a:graphicData uri="http://schemas.openxmlformats.org/drawingml/2006/table">
            <a:tbl>
              <a:tblPr firstRow="0" bandRow="0"/>
              <a:tblGrid>
                <a:gridCol w="3657600"/>
                <a:gridCol w="3657600"/>
                <a:gridCol w="3657600"/>
              </a:tblGrid>
              <a:tr h="555625">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r=4 CLP z</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정규 MD5 CLP z</a:t>
                      </a:r>
                    </a:p>
                  </a:txBody>
                  <a:tcPr marL="91440" marR="91440" marT="45720" marB="45720" anchor="ctr">
                    <a:solidFill>
                      <a:srgbClr val="142C43"/>
                    </a:solidFill>
                  </a:tcPr>
                </a:tc>
              </a:tr>
              <a:tr h="5556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187.34</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0.10</a:t>
                      </a:r>
                    </a:p>
                  </a:txBody>
                  <a:tcPr marL="91440" marR="91440" marT="45720" marB="45720" anchor="ctr">
                    <a:solidFill>
                      <a:srgbClr val="F2F5F7"/>
                    </a:solidFill>
                  </a:tcPr>
                </a:tc>
              </a:tr>
              <a:tr h="5556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114.31</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0.12</a:t>
                      </a:r>
                    </a:p>
                  </a:txBody>
                  <a:tcPr marL="91440" marR="91440" marT="45720" marB="45720" anchor="ctr">
                    <a:solidFill>
                      <a:srgbClr val="FFFFFF"/>
                    </a:solidFill>
                  </a:tcPr>
                </a:tc>
              </a:tr>
              <a:tr h="5556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181.76</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0.32</a:t>
                      </a:r>
                    </a:p>
                  </a:txBody>
                  <a:tcPr marL="91440" marR="91440" marT="45720" marB="45720" anchor="ctr">
                    <a:solidFill>
                      <a:srgbClr val="F2F5F7"/>
                    </a:solidFill>
                  </a:tcPr>
                </a:tc>
              </a:tr>
              <a:tr h="5556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197.35</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0.25</a:t>
                      </a:r>
                    </a:p>
                  </a:txBody>
                  <a:tcPr marL="91440" marR="91440" marT="45720" marB="45720" anchor="ctr">
                    <a:solidFill>
                      <a:srgbClr val="FFFFFF"/>
                    </a:solidFill>
                  </a:tcPr>
                </a:tc>
              </a:tr>
              <a:tr h="5556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183.25</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-0.36</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5210EC78-C6AE-48D2-9F2E-6EAB375EAC5A}"/>
              </a:ext>
            </a:extLst>
          </p:cNvPr>
          <p:cNvSpPr>
            <a:spLocks xmlns:a="http://schemas.openxmlformats.org/drawingml/2006/main" noGrp="1"/>
          </p:cNvSpPr>
          <p:nvPr/>
        </p:nvSpPr>
        <p:spPr>
          <a:xfrm xmlns:a="http://schemas.openxmlformats.org/drawingml/2006/main">
            <a:off x="609600" y="53149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파이프라인 간 효과 대비 12건: ±0.5%p 내 8건, 미확정 4건</a:t>
            </a:r>
          </a:p>
        </p:txBody>
      </p:sp>
      <p:sp>
        <p:nvSpPr>
          <p:cNvPr id="6" name="">
            <a:extLst xmlns:a="http://schemas.openxmlformats.org/drawingml/2006/main">
              <a:ext uri="{FF2B5EF4-FFF2-40B4-BE49-F238E27FC236}">
                <a16:creationId xmlns:a16="http://schemas.microsoft.com/office/drawing/2014/main" id="{0B2825F7-0487-42CD-AF3B-7588D53EE367}"/>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lang="ko-KR" altLang="en-US">
                <a:solidFill>
                  <a:srgbClr val="5A6B78"/>
                </a:solidFill>
                <a:latin typeface="Malgun Gothic"/>
                <a:ea typeface="Malgun Gothic"/>
                <a:cs typeface="Malgun Gothic"/>
              </a:defRPr>
            </a:pPr>
            <a:r>
              <a:rPr sz="1800" b="0" lang="ko-KR" altLang="en-US">
                <a:solidFill>
                  <a:srgbClr val="5A6B78"/>
                </a:solidFill>
                <a:latin typeface="Malgun Gothic"/>
                <a:ea typeface="Malgun Gothic"/>
                <a:cs typeface="Malgun Gothic"/>
              </a:rPr>
              <a:t>차이를 확인한 대비는 0건이며, 모든 파이프라인의 동등성을 뜻하지 않는다</a:t>
            </a:r>
          </a:p>
        </p:txBody>
      </p:sp>
    </p:spTree>
    <p:extLst>
      <p:ext uri="{BB962C8B-B14F-4D97-AF65-F5344CB8AC3E}">
        <p14:creationId xmlns:p14="http://schemas.microsoft.com/office/powerpoint/2010/main" val="4259421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D63227-9ECA-451A-8E17-2DD7ED56D744}"/>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생성 비용을 상쇄할 성공률 향상이 없었다</a:t>
            </a:r>
          </a:p>
        </p:txBody>
      </p:sp>
      <p:sp>
        <p:nvSpPr>
          <p:cNvPr id="2" name="">
            <a:extLst xmlns:a="http://schemas.openxmlformats.org/drawingml/2006/main">
              <a:ext uri="{FF2B5EF4-FFF2-40B4-BE49-F238E27FC236}">
                <a16:creationId xmlns:a16="http://schemas.microsoft.com/office/drawing/2014/main" id="{8F1F987D-FB39-42A3-ADDE-BBDD10B716C4}"/>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43519108-769A-4EB7-AB44-151DCA25192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 → C4; FINAL_REPORT_KO.md §2, §7</a:t>
            </a:r>
          </a:p>
        </p:txBody>
      </p:sp>
      <p:graphicFrame>
        <p:nvGraphicFramePr>
          <p:cNvPr id="10"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0" bandRow="0"/>
              <a:tblGrid>
                <a:gridCol w="3048000"/>
                <a:gridCol w="3905250"/>
                <a:gridCol w="4019550"/>
              </a:tblGrid>
              <a:tr h="581025">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후보 생성 비용 비율 ρ</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손익분기 후보당 성공률</a:t>
                      </a:r>
                    </a:p>
                  </a:txBody>
                  <a:tcPr marL="91440" marR="91440" marT="45720" marB="45720" anchor="ctr">
                    <a:solidFill>
                      <a:srgbClr val="142C43"/>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2891.3배</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70.59%</a:t>
                      </a:r>
                    </a:p>
                  </a:txBody>
                  <a:tcPr marL="91440" marR="91440" marT="45720" marB="45720" anchor="ctr">
                    <a:solidFill>
                      <a:srgbClr val="F2F5F7"/>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1545.7배</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37.74%</a:t>
                      </a:r>
                    </a:p>
                  </a:txBody>
                  <a:tcPr marL="91440" marR="91440" marT="45720" marB="45720" anchor="ctr">
                    <a:solidFill>
                      <a:srgbClr val="FFFFFF"/>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78.4배</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1.91%</a:t>
                      </a:r>
                    </a:p>
                  </a:txBody>
                  <a:tcPr marL="91440" marR="91440" marT="45720" marB="45720" anchor="ctr">
                    <a:solidFill>
                      <a:srgbClr val="F2F5F7"/>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3024.7배</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73.85%</a:t>
                      </a:r>
                    </a:p>
                  </a:txBody>
                  <a:tcPr marL="91440" marR="91440" marT="45720" marB="45720" anchor="ctr">
                    <a:solidFill>
                      <a:srgbClr val="FFFFFF"/>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200.6배</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4.90%</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312D3AA9-DD8A-4D69-BD05-A7E618A48C55}"/>
              </a:ext>
            </a:extLst>
          </p:cNvPr>
          <p:cNvSpPr>
            <a:spLocks xmlns:a="http://schemas.openxmlformats.org/drawingml/2006/main" noGrp="1"/>
          </p:cNvSpPr>
          <p:nvPr/>
        </p:nvSpPr>
        <p:spPr>
          <a:xfrm xmlns:a="http://schemas.openxmlformats.org/drawingml/2006/main">
            <a:off x="609600" y="54483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가장 빠른 P-DISC도 후보당 성공확률이 약 78배 높아야 손익분기</a:t>
            </a:r>
          </a:p>
        </p:txBody>
      </p:sp>
      <p:sp>
        <p:nvSpPr>
          <p:cNvPr id="6" name="">
            <a:extLst xmlns:a="http://schemas.openxmlformats.org/drawingml/2006/main">
              <a:ext uri="{FF2B5EF4-FFF2-40B4-BE49-F238E27FC236}">
                <a16:creationId xmlns:a16="http://schemas.microsoft.com/office/drawing/2014/main" id="{10D82F48-5F5A-47E2-8236-A96E0A96AF7A}"/>
              </a:ext>
            </a:extLst>
          </p:cNvPr>
          <p:cNvSpPr>
            <a:spLocks xmlns:a="http://schemas.openxmlformats.org/drawingml/2006/main" noGrp="1"/>
          </p:cNvSpPr>
          <p:nvPr/>
        </p:nvSpPr>
        <p:spPr>
          <a:xfrm xmlns:a="http://schemas.openxmlformats.org/drawingml/2006/main">
            <a:off x="609600" y="5905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5A6B78"/>
                </a:solidFill>
                <a:latin typeface="Malgun Gothic"/>
                <a:ea typeface="Malgun Gothic"/>
                <a:cs typeface="Malgun Gothic"/>
              </a:defRPr>
            </a:pPr>
            <a:r>
              <a:rPr sz="1875" b="0" lang="ko-KR" altLang="en-US">
                <a:solidFill>
                  <a:srgbClr val="5A6B78"/>
                </a:solidFill>
                <a:latin typeface="Malgun Gothic"/>
                <a:ea typeface="Malgun Gothic"/>
                <a:cs typeface="Malgun Gothic"/>
              </a:rPr>
              <a:t>학습비를 제외한 비교에서도 등록 판정은 5개 모두 NO_ADVANTAGE</a:t>
            </a:r>
          </a:p>
        </p:txBody>
      </p:sp>
    </p:spTree>
    <p:extLst>
      <p:ext uri="{BB962C8B-B14F-4D97-AF65-F5344CB8AC3E}">
        <p14:creationId xmlns:p14="http://schemas.microsoft.com/office/powerpoint/2010/main" val="12648592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C8239B-A9E4-49F9-BF74-C416AF0F50E0}"/>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모델 규모와 학습량 확대에서도 추가 신호 없음</a:t>
            </a:r>
          </a:p>
        </p:txBody>
      </p:sp>
      <p:sp>
        <p:nvSpPr>
          <p:cNvPr id="2" name="">
            <a:extLst xmlns:a="http://schemas.openxmlformats.org/drawingml/2006/main">
              <a:ext uri="{FF2B5EF4-FFF2-40B4-BE49-F238E27FC236}">
                <a16:creationId xmlns:a16="http://schemas.microsoft.com/office/drawing/2014/main" id="{22879AF9-612F-4DDE-9FE8-C0F3D843D13D}"/>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15</a:t>
            </a:r>
          </a:p>
        </p:txBody>
      </p:sp>
      <p:sp>
        <p:nvSpPr>
          <p:cNvPr id="3" name="">
            <a:extLst xmlns:a="http://schemas.openxmlformats.org/drawingml/2006/main">
              <a:ext uri="{FF2B5EF4-FFF2-40B4-BE49-F238E27FC236}">
                <a16:creationId xmlns:a16="http://schemas.microsoft.com/office/drawing/2014/main" id="{F6BD9D32-6CE7-4785-8653-9E3B5070EF9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S.json; v6-protocol.json → stage_s, models</a:t>
            </a:r>
          </a:p>
        </p:txBody>
      </p:sp>
      <p:sp>
        <p:nvSpPr>
          <p:cNvPr id="4" name="">
            <a:extLst xmlns:a="http://schemas.openxmlformats.org/drawingml/2006/main">
              <a:ext uri="{FF2B5EF4-FFF2-40B4-BE49-F238E27FC236}">
                <a16:creationId xmlns:a16="http://schemas.microsoft.com/office/drawing/2014/main" id="{F9BF516D-7D61-4238-B618-264D1CBD362D}"/>
              </a:ext>
            </a:extLst>
          </p:cNvPr>
          <p:cNvSpPr>
            <a:spLocks xmlns:a="http://schemas.openxmlformats.org/drawingml/2006/main" noGrp="1"/>
          </p:cNvSpPr>
          <p:nvPr/>
        </p:nvSpPr>
        <p:spPr>
          <a:xfrm xmlns:a="http://schemas.openxmlformats.org/drawingml/2006/main">
            <a:off x="609600" y="1533525"/>
            <a:ext cx="571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087F82"/>
                </a:solidFill>
                <a:latin typeface="Malgun Gothic"/>
                <a:ea typeface="Malgun Gothic"/>
                <a:cs typeface="Malgun Gothic"/>
              </a:defRPr>
            </a:pPr>
            <a:r>
              <a:rPr sz="3300" b="1" lang="ko-KR" altLang="en-US">
                <a:solidFill>
                  <a:srgbClr val="087F82"/>
                </a:solidFill>
                <a:latin typeface="Malgun Gothic"/>
                <a:ea typeface="Malgun Gothic"/>
                <a:cs typeface="Malgun Gothic"/>
              </a:rPr>
              <a:t>6.42M 파라미터</a:t>
            </a:r>
          </a:p>
        </p:txBody>
      </p:sp>
      <p:sp>
        <p:nvSpPr>
          <p:cNvPr id="5" name="">
            <a:extLst xmlns:a="http://schemas.openxmlformats.org/drawingml/2006/main">
              <a:ext uri="{FF2B5EF4-FFF2-40B4-BE49-F238E27FC236}">
                <a16:creationId xmlns:a16="http://schemas.microsoft.com/office/drawing/2014/main" id="{02D444BD-E153-49C6-9009-2FD51E685C11}"/>
              </a:ext>
            </a:extLst>
          </p:cNvPr>
          <p:cNvSpPr>
            <a:spLocks xmlns:a="http://schemas.openxmlformats.org/drawingml/2006/main" noGrp="1"/>
          </p:cNvSpPr>
          <p:nvPr/>
        </p:nvSpPr>
        <p:spPr>
          <a:xfrm xmlns:a="http://schemas.openxmlformats.org/drawingml/2006/main">
            <a:off x="609600" y="218122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5A6B78"/>
                </a:solidFill>
                <a:latin typeface="Malgun Gothic"/>
                <a:ea typeface="Malgun Gothic"/>
                <a:cs typeface="Malgun Gothic"/>
              </a:defRPr>
            </a:pPr>
            <a:r>
              <a:rPr sz="2100" b="0" lang="ko-KR" altLang="en-US">
                <a:solidFill>
                  <a:srgbClr val="5A6B78"/>
                </a:solidFill>
                <a:latin typeface="Malgun Gothic"/>
                <a:ea typeface="Malgun Gothic"/>
                <a:cs typeface="Malgun Gothic"/>
              </a:rPr>
              <a:t>D1-S 대비 약 13배</a:t>
            </a:r>
          </a:p>
        </p:txBody>
      </p:sp>
      <p:sp>
        <p:nvSpPr>
          <p:cNvPr id="6" name="">
            <a:extLst xmlns:a="http://schemas.openxmlformats.org/drawingml/2006/main">
              <a:ext uri="{FF2B5EF4-FFF2-40B4-BE49-F238E27FC236}">
                <a16:creationId xmlns:a16="http://schemas.microsoft.com/office/drawing/2014/main" id="{BE27718F-0B9F-44D3-999F-90DFCF503A2D}"/>
              </a:ext>
            </a:extLst>
          </p:cNvPr>
          <p:cNvSpPr>
            <a:spLocks xmlns:a="http://schemas.openxmlformats.org/drawingml/2006/main" noGrp="1"/>
          </p:cNvSpPr>
          <p:nvPr/>
        </p:nvSpPr>
        <p:spPr>
          <a:xfrm xmlns:a="http://schemas.openxmlformats.org/drawingml/2006/main">
            <a:off x="6619875" y="1533525"/>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087F82"/>
                </a:solidFill>
                <a:latin typeface="Malgun Gothic"/>
                <a:ea typeface="Malgun Gothic"/>
                <a:cs typeface="Malgun Gothic"/>
              </a:defRPr>
            </a:pPr>
            <a:r>
              <a:rPr sz="3300" b="1" lang="ko-KR" altLang="en-US">
                <a:solidFill>
                  <a:srgbClr val="087F82"/>
                </a:solidFill>
                <a:latin typeface="Malgun Gothic"/>
                <a:ea typeface="Malgun Gothic"/>
                <a:cs typeface="Malgun Gothic"/>
              </a:rPr>
              <a:t>160,000 updates</a:t>
            </a:r>
          </a:p>
        </p:txBody>
      </p:sp>
      <p:sp>
        <p:nvSpPr>
          <p:cNvPr id="7" name="">
            <a:extLst xmlns:a="http://schemas.openxmlformats.org/drawingml/2006/main">
              <a:ext uri="{FF2B5EF4-FFF2-40B4-BE49-F238E27FC236}">
                <a16:creationId xmlns:a16="http://schemas.microsoft.com/office/drawing/2014/main" id="{0CB527D6-4420-48F4-9D26-67F56B173567}"/>
              </a:ext>
            </a:extLst>
          </p:cNvPr>
          <p:cNvSpPr>
            <a:spLocks xmlns:a="http://schemas.openxmlformats.org/drawingml/2006/main" noGrp="1"/>
          </p:cNvSpPr>
          <p:nvPr/>
        </p:nvSpPr>
        <p:spPr>
          <a:xfrm xmlns:a="http://schemas.openxmlformats.org/drawingml/2006/main">
            <a:off x="6619875" y="218122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lang="ko-KR" altLang="en-US">
                <a:solidFill>
                  <a:srgbClr val="5A6B78"/>
                </a:solidFill>
                <a:latin typeface="Malgun Gothic"/>
                <a:ea typeface="Malgun Gothic"/>
                <a:cs typeface="Malgun Gothic"/>
              </a:defRPr>
            </a:pPr>
            <a:r>
              <a:rPr sz="2025" b="0" lang="ko-KR" altLang="en-US">
                <a:solidFill>
                  <a:srgbClr val="5A6B78"/>
                </a:solidFill>
                <a:latin typeface="Malgun Gothic"/>
                <a:ea typeface="Malgun Gothic"/>
                <a:cs typeface="Malgun Gothic"/>
              </a:rPr>
              <a:t>학습 쌍 4,096만 개, 주 실험의 4배</a:t>
            </a:r>
          </a:p>
        </p:txBody>
      </p:sp>
      <p:graphicFrame>
        <p:nvGraphicFramePr>
          <p:cNvPr id="17" name=""/>
          <p:cNvGraphicFramePr/>
          <p:nvPr/>
        </p:nvGraphicFramePr>
        <p:xfrm>
          <a:off xmlns:a="http://schemas.openxmlformats.org/drawingml/2006/main" x="609600" y="3209925"/>
          <a:ext xmlns:a="http://schemas.openxmlformats.org/drawingml/2006/main" cx="10972800" cy="2219325"/>
        </p:xfrm>
        <a:graphic xmlns:a="http://schemas.openxmlformats.org/drawingml/2006/main">
          <a:graphicData uri="http://schemas.openxmlformats.org/drawingml/2006/table">
            <a:tbl>
              <a:tblPr firstRow="0" bandRow="0"/>
              <a:tblGrid>
                <a:gridCol w="3000375"/>
                <a:gridCol w="3333750"/>
                <a:gridCol w="4638675"/>
              </a:tblGrid>
              <a:tr h="523875">
                <a:tc>
                  <a:txBody>
                    <a:bodyPr wrap="square" lIns="133350" tIns="76200" rIns="133350" bIns="76200">
                      <a:noAutofit/>
                    </a:bodyPr>
                    <a:lstStyle/>
                    <a:p>
                      <a:pPr algn="l"/>
                      <a:r>
                        <a:rPr sz="2025" b="1" lang="ko-KR" altLang="en-US">
                          <a:solidFill>
                            <a:srgbClr val="FFFFFF"/>
                          </a:solidFill>
                          <a:latin typeface="Malgun Gothic"/>
                          <a:ea typeface="Malgun Gothic"/>
                          <a:cs typeface="Malgun Gothic"/>
                        </a:rPr>
                        <a:t>측정</a:t>
                      </a:r>
                    </a:p>
                  </a:txBody>
                  <a:tcPr marL="91440" marR="91440" marT="45720" marB="45720" anchor="ctr">
                    <a:solidFill>
                      <a:srgbClr val="142C43"/>
                    </a:solidFill>
                  </a:tcPr>
                </a:tc>
                <a:tc>
                  <a:txBody>
                    <a:bodyPr wrap="square" lIns="133350" tIns="76200" rIns="133350" bIns="76200">
                      <a:noAutofit/>
                    </a:bodyPr>
                    <a:lstStyle/>
                    <a:p>
                      <a:pPr algn="l"/>
                      <a:r>
                        <a:rPr sz="2025" b="1" lang="ko-KR" altLang="en-US">
                          <a:solidFill>
                            <a:srgbClr val="FFFFFF"/>
                          </a:solidFill>
                          <a:latin typeface="Malgun Gothic"/>
                          <a:ea typeface="Malgun Gothic"/>
                          <a:cs typeface="Malgun Gothic"/>
                        </a:rPr>
                        <a:t>결과</a:t>
                      </a:r>
                    </a:p>
                  </a:txBody>
                  <a:tcPr marL="91440" marR="91440" marT="45720" marB="45720" anchor="ctr">
                    <a:solidFill>
                      <a:srgbClr val="142C43"/>
                    </a:solidFill>
                  </a:tcPr>
                </a:tc>
                <a:tc>
                  <a:txBody>
                    <a:bodyPr wrap="square" lIns="133350" tIns="76200" rIns="133350" bIns="76200">
                      <a:noAutofit/>
                    </a:bodyPr>
                    <a:lstStyle/>
                    <a:p>
                      <a:pPr algn="l"/>
                      <a:r>
                        <a:rPr sz="2025" b="1" lang="ko-KR" altLang="en-US">
                          <a:solidFill>
                            <a:srgbClr val="FFFFFF"/>
                          </a:solidFill>
                          <a:latin typeface="Malgun Gothic"/>
                          <a:ea typeface="Malgun Gothic"/>
                          <a:cs typeface="Malgun Gothic"/>
                        </a:rPr>
                        <a:t>해석</a:t>
                      </a:r>
                    </a:p>
                  </a:txBody>
                  <a:tcPr marL="91440" marR="91440" marT="45720" marB="45720" anchor="ctr">
                    <a:solidFill>
                      <a:srgbClr val="142C43"/>
                    </a:solidFill>
                  </a:tcPr>
                </a:tc>
              </a:tr>
              <a:tr h="666750">
                <a:tc>
                  <a:txBody>
                    <a:bodyPr wrap="square" lIns="133350" tIns="76200" rIns="133350" bIns="76200">
                      <a:noAutofit/>
                    </a:bodyPr>
                    <a:lstStyle/>
                    <a:p>
                      <a:pPr algn="l"/>
                      <a:r>
                        <a:rPr sz="2100" b="0" lang="ko-KR" altLang="en-US">
                          <a:solidFill>
                            <a:srgbClr val="203648"/>
                          </a:solidFill>
                          <a:latin typeface="Malgun Gothic"/>
                          <a:ea typeface="Malgun Gothic"/>
                          <a:cs typeface="Malgun Gothic"/>
                        </a:rPr>
                        <a:t>CLP z</a:t>
                      </a:r>
                    </a:p>
                  </a:txBody>
                  <a:tcPr marL="91440" marR="91440" marT="45720" marB="45720" anchor="ctr">
                    <a:solidFill>
                      <a:srgbClr val="F2F5F7"/>
                    </a:solidFill>
                  </a:tcPr>
                </a:tc>
                <a:tc>
                  <a:txBody>
                    <a:bodyPr wrap="square" lIns="133350" tIns="76200" rIns="133350" bIns="76200">
                      <a:noAutofit/>
                    </a:bodyPr>
                    <a:lstStyle/>
                    <a:p>
                      <a:pPr algn="l"/>
                      <a:r>
                        <a:rPr sz="2100" b="0" lang="ko-KR" altLang="en-US">
                          <a:solidFill>
                            <a:srgbClr val="203648"/>
                          </a:solidFill>
                          <a:latin typeface="Malgun Gothic"/>
                          <a:ea typeface="Malgun Gothic"/>
                          <a:cs typeface="Malgun Gothic"/>
                        </a:rPr>
                        <a:t>-0.28</a:t>
                      </a:r>
                    </a:p>
                  </a:txBody>
                  <a:tcPr marL="91440" marR="91440" marT="45720" marB="45720" anchor="ctr">
                    <a:solidFill>
                      <a:srgbClr val="F2F5F7"/>
                    </a:solidFill>
                  </a:tcPr>
                </a:tc>
                <a:tc>
                  <a:txBody>
                    <a:bodyPr wrap="square" lIns="133350" tIns="76200" rIns="133350" bIns="76200">
                      <a:noAutofit/>
                    </a:bodyPr>
                    <a:lstStyle/>
                    <a:p>
                      <a:pPr algn="l"/>
                      <a:r>
                        <a:rPr sz="2100" b="0" lang="ko-KR" altLang="en-US">
                          <a:solidFill>
                            <a:srgbClr val="203648"/>
                          </a:solidFill>
                          <a:latin typeface="Malgun Gothic"/>
                          <a:ea typeface="Malgun Gothic"/>
                          <a:cs typeface="Malgun Gothic"/>
                        </a:rPr>
                        <a:t>신호 기준 +3.29 미충족</a:t>
                      </a:r>
                    </a:p>
                  </a:txBody>
                  <a:tcPr marL="91440" marR="91440" marT="45720" marB="45720" anchor="ctr">
                    <a:solidFill>
                      <a:srgbClr val="F2F5F7"/>
                    </a:solidFill>
                  </a:tcPr>
                </a:tc>
              </a:tr>
              <a:tr h="1028700">
                <a:tc>
                  <a:txBody>
                    <a:bodyPr wrap="square" lIns="133350" tIns="76200" rIns="133350" bIns="76200">
                      <a:noAutofit/>
                    </a:bodyPr>
                    <a:lstStyle/>
                    <a:p>
                      <a:pPr algn="l"/>
                      <a:r>
                        <a:rPr sz="2100" b="0" lang="ko-KR" altLang="en-US">
                          <a:solidFill>
                            <a:srgbClr val="203648"/>
                          </a:solidFill>
                          <a:latin typeface="Malgun Gothic"/>
                          <a:ea typeface="Malgun Gothic"/>
                          <a:cs typeface="Malgun Gothic"/>
                        </a:rPr>
                        <a:t>Success@100</a:t>
                      </a:r>
                    </a:p>
                  </a:txBody>
                  <a:tcPr marL="91440" marR="91440" marT="45720" marB="45720" anchor="ctr">
                    <a:solidFill>
                      <a:srgbClr val="FFFFFF"/>
                    </a:solidFill>
                  </a:tcPr>
                </a:tc>
                <a:tc>
                  <a:txBody>
                    <a:bodyPr wrap="square" lIns="133350" tIns="76200" rIns="133350" bIns="76200">
                      <a:noAutofit/>
                    </a:bodyPr>
                    <a:lstStyle/>
                    <a:p>
                      <a:pPr algn="l"/>
                      <a:r>
                        <a:rPr sz="2100" b="0" lang="ko-KR" altLang="en-US">
                          <a:solidFill>
                            <a:srgbClr val="203648"/>
                          </a:solidFill>
                          <a:latin typeface="Malgun Gothic"/>
                          <a:ea typeface="Malgun Gothic"/>
                          <a:cs typeface="Malgun Gothic"/>
                        </a:rPr>
                        <a:t>Main 2.246%</a:t>
                      </a:r>
                    </a:p>
                    <a:p>
                      <a:pPr algn="l"/>
                      <a:r>
                        <a:rPr sz="2100" b="0" lang="ko-KR" altLang="en-US">
                          <a:solidFill>
                            <a:srgbClr val="203648"/>
                          </a:solidFill>
                          <a:latin typeface="Malgun Gothic"/>
                          <a:ea typeface="Malgun Gothic"/>
                          <a:cs typeface="Malgun Gothic"/>
                        </a:rPr>
                        <a:t>Random 2.319%</a:t>
                      </a:r>
                    </a:p>
                  </a:txBody>
                  <a:tcPr marL="91440" marR="91440" marT="45720" marB="45720" anchor="ctr">
                    <a:solidFill>
                      <a:srgbClr val="FFFFFF"/>
                    </a:solidFill>
                  </a:tcPr>
                </a:tc>
                <a:tc>
                  <a:txBody>
                    <a:bodyPr wrap="square" lIns="133350" tIns="76200" rIns="133350" bIns="76200">
                      <a:noAutofit/>
                    </a:bodyPr>
                    <a:lstStyle/>
                    <a:p>
                      <a:pPr algn="l"/>
                      <a:r>
                        <a:rPr sz="2100" b="0" lang="ko-KR" altLang="en-US">
                          <a:solidFill>
                            <a:srgbClr val="203648"/>
                          </a:solidFill>
                          <a:latin typeface="Malgun Gothic"/>
                          <a:ea typeface="Malgun Gothic"/>
                          <a:cs typeface="Malgun Gothic"/>
                        </a:rPr>
                        <a:t>보조 기술통계</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9F231BF-BF44-424F-A27A-D4241AAD94C1}"/>
              </a:ext>
            </a:extLst>
          </p:cNvPr>
          <p:cNvSpPr>
            <a:spLocks xmlns:a="http://schemas.openxmlformats.org/drawingml/2006/main" noGrp="1"/>
          </p:cNvSpPr>
          <p:nvPr/>
        </p:nvSpPr>
        <p:spPr>
          <a:xfrm xmlns:a="http://schemas.openxmlformats.org/drawingml/2006/main">
            <a:off x="609600" y="582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lang="ko-KR" altLang="en-US">
                <a:solidFill>
                  <a:srgbClr val="5A6B78"/>
                </a:solidFill>
                <a:latin typeface="Malgun Gothic"/>
                <a:ea typeface="Malgun Gothic"/>
                <a:cs typeface="Malgun Gothic"/>
              </a:defRPr>
            </a:pPr>
            <a:r>
              <a:rPr sz="2025" b="0" lang="ko-KR" altLang="en-US">
                <a:solidFill>
                  <a:srgbClr val="5A6B78"/>
                </a:solidFill>
                <a:latin typeface="Malgun Gothic"/>
                <a:ea typeface="Malgun Gothic"/>
                <a:cs typeface="Malgun Gothic"/>
              </a:rPr>
              <a:t>SCALE_SIGNAL = false   /   이 한 번의 확대 실험 범위에 한정</a:t>
            </a:r>
          </a:p>
        </p:txBody>
      </p:sp>
    </p:spTree>
    <p:extLst>
      <p:ext uri="{BB962C8B-B14F-4D97-AF65-F5344CB8AC3E}">
        <p14:creationId xmlns:p14="http://schemas.microsoft.com/office/powerpoint/2010/main" val="20894139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7298A4-CDF7-4CF2-9F76-DB7935AF380D}"/>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최종 판정: FINAL_REJECTED</a:t>
            </a:r>
          </a:p>
        </p:txBody>
      </p:sp>
      <p:sp>
        <p:nvSpPr>
          <p:cNvPr id="2" name="">
            <a:extLst xmlns:a="http://schemas.openxmlformats.org/drawingml/2006/main">
              <a:ext uri="{FF2B5EF4-FFF2-40B4-BE49-F238E27FC236}">
                <a16:creationId xmlns:a16="http://schemas.microsoft.com/office/drawing/2014/main" id="{EB7BCDE1-E917-42C3-B9D5-853B142A7FA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16</a:t>
            </a:r>
          </a:p>
        </p:txBody>
      </p:sp>
      <p:sp>
        <p:nvSpPr>
          <p:cNvPr id="3" name="">
            <a:extLst xmlns:a="http://schemas.openxmlformats.org/drawingml/2006/main">
              <a:ext uri="{FF2B5EF4-FFF2-40B4-BE49-F238E27FC236}">
                <a16:creationId xmlns:a16="http://schemas.microsoft.com/office/drawing/2014/main" id="{1B9DD808-F4DD-43E8-AE18-CEEBA7820D5D}"/>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 RESEARCH_PLAN_V6.md §15</a:t>
            </a:r>
          </a:p>
        </p:txBody>
      </p:sp>
      <p:sp>
        <p:nvSpPr>
          <p:cNvPr id="4" name="">
            <a:extLst xmlns:a="http://schemas.openxmlformats.org/drawingml/2006/main">
              <a:ext uri="{FF2B5EF4-FFF2-40B4-BE49-F238E27FC236}">
                <a16:creationId xmlns:a16="http://schemas.microsoft.com/office/drawing/2014/main" id="{576AF2C8-6FCC-4358-AC0D-A588190FF654}"/>
              </a:ext>
            </a:extLst>
          </p:cNvPr>
          <p:cNvSpPr>
            <a:spLocks xmlns:a="http://schemas.openxmlformats.org/drawingml/2006/main" noGrp="1"/>
          </p:cNvSpPr>
          <p:nvPr/>
        </p:nvSpPr>
        <p:spPr>
          <a:xfrm xmlns:a="http://schemas.openxmlformats.org/drawingml/2006/main">
            <a:off x="609600" y="15049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등록된 5개 파이프라인 모두에서</a:t>
            </a:r>
          </a:p>
          <a:p xmlns:a="http://schemas.openxmlformats.org/drawingml/2006/main">
            <a:pPr algn="l">
              <a:defRPr sz="3225" b="1" lang="ko-KR" altLang="en-US">
                <a:solidFill>
                  <a:srgbClr val="142C43"/>
                </a:solidFill>
                <a:latin typeface="Malgun Gothic"/>
                <a:ea typeface="Malgun Gothic"/>
                <a:cs typeface="Malgun Gothic"/>
              </a:defRPr>
            </a:pPr>
            <a:r>
              <a:rPr sz="3225" b="1" lang="ko-KR" altLang="en-US">
                <a:solidFill>
                  <a:srgbClr val="142C43"/>
                </a:solidFill>
                <a:latin typeface="Malgun Gothic"/>
                <a:ea typeface="Malgun Gothic"/>
                <a:cs typeface="Malgun Gothic"/>
              </a:rPr>
              <a:t>Success@100 이득 +0.5%p 이상을 배제</a:t>
            </a:r>
          </a:p>
        </p:txBody>
      </p:sp>
      <p:sp>
        <p:nvSpPr>
          <p:cNvPr id="5" name="">
            <a:extLst xmlns:a="http://schemas.openxmlformats.org/drawingml/2006/main">
              <a:ext uri="{FF2B5EF4-FFF2-40B4-BE49-F238E27FC236}">
                <a16:creationId xmlns:a16="http://schemas.microsoft.com/office/drawing/2014/main" id="{84122B70-DE78-4403-BE82-528C524940F4}"/>
              </a:ext>
            </a:extLst>
          </p:cNvPr>
          <p:cNvSpPr>
            <a:spLocks xmlns:a="http://schemas.openxmlformats.org/drawingml/2006/main" noGrp="1"/>
          </p:cNvSpPr>
          <p:nvPr/>
        </p:nvSpPr>
        <p:spPr>
          <a:xfrm xmlns:a="http://schemas.openxmlformats.org/drawingml/2006/main">
            <a:off x="609600" y="32194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조건 사용</a:t>
            </a:r>
          </a:p>
        </p:txBody>
      </p:sp>
      <p:sp>
        <p:nvSpPr>
          <p:cNvPr id="6" name="">
            <a:extLst xmlns:a="http://schemas.openxmlformats.org/drawingml/2006/main">
              <a:ext uri="{FF2B5EF4-FFF2-40B4-BE49-F238E27FC236}">
                <a16:creationId xmlns:a16="http://schemas.microsoft.com/office/drawing/2014/main" id="{483389E9-392A-4245-92B4-6043AD557F6B}"/>
              </a:ext>
            </a:extLst>
          </p:cNvPr>
          <p:cNvSpPr>
            <a:spLocks xmlns:a="http://schemas.openxmlformats.org/drawingml/2006/main" noGrp="1"/>
          </p:cNvSpPr>
          <p:nvPr/>
        </p:nvSpPr>
        <p:spPr>
          <a:xfrm xmlns:a="http://schemas.openxmlformats.org/drawingml/2006/main">
            <a:off x="3000375" y="32194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synthetic 조건과 r=4 해시 구조를 모두 활용</a:t>
            </a:r>
          </a:p>
        </p:txBody>
      </p:sp>
      <p:sp>
        <p:nvSpPr>
          <p:cNvPr id="7" name="">
            <a:extLst xmlns:a="http://schemas.openxmlformats.org/drawingml/2006/main">
              <a:ext uri="{FF2B5EF4-FFF2-40B4-BE49-F238E27FC236}">
                <a16:creationId xmlns:a16="http://schemas.microsoft.com/office/drawing/2014/main" id="{D95E3756-0951-45AA-87DB-5C0516A1E8FF}"/>
              </a:ext>
            </a:extLst>
          </p:cNvPr>
          <p:cNvSpPr>
            <a:spLocks xmlns:a="http://schemas.openxmlformats.org/drawingml/2006/main" noGrp="1"/>
          </p:cNvSpPr>
          <p:nvPr/>
        </p:nvSpPr>
        <p:spPr>
          <a:xfrm xmlns:a="http://schemas.openxmlformats.org/drawingml/2006/main">
            <a:off x="609600" y="40481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정규 MD5</a:t>
            </a:r>
          </a:p>
        </p:txBody>
      </p:sp>
      <p:sp>
        <p:nvSpPr>
          <p:cNvPr id="8" name="">
            <a:extLst xmlns:a="http://schemas.openxmlformats.org/drawingml/2006/main">
              <a:ext uri="{FF2B5EF4-FFF2-40B4-BE49-F238E27FC236}">
                <a16:creationId xmlns:a16="http://schemas.microsoft.com/office/drawing/2014/main" id="{26477AD5-02A7-4C08-8271-934CF90B18B4}"/>
              </a:ext>
            </a:extLst>
          </p:cNvPr>
          <p:cNvSpPr>
            <a:spLocks xmlns:a="http://schemas.openxmlformats.org/drawingml/2006/main" noGrp="1"/>
          </p:cNvSpPr>
          <p:nvPr/>
        </p:nvSpPr>
        <p:spPr>
          <a:xfrm xmlns:a="http://schemas.openxmlformats.org/drawingml/2006/main">
            <a:off x="3000375" y="40481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Random·Shuffled 대비 이득 상한은 최대 +0.378%p</a:t>
            </a:r>
          </a:p>
        </p:txBody>
      </p:sp>
      <p:sp>
        <p:nvSpPr>
          <p:cNvPr id="9" name="">
            <a:extLst xmlns:a="http://schemas.openxmlformats.org/drawingml/2006/main">
              <a:ext uri="{FF2B5EF4-FFF2-40B4-BE49-F238E27FC236}">
                <a16:creationId xmlns:a16="http://schemas.microsoft.com/office/drawing/2014/main" id="{1DD0F6F5-291E-44F2-A8DF-66A978744755}"/>
              </a:ext>
            </a:extLst>
          </p:cNvPr>
          <p:cNvSpPr>
            <a:spLocks xmlns:a="http://schemas.openxmlformats.org/drawingml/2006/main" noGrp="1"/>
          </p:cNvSpPr>
          <p:nvPr/>
        </p:nvSpPr>
        <p:spPr>
          <a:xfrm xmlns:a="http://schemas.openxmlformats.org/drawingml/2006/main">
            <a:off x="609600" y="48768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실용성</a:t>
            </a:r>
          </a:p>
        </p:txBody>
      </p:sp>
      <p:sp>
        <p:nvSpPr>
          <p:cNvPr id="10" name="">
            <a:extLst xmlns:a="http://schemas.openxmlformats.org/drawingml/2006/main">
              <a:ext uri="{FF2B5EF4-FFF2-40B4-BE49-F238E27FC236}">
                <a16:creationId xmlns:a16="http://schemas.microsoft.com/office/drawing/2014/main" id="{70743772-B0EE-4BFD-9E46-599E01BBBDD9}"/>
              </a:ext>
            </a:extLst>
          </p:cNvPr>
          <p:cNvSpPr>
            <a:spLocks xmlns:a="http://schemas.openxmlformats.org/drawingml/2006/main" noGrp="1"/>
          </p:cNvSpPr>
          <p:nvPr/>
        </p:nvSpPr>
        <p:spPr>
          <a:xfrm xmlns:a="http://schemas.openxmlformats.org/drawingml/2006/main">
            <a:off x="3000375" y="48768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등록된 계산 우위 기준을 통과한 파이프라인 없음</a:t>
            </a:r>
          </a:p>
        </p:txBody>
      </p:sp>
      <p:sp>
        <p:nvSpPr>
          <p:cNvPr id="11" name="">
            <a:extLst xmlns:a="http://schemas.openxmlformats.org/drawingml/2006/main">
              <a:ext uri="{FF2B5EF4-FFF2-40B4-BE49-F238E27FC236}">
                <a16:creationId xmlns:a16="http://schemas.microsoft.com/office/drawing/2014/main" id="{72DD4A7A-7BEA-4A9B-B27E-1848DDB480F4}"/>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사전 결론 규칙에 따라 V6 연구를 기각 판정으로 종료</a:t>
            </a:r>
          </a:p>
        </p:txBody>
      </p:sp>
    </p:spTree>
    <p:extLst>
      <p:ext uri="{BB962C8B-B14F-4D97-AF65-F5344CB8AC3E}">
        <p14:creationId xmlns:p14="http://schemas.microsoft.com/office/powerpoint/2010/main" val="9937114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F0C5D3-36F6-4432-BBF5-48BF2F559D8C}"/>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결론의 적용 범위와 한계</a:t>
            </a:r>
          </a:p>
        </p:txBody>
      </p:sp>
      <p:sp>
        <p:nvSpPr>
          <p:cNvPr id="2" name="">
            <a:extLst xmlns:a="http://schemas.openxmlformats.org/drawingml/2006/main">
              <a:ext uri="{FF2B5EF4-FFF2-40B4-BE49-F238E27FC236}">
                <a16:creationId xmlns:a16="http://schemas.microsoft.com/office/drawing/2014/main" id="{CD0F9EEC-662E-40E5-8802-BD15B2BBC85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17</a:t>
            </a:r>
          </a:p>
        </p:txBody>
      </p:sp>
      <p:sp>
        <p:nvSpPr>
          <p:cNvPr id="3" name="">
            <a:extLst xmlns:a="http://schemas.openxmlformats.org/drawingml/2006/main">
              <a:ext uri="{FF2B5EF4-FFF2-40B4-BE49-F238E27FC236}">
                <a16:creationId xmlns:a16="http://schemas.microsoft.com/office/drawing/2014/main" id="{5AF35E0F-BCE1-41AB-887C-CB33468157E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RESEARCH_PLAN_V6.md §6.2, §15.4; decision.json</a:t>
            </a:r>
          </a:p>
        </p:txBody>
      </p:sp>
      <p:sp>
        <p:nvSpPr>
          <p:cNvPr id="4" name="">
            <a:extLst xmlns:a="http://schemas.openxmlformats.org/drawingml/2006/main">
              <a:ext uri="{FF2B5EF4-FFF2-40B4-BE49-F238E27FC236}">
                <a16:creationId xmlns:a16="http://schemas.microsoft.com/office/drawing/2014/main" id="{448CCABB-4EAC-43D3-8B39-0A7B8CD40BD3}"/>
              </a:ext>
            </a:extLst>
          </p:cNvPr>
          <p:cNvSpPr>
            <a:spLocks xmlns:a="http://schemas.openxmlformats.org/drawingml/2006/main" noGrp="1"/>
          </p:cNvSpPr>
          <p:nvPr/>
        </p:nvSpPr>
        <p:spPr>
          <a:xfrm xmlns:a="http://schemas.openxmlformats.org/drawingml/2006/main">
            <a:off x="609600" y="15335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실측 범위</a:t>
            </a:r>
          </a:p>
        </p:txBody>
      </p:sp>
      <p:sp>
        <p:nvSpPr>
          <p:cNvPr id="5" name="">
            <a:extLst xmlns:a="http://schemas.openxmlformats.org/drawingml/2006/main">
              <a:ext uri="{FF2B5EF4-FFF2-40B4-BE49-F238E27FC236}">
                <a16:creationId xmlns:a16="http://schemas.microsoft.com/office/drawing/2014/main" id="{39B2B6C5-D199-4EA4-8363-1D92F2B6EC17}"/>
              </a:ext>
            </a:extLst>
          </p:cNvPr>
          <p:cNvSpPr>
            <a:spLocks xmlns:a="http://schemas.openxmlformats.org/drawingml/2006/main" noGrp="1"/>
          </p:cNvSpPr>
          <p:nvPr/>
        </p:nvSpPr>
        <p:spPr>
          <a:xfrm xmlns:a="http://schemas.openxmlformats.org/drawingml/2006/main">
            <a:off x="3000375" y="15335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정규 MD5의 12-bit W3, Printable·Random Bytes</a:t>
            </a:r>
          </a:p>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등록된 모델·decoder·sampler, 학습량, K=100</a:t>
            </a:r>
          </a:p>
        </p:txBody>
      </p:sp>
      <p:sp>
        <p:nvSpPr>
          <p:cNvPr id="6" name="">
            <a:extLst xmlns:a="http://schemas.openxmlformats.org/drawingml/2006/main">
              <a:ext uri="{FF2B5EF4-FFF2-40B4-BE49-F238E27FC236}">
                <a16:creationId xmlns:a16="http://schemas.microsoft.com/office/drawing/2014/main" id="{BDA77461-9861-465D-A54A-BC6BA59684E8}"/>
              </a:ext>
            </a:extLst>
          </p:cNvPr>
          <p:cNvSpPr>
            <a:spLocks xmlns:a="http://schemas.openxmlformats.org/drawingml/2006/main" noGrp="1"/>
          </p:cNvSpPr>
          <p:nvPr/>
        </p:nvSpPr>
        <p:spPr>
          <a:xfrm xmlns:a="http://schemas.openxmlformats.org/drawingml/2006/main">
            <a:off x="609600" y="28860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통계적 의미</a:t>
            </a:r>
          </a:p>
        </p:txBody>
      </p:sp>
      <p:sp>
        <p:nvSpPr>
          <p:cNvPr id="7" name="">
            <a:extLst xmlns:a="http://schemas.openxmlformats.org/drawingml/2006/main">
              <a:ext uri="{FF2B5EF4-FFF2-40B4-BE49-F238E27FC236}">
                <a16:creationId xmlns:a16="http://schemas.microsoft.com/office/drawing/2014/main" id="{E5143804-59B4-4CCB-8FFF-20807371E7DF}"/>
              </a:ext>
            </a:extLst>
          </p:cNvPr>
          <p:cNvSpPr>
            <a:spLocks xmlns:a="http://schemas.openxmlformats.org/drawingml/2006/main" noGrp="1"/>
          </p:cNvSpPr>
          <p:nvPr/>
        </p:nvSpPr>
        <p:spPr>
          <a:xfrm xmlns:a="http://schemas.openxmlformats.org/drawingml/2006/main">
            <a:off x="3000375" y="288607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0.5%p 이상의 이득을 배제</a:t>
            </a:r>
          </a:p>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정확히 0인 효과나 모든 모델의 불가능성을 증명하지 않음</a:t>
            </a:r>
          </a:p>
        </p:txBody>
      </p:sp>
      <p:sp>
        <p:nvSpPr>
          <p:cNvPr id="8" name="">
            <a:extLst xmlns:a="http://schemas.openxmlformats.org/drawingml/2006/main">
              <a:ext uri="{FF2B5EF4-FFF2-40B4-BE49-F238E27FC236}">
                <a16:creationId xmlns:a16="http://schemas.microsoft.com/office/drawing/2014/main" id="{6152E68E-BB24-4A4D-A130-7E15A440DF36}"/>
              </a:ext>
            </a:extLst>
          </p:cNvPr>
          <p:cNvSpPr>
            <a:spLocks xmlns:a="http://schemas.openxmlformats.org/drawingml/2006/main" noGrp="1"/>
          </p:cNvSpPr>
          <p:nvPr/>
        </p:nvSpPr>
        <p:spPr>
          <a:xfrm xmlns:a="http://schemas.openxmlformats.org/drawingml/2006/main">
            <a:off x="609600" y="42386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재현 범위</a:t>
            </a:r>
          </a:p>
        </p:txBody>
      </p:sp>
      <p:sp>
        <p:nvSpPr>
          <p:cNvPr id="9" name="">
            <a:extLst xmlns:a="http://schemas.openxmlformats.org/drawingml/2006/main">
              <a:ext uri="{FF2B5EF4-FFF2-40B4-BE49-F238E27FC236}">
                <a16:creationId xmlns:a16="http://schemas.microsoft.com/office/drawing/2014/main" id="{D9D85F09-531E-4D45-8EE1-2C7A34C48BAC}"/>
              </a:ext>
            </a:extLst>
          </p:cNvPr>
          <p:cNvSpPr>
            <a:spLocks xmlns:a="http://schemas.openxmlformats.org/drawingml/2006/main" noGrp="1"/>
          </p:cNvSpPr>
          <p:nvPr/>
        </p:nvSpPr>
        <p:spPr>
          <a:xfrm xmlns:a="http://schemas.openxmlformats.org/drawingml/2006/main">
            <a:off x="3000375" y="42386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양성 파이프라인이 없어 W4 재현 미실행</a:t>
            </a:r>
          </a:p>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고정 test pool·checkpoint·seed에 조건부인 추론</a:t>
            </a:r>
          </a:p>
        </p:txBody>
      </p:sp>
      <p:sp>
        <p:nvSpPr>
          <p:cNvPr id="10" name="">
            <a:extLst xmlns:a="http://schemas.openxmlformats.org/drawingml/2006/main">
              <a:ext uri="{FF2B5EF4-FFF2-40B4-BE49-F238E27FC236}">
                <a16:creationId xmlns:a16="http://schemas.microsoft.com/office/drawing/2014/main" id="{B4248D6E-2007-47A1-8749-A865772584D1}"/>
              </a:ext>
            </a:extLst>
          </p:cNvPr>
          <p:cNvSpPr>
            <a:spLocks xmlns:a="http://schemas.openxmlformats.org/drawingml/2006/main" noGrp="1"/>
          </p:cNvSpPr>
          <p:nvPr/>
        </p:nvSpPr>
        <p:spPr>
          <a:xfrm xmlns:a="http://schemas.openxmlformats.org/drawingml/2006/main">
            <a:off x="609600" y="5857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5A6B78"/>
                </a:solidFill>
                <a:latin typeface="Malgun Gothic"/>
                <a:ea typeface="Malgun Gothic"/>
                <a:cs typeface="Malgun Gothic"/>
              </a:defRPr>
            </a:pPr>
            <a:r>
              <a:rPr sz="1875" b="0" lang="ko-KR" altLang="en-US">
                <a:solidFill>
                  <a:srgbClr val="5A6B78"/>
                </a:solidFill>
                <a:latin typeface="Malgun Gothic"/>
                <a:ea typeface="Malgun Gothic"/>
                <a:cs typeface="Malgun Gothic"/>
              </a:rPr>
              <a:t>전체 128-bit MD5 역상, SHA-256, 보안 붕괴에 대한 결론은 포함하지 않음</a:t>
            </a:r>
          </a:p>
        </p:txBody>
      </p:sp>
    </p:spTree>
    <p:extLst>
      <p:ext uri="{BB962C8B-B14F-4D97-AF65-F5344CB8AC3E}">
        <p14:creationId xmlns:p14="http://schemas.microsoft.com/office/powerpoint/2010/main" val="3442527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0E7C79-CE37-42DB-8867-4732460EE7B6}"/>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lang="ko-KR" altLang="en-US">
                <a:solidFill>
                  <a:srgbClr val="142C43"/>
                </a:solidFill>
                <a:latin typeface="Malgun Gothic"/>
                <a:ea typeface="Malgun Gothic"/>
                <a:cs typeface="Malgun Gothic"/>
              </a:defRPr>
            </a:pPr>
            <a:r>
              <a:rPr sz="3300" b="1" lang="ko-KR" altLang="en-US">
                <a:solidFill>
                  <a:srgbClr val="142C43"/>
                </a:solidFill>
                <a:latin typeface="Malgun Gothic"/>
                <a:ea typeface="Malgun Gothic"/>
                <a:cs typeface="Malgun Gothic"/>
              </a:rPr>
              <a:t>근거 자료</a:t>
            </a:r>
          </a:p>
        </p:txBody>
      </p:sp>
      <p:sp>
        <p:nvSpPr>
          <p:cNvPr id="2" name="">
            <a:extLst xmlns:a="http://schemas.openxmlformats.org/drawingml/2006/main">
              <a:ext uri="{FF2B5EF4-FFF2-40B4-BE49-F238E27FC236}">
                <a16:creationId xmlns:a16="http://schemas.microsoft.com/office/drawing/2014/main" id="{B2A2AC45-6498-4741-B2A8-BDF0F2444503}"/>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18</a:t>
            </a:r>
          </a:p>
        </p:txBody>
      </p:sp>
      <p:sp>
        <p:nvSpPr>
          <p:cNvPr id="3" name="">
            <a:extLst xmlns:a="http://schemas.openxmlformats.org/drawingml/2006/main">
              <a:ext uri="{FF2B5EF4-FFF2-40B4-BE49-F238E27FC236}">
                <a16:creationId xmlns:a16="http://schemas.microsoft.com/office/drawing/2014/main" id="{34F16655-0C36-4D60-A8C2-E179AA7000D1}"/>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로컬 연구 저장소의 등록 문서와 최종 실행 산출물</a:t>
            </a:r>
          </a:p>
        </p:txBody>
      </p:sp>
      <p:graphicFrame>
        <p:nvGraphicFramePr>
          <p:cNvPr id="10" name=""/>
          <p:cNvGraphicFramePr/>
          <p:nvPr/>
        </p:nvGraphicFramePr>
        <p:xfrm>
          <a:off xmlns:a="http://schemas.openxmlformats.org/drawingml/2006/main" x="609600" y="1657350"/>
          <a:ext xmlns:a="http://schemas.openxmlformats.org/drawingml/2006/main" cx="10972800" cy="3657600"/>
        </p:xfrm>
        <a:graphic xmlns:a="http://schemas.openxmlformats.org/drawingml/2006/main">
          <a:graphicData uri="http://schemas.openxmlformats.org/drawingml/2006/table">
            <a:tbl>
              <a:tblPr firstRow="0" bandRow="0"/>
              <a:tblGrid>
                <a:gridCol w="5143500"/>
                <a:gridCol w="5829300"/>
              </a:tblGrid>
              <a:tr h="609600">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자료</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확인할 내용</a:t>
                      </a:r>
                    </a:p>
                  </a:txBody>
                  <a:tcPr marL="91440" marR="91440" marT="45720" marB="45720" anchor="ctr">
                    <a:solidFill>
                      <a:srgbClr val="142C43"/>
                    </a:solidFill>
                  </a:tcPr>
                </a:tc>
              </a:tr>
              <a:tr h="6096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RESEARCH_PLAN_V6.md</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연구 질문, 대조군, 통계, 최종 결론 규칙</a:t>
                      </a:r>
                    </a:p>
                  </a:txBody>
                  <a:tcPr marL="91440" marR="91440" marT="45720" marB="45720" anchor="ctr">
                    <a:solidFill>
                      <a:srgbClr val="F2F5F7"/>
                    </a:solidFill>
                  </a:tcPr>
                </a:tc>
              </a:tr>
              <a:tr h="6096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examples/v6-protocol.json</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고정 학습량, 모델, seed, δ와 실행 설정</a:t>
                      </a:r>
                    </a:p>
                  </a:txBody>
                  <a:tcPr marL="91440" marR="91440" marT="45720" marB="45720" anchor="ctr">
                    <a:solidFill>
                      <a:srgbClr val="FFFFFF"/>
                    </a:solidFill>
                  </a:tcPr>
                </a:tc>
              </a:tr>
              <a:tr h="6096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decision.json / FINAL_REPORT_KO.md</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최종 판정, 효과 구간, 계산 우위</a:t>
                      </a:r>
                    </a:p>
                  </a:txBody>
                  <a:tcPr marL="91440" marR="91440" marT="45720" marB="45720" anchor="ctr">
                    <a:solidFill>
                      <a:srgbClr val="F2F5F7"/>
                    </a:solidFill>
                  </a:tcPr>
                </a:tc>
              </a:tr>
              <a:tr h="6096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A.json / C.json / P.json / S.json</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적격성, 주 시험, 양성 대조, 규모 탐침</a:t>
                      </a:r>
                    </a:p>
                  </a:txBody>
                  <a:tcPr marL="91440" marR="91440" marT="45720" marB="45720" anchor="ctr">
                    <a:solidFill>
                      <a:srgbClr val="FFFFFF"/>
                    </a:solidFill>
                  </a:tcPr>
                </a:tc>
              </a:tr>
              <a:tr h="6096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protocol.frozen.json / window.json</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실행 전 설정 봉인과 window 인증</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7BF38CEB-B71A-4CFC-98E8-340F3F7A69D7}"/>
              </a:ext>
            </a:extLst>
          </p:cNvPr>
          <p:cNvSpPr>
            <a:spLocks xmlns:a="http://schemas.openxmlformats.org/drawingml/2006/main" noGrp="1"/>
          </p:cNvSpPr>
          <p:nvPr/>
        </p:nvSpPr>
        <p:spPr>
          <a:xfrm xmlns:a="http://schemas.openxmlformats.org/drawingml/2006/main">
            <a:off x="609600" y="5591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최종 실행 위치</a:t>
            </a:r>
          </a:p>
        </p:txBody>
      </p:sp>
      <p:sp>
        <p:nvSpPr>
          <p:cNvPr id="6" name="">
            <a:extLst xmlns:a="http://schemas.openxmlformats.org/drawingml/2006/main">
              <a:ext uri="{FF2B5EF4-FFF2-40B4-BE49-F238E27FC236}">
                <a16:creationId xmlns:a16="http://schemas.microsoft.com/office/drawing/2014/main" id="{DC649237-1AC7-48B8-8558-A87AB70922EF}"/>
              </a:ext>
            </a:extLst>
          </p:cNvPr>
          <p:cNvSpPr>
            <a:spLocks xmlns:a="http://schemas.openxmlformats.org/drawingml/2006/main" noGrp="1"/>
          </p:cNvSpPr>
          <p:nvPr/>
        </p:nvSpPr>
        <p:spPr>
          <a:xfrm xmlns:a="http://schemas.openxmlformats.org/drawingml/2006/main">
            <a:off x="609600" y="59531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lang="ko-KR" altLang="en-US">
                <a:solidFill>
                  <a:srgbClr val="5A6B78"/>
                </a:solidFill>
                <a:latin typeface="Malgun Gothic"/>
                <a:ea typeface="Malgun Gothic"/>
                <a:cs typeface="Malgun Gothic"/>
              </a:defRPr>
            </a:pPr>
            <a:r>
              <a:rPr sz="1800" b="0" lang="ko-KR" altLang="en-US">
                <a:solidFill>
                  <a:srgbClr val="5A6B78"/>
                </a:solidFill>
                <a:latin typeface="Malgun Gothic"/>
                <a:ea typeface="Malgun Gothic"/>
                <a:cs typeface="Malgun Gothic"/>
              </a:rPr>
              <a:t>local_experiment_archive/runs/v6-study-r2/</a:t>
            </a:r>
          </a:p>
        </p:txBody>
      </p:sp>
    </p:spTree>
    <p:extLst>
      <p:ext uri="{BB962C8B-B14F-4D97-AF65-F5344CB8AC3E}">
        <p14:creationId xmlns:p14="http://schemas.microsoft.com/office/powerpoint/2010/main" val="134947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font script="Hang" typeface="Malgun Gothic"/>
      </a:majorFont>
      <a:minorFont>
        <a:latin typeface="Malgun Gothic"/>
        <a:ea typeface="Malgun Gothic"/>
        <a:cs typeface="Malgun Gothic"/>
        <a:font script="Hang"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2026-10-03T19:05:30.4780000Z</dcterms:created>
  <dcterms:modified xsi:type="dcterms:W3CDTF">2026-10-03T19:05:30.4780000Z</dcterms:modified>
</coreProperties>
</file>